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15" Type="http://schemas.openxmlformats.org/officeDocument/2006/relationships/viewProps" Target="viewProps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14" Type="http://schemas.openxmlformats.org/officeDocument/2006/relationships/tableStyles" Target="tableStyles.xml" /><Relationship Id="rId10" Type="http://schemas.openxmlformats.org/officeDocument/2006/relationships/slide" Target="slides/slide10.xml" /><Relationship Id="rId13" Type="http://schemas.openxmlformats.org/officeDocument/2006/relationships/presProps" Target="presProps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11" Type="http://schemas.openxmlformats.org/officeDocument/2006/relationships/slide" Target="slides/slide11.xml" /><Relationship Id="rId5" Type="http://schemas.openxmlformats.org/officeDocument/2006/relationships/slide" Target="slides/slide5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4" Type="http://schemas.openxmlformats.org/officeDocument/2006/relationships/image" Target="media/image10.svg" /><Relationship Id="rId2" Type="http://schemas.openxmlformats.org/officeDocument/2006/relationships/image" Target="media/image8.svg" /><Relationship Id="rId1" Type="http://schemas.openxmlformats.org/officeDocument/2006/relationships/image" Target="media/image7.svg" /><Relationship Id="rId3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6" Type="http://schemas.openxmlformats.org/officeDocument/2006/relationships/image" Target="media/image15.svg" /><Relationship Id="rId5" Type="http://schemas.openxmlformats.org/officeDocument/2006/relationships/image" Target="media/image14.svg" /><Relationship Id="rId1" Type="http://schemas.openxmlformats.org/officeDocument/2006/relationships/image" Target="media/image11.svg" /><Relationship Id="rId4" Type="http://schemas.openxmlformats.org/officeDocument/2006/relationships/image" Target="media/image13.svg" /><Relationship Id="rId3" Type="http://schemas.openxmlformats.org/officeDocument/2006/relationships/image" Target="media/image3.svg" /><Relationship Id="rId2" Type="http://schemas.openxmlformats.org/officeDocument/2006/relationships/image" Target="media/image12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6" Type="http://schemas.openxmlformats.org/officeDocument/2006/relationships/image" Target="media/image20.svg" /><Relationship Id="rId5" Type="http://schemas.openxmlformats.org/officeDocument/2006/relationships/image" Target="media/image19.svg" /><Relationship Id="rId3" Type="http://schemas.openxmlformats.org/officeDocument/2006/relationships/image" Target="media/image17.svg" /><Relationship Id="rId2" Type="http://schemas.openxmlformats.org/officeDocument/2006/relationships/image" Target="media/image10.svg" /><Relationship Id="rId1" Type="http://schemas.openxmlformats.org/officeDocument/2006/relationships/image" Target="media/image16.svg" /><Relationship Id="rId4" Type="http://schemas.openxmlformats.org/officeDocument/2006/relationships/image" Target="media/image18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5" Type="http://schemas.openxmlformats.org/officeDocument/2006/relationships/image" Target="media/image25.svg" /><Relationship Id="rId2" Type="http://schemas.openxmlformats.org/officeDocument/2006/relationships/image" Target="media/image22.svg" /><Relationship Id="rId1" Type="http://schemas.openxmlformats.org/officeDocument/2006/relationships/image" Target="media/image21.svg" /><Relationship Id="rId4" Type="http://schemas.openxmlformats.org/officeDocument/2006/relationships/image" Target="media/image24.svg" /><Relationship Id="rId3" Type="http://schemas.openxmlformats.org/officeDocument/2006/relationships/image" Target="media/image23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3" Type="http://schemas.openxmlformats.org/officeDocument/2006/relationships/image" Target="media/image3.svg" /><Relationship Id="rId4" Type="http://schemas.openxmlformats.org/officeDocument/2006/relationships/image" Target="media/image4.svg" /><Relationship Id="rId1" Type="http://schemas.openxmlformats.org/officeDocument/2006/relationships/image" Target="media/image1.svg" /><Relationship Id="rId2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&#10;  style={{&#10;    width: '1280px', height: '720px',&#10;    background: 'linear-gradient(135deg, #16263F 0%, #1E3A5F 100%)',&#10;    position: 'relative', overflow: 'hidden',&#10;    fontFamily: '&quot;思源黑体&quot;, sans-serif',&#10;  }}&#10;&gt;&#10;  &lt;Box style={{ position: 'absolute', top: -80, right: -80, width: 340, height: 340, borderRadius: 170, background: 'rgba(34,211,238,0.12)', opacity: 0.8 }} /&gt;&#10;  &lt;Box style={{ position: 'absolute', bottom: -100, left: -60, width: 300, height: 300, borderRadius: 150, background: 'rgba(255,159,28,0.10)' }} /&gt;&#10;  &lt;Box style={{ position: 'absolute', top: 0, left: 0, width: '100%', height: 8, background: '#FF9F1C' }} /&gt;&#10;&#10;  &lt;Box style={{ position: 'relative', zIndex: 2, padding: '60px 80px', height: '100%', flexDirection: 'column', justifyContent: 'center' }}&gt;&#10;    &lt;Text style={{ fontSize: 16, color: '#22D3EE', letterSpacing: 4, marginBottom: 16 }}&gt;AI 从零开始 · 第 1 讲&lt;/Text&gt;&#10;    &lt;Text style={{ fontSize: 52, color: '#FFFFFF', fontWeight: 'bold', lineHeight: 1.25, marginBottom: 20 }}&gt;&#10;      AI 认知与生态全景&#10;    &lt;/Text&gt;&#10;    &lt;Box style={{ width: 80, height: 4, background: '#FF9F1C', marginBottom: 28 }} /&gt;&#10;    &lt;Text style={{ fontSize: 22, color: '#DCE7F5', lineHeight: 1.6 }}&gt;&#10;      术语 · 模型 · 框架，一次扫清&#10;    &lt;/Text&gt;&#10;    &lt;Text style={{ fontSize: 15, color: '#8FA4B8', marginTop: 36 }}&gt;&#10;      学完这一讲，你能看懂 AI 圈在聊什么，也知道该从哪里下手&#10;    &lt;/Text&gt;&#10;    &lt;Text style={{ fontSize: 13, color: '#8FA4B8', marginTop: 'auto', paddingTop: 40 }}&gt;&#10;      Qborfy · 做一个有温度和有干货的技术分享作者&#10;    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9715500" y="-762000"/>
            <a:ext cx="3238500" cy="3238500"/>
          </a:xfrm>
          <a:custGeom>
            <a:pathLst>
              <a:path w="340" h="340">
                <a:moveTo>
                  <a:pt x="260" y="314"/>
                </a:moveTo>
                <a:cubicBezTo>
                  <a:pt x="193" y="356"/>
                  <a:pt x="106" y="346"/>
                  <a:pt x="50" y="290"/>
                </a:cubicBezTo>
                <a:cubicBezTo>
                  <a:pt x="-6" y="234"/>
                  <a:pt x="-16" y="147"/>
                  <a:pt x="26" y="80"/>
                </a:cubicBezTo>
                <a:lnTo>
                  <a:pt x="260" y="80"/>
                </a:lnTo>
                <a:close/>
              </a:path>
            </a:pathLst>
          </a:custGeom>
          <a:solidFill>
            <a:srgbClr val="22D3EE">
              <a:alpha val="96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571500" y="4953000"/>
            <a:ext cx="2857500" cy="2857500"/>
          </a:xfrm>
          <a:custGeom>
            <a:pathLst>
              <a:path w="300" h="300">
                <a:moveTo>
                  <a:pt x="154" y="0"/>
                </a:moveTo>
                <a:cubicBezTo>
                  <a:pt x="202" y="1"/>
                  <a:pt x="246" y="25"/>
                  <a:pt x="274" y="65"/>
                </a:cubicBezTo>
                <a:cubicBezTo>
                  <a:pt x="301" y="105"/>
                  <a:pt x="307" y="155"/>
                  <a:pt x="291" y="200"/>
                </a:cubicBezTo>
                <a:lnTo>
                  <a:pt x="60" y="200"/>
                </a:lnTo>
                <a:lnTo>
                  <a:pt x="60" y="30"/>
                </a:lnTo>
                <a:cubicBezTo>
                  <a:pt x="86" y="10"/>
                  <a:pt x="118" y="0"/>
                  <a:pt x="150" y="0"/>
                </a:cubicBezTo>
                <a:close/>
              </a:path>
            </a:pathLst>
          </a:custGeom>
          <a:solidFill>
            <a:srgbClr val="FF9F1C">
              <a:alpha val="1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1066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AI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从零开始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·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第</a:t>
            </a:r>
            <a:r>
              <a:rPr lang="en-US" sz="1200" spc="300">
                <a:solidFill>
                  <a:srgbClr val="22D3EE"/>
                </a:solidFill>
                <a:latin typeface="思源黑体"/>
                <a:ea typeface="思源黑体"/>
              </a:rPr>
              <a:t> 1 </a:t>
            </a:r>
            <a:r>
              <a:rPr lang="zh-CN" sz="1200" spc="300">
                <a:solidFill>
                  <a:srgbClr val="22D3EE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914400"/>
            <a:ext cx="10668000" cy="742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3900" b="1">
                <a:solidFill>
                  <a:srgbClr val="FFFFFF"/>
                </a:solidFill>
                <a:latin typeface="思源黑体"/>
                <a:ea typeface="思源黑体"/>
              </a:rPr>
              <a:t>AI </a:t>
            </a:r>
            <a:r>
              <a:rPr lang="zh-CN" sz="3900" b="1">
                <a:solidFill>
                  <a:srgbClr val="FFFFFF"/>
                </a:solidFill>
                <a:latin typeface="思源黑体"/>
                <a:ea typeface="思源黑体"/>
              </a:rPr>
              <a:t>认知与生态全景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1847850"/>
            <a:ext cx="7620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2152650"/>
            <a:ext cx="10668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术语</a:t>
            </a: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 ·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模型</a:t>
            </a:r>
            <a:r>
              <a:rPr lang="en-US" sz="1650">
                <a:solidFill>
                  <a:srgbClr val="DCE7F5"/>
                </a:solidFill>
                <a:latin typeface="思源黑体"/>
                <a:ea typeface="思源黑体"/>
              </a:rPr>
              <a:t> · </a:t>
            </a:r>
            <a:r>
              <a:rPr lang="zh-CN" sz="1650">
                <a:solidFill>
                  <a:srgbClr val="DCE7F5"/>
                </a:solidFill>
                <a:latin typeface="思源黑体"/>
                <a:ea typeface="思源黑体"/>
              </a:rPr>
              <a:t>框架，一次扫清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2905125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学完这一讲，你能看懂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AI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圈在聊什么，也知道该从哪里下手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5753100"/>
            <a:ext cx="10668000" cy="533400"/>
          </a:xfrm>
          <a:prstGeom prst="rect"/>
        </p:spPr>
        <p:txBody>
          <a:bodyPr wrap="none" lIns="0" tIns="28575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A4B8"/>
                </a:solidFill>
                <a:latin typeface="思源黑体"/>
                <a:ea typeface="思源黑体"/>
              </a:rPr>
              <a:t>Qborfy · </a:t>
            </a:r>
            <a:r>
              <a:rPr lang="zh-CN" sz="975">
                <a:solidFill>
                  <a:srgbClr val="8FA4B8"/>
                </a:solidFill>
                <a:latin typeface="思源黑体"/>
                <a:ea typeface="思源黑体"/>
              </a:rPr>
              <a:t>做一个有温度和有干货的技术分享作者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1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LARGE LANGUAGE MODEL&lt;/Text&gt;&#10;    &lt;Text style={{ fontSize: 34, color: '#16263F', fontWeight: 'bold', marginBottom: 14 }}&gt;LLM：参数量越大能力越强，但 2026 有新变量&lt;/Text&gt;&#10;    &lt;Box style={{ width: 56, height: 4, background: '#22D3EE', marginBottom: 22 }} /&gt;&#10;&#10;    &lt;Box style={{ flexDirection: 'row', gap: 24, flex: 1 }}&gt;&#10;      &lt;Box style={{ flex: 1, background: '#FFFFFF', borderRadius: 14, padding: '28px 28px', boxShadow: '0 2px 12px rgba(22,38,63,0.06)' }}&gt;&#10;        &lt;Text style={{ fontSize: 20, fontWeight: 'bold', color: '#16263F', marginBottom: 18 }}&gt;旧规律：参数越大越强&lt;/Text&gt;&#10;        &lt;Box style={{ flexDirection: 'row', alignItems: 'flex-end', gap: 20, marginBottom: 18 }}&gt;&#10;          &lt;Box&gt;&#10;            &lt;Text style={{ fontSize: 40, color: '#16263F', fontWeight: 'bold', lineHeight: 1 }}&gt;1750亿&lt;/Text&gt;&#10;            &lt;Text style={{ fontSize: 14, color: '#5B6B7A', marginTop: 6 }}&gt;GPT-3 · 2020&lt;/Text&gt;&#10;          &lt;/Box&gt;&#10;          &lt;FAIcon name='arrow-right' style={{ fill: '#22D3EE', width: 26, height: 26, marginBottom: 10 }} /&gt;&#10;          &lt;Box&gt;&#10;            &lt;Text style={{ fontSize: 40, color: '#16263F', fontWeight: 'bold', lineHeight: 1 }}&gt;1.8万亿&lt;/Text&gt;&#10;            &lt;Text style={{ fontSize: 14, color: '#5B6B7A', marginTop: 6 }}&gt;GPT-4 · 2023&lt;/Text&gt;&#10;          &lt;/Box&gt;&#10;        &lt;/Box&gt;&#10;        &lt;Text style={{ fontSize: 15, color: '#5B6B7A', lineHeight: 1.8 }}&gt;&#10;          三年前，堆参数是主旋律——参数越多，模型越聪明，成本也越高。&#10;        &lt;/Text&gt;&#10;      &lt;/Box&gt;&#10;&#10;      &lt;Box style={{ flex: 1, background: '#16263F', borderRadius: 14, padding: '28px 28px' }}&gt;&#10;        &lt;Text style={{ fontSize: 20, fontWeight: 'bold', color: '#FFFFFF', marginBottom: 18 }}&gt;2026 新变量：MoE 反超&lt;/Text&gt;&#10;        &lt;Box style={{ flexDirection: 'row', alignItems: 'flex-end', gap: 20, marginBottom: 18 }}&gt;&#10;          &lt;Box&gt;&#10;            &lt;Text style={{ fontSize: 68, color: '#FF9F1C', fontWeight: 'bold', lineHeight: 1 }}&gt;284B&lt;/Text&gt;&#10;            &lt;Text style={{ fontSize: 14, color: '#DCE7F5', marginTop: 6 }}&gt;总参 / 13B 激活 · MoE&lt;/Text&gt;&#10;          &lt;/Box&gt;&#10;        &lt;/Box&gt;&#10;        &lt;Text style={{ fontSize: 15, color: '#DCE7F5', lineHeight: 1.8 }}&gt;&#10;          DeepSeek V4-Flash 用 MoE「只激活少量参数」，&lt;span style={{ color: '#FF9F1C', fontWeight: 'bold' }}&gt;小参数反超大参数&lt;/span&gt;——比的是架构与效率，不是蛮力。&#10;        &lt;/Text&gt;&#10;      &lt;/Box&gt;&#10;    &lt;/Box&gt;&#10;&#10;    &lt;Box style={{ marginTop: 20, background: '#DCE7F5', borderRadius: 10, padding: '14px 20px' }}&gt;&#10;      &lt;Text style={{ fontSize: 15, color: '#16263F', fontWeight: 'bold' }}&gt;&#10;        结论：2026 选模型不再看「谁最大」，而是看「谁更聪明、更省」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1 讲&lt;/Text&gt;&#10;    &lt;Text style={{ fontSize: 14, color: '#5B6B7A' }}&gt;02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LARGE LANGUAGE MODEL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LLM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：参数量越大能力越强，但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2026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有新变量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571500" y="1200150"/>
            <a:ext cx="5410200" cy="4838700"/>
          </a:xfrm>
          <a:prstGeom prst="roundRect">
            <a:avLst>
              <a:gd name="adj" fmla="val 275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8200" y="1466850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旧规律：参数越大越强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1238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6263F"/>
                </a:solidFill>
                <a:latin typeface="思源黑体"/>
                <a:ea typeface="思源黑体"/>
              </a:rPr>
              <a:t>1750</a:t>
            </a:r>
            <a:r>
              <a:rPr lang="zh-CN" sz="3000" b="1">
                <a:solidFill>
                  <a:srgbClr val="16263F"/>
                </a:solidFill>
                <a:latin typeface="思源黑体"/>
                <a:ea typeface="思源黑体"/>
              </a:rPr>
              <a:t>亿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38200" y="2381250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GPT-3 · 2020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266950" y="2200275"/>
            <a:ext cx="247650" cy="247650"/>
          </a:xfrm>
          <a:prstGeom prst="rect">
            <a:avLst/>
          </a:prstGeom>
          <a:ln/>
        </p:spPr>
      </p:pic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2705100" y="1866900"/>
            <a:ext cx="13049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6263F"/>
                </a:solidFill>
                <a:latin typeface="思源黑体"/>
                <a:ea typeface="思源黑体"/>
              </a:rPr>
              <a:t>1.8</a:t>
            </a:r>
            <a:r>
              <a:rPr lang="zh-CN" sz="3000" b="1">
                <a:solidFill>
                  <a:srgbClr val="16263F"/>
                </a:solidFill>
                <a:latin typeface="思源黑体"/>
                <a:ea typeface="思源黑体"/>
              </a:rPr>
              <a:t>万亿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2705100" y="2381250"/>
            <a:ext cx="1304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GPT-4 · 2023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38200" y="2714625"/>
            <a:ext cx="487680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三年前，堆参数是主旋律——参数越多，模型越聪明，成本也越高。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210300" y="1200150"/>
            <a:ext cx="5410200" cy="4838700"/>
          </a:xfrm>
          <a:prstGeom prst="roundRect">
            <a:avLst>
              <a:gd name="adj" fmla="val 2756"/>
            </a:avLst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477000" y="1466850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2026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新变量：</a:t>
            </a: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MoE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反超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477000" y="1866900"/>
            <a:ext cx="1552575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FF9F1C"/>
                </a:solidFill>
                <a:latin typeface="思源黑体"/>
                <a:ea typeface="思源黑体"/>
              </a:rPr>
              <a:t>284B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477000" y="2705100"/>
            <a:ext cx="1552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总参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/ 13B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激活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· MoE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477000" y="3038475"/>
            <a:ext cx="48768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DeepSeek V4-Flash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用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MoE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「只激活少量参数」，</a:t>
            </a:r>
            <a:r>
              <a:rPr lang="zh-CN" sz="1125" b="1">
                <a:solidFill>
                  <a:srgbClr val="FF9F1C"/>
                </a:solidFill>
                <a:latin typeface="思源黑体"/>
                <a:ea typeface="思源黑体"/>
              </a:rPr>
              <a:t>小参数反超大参数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——比的是架构与效率，不是蛮力。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571500" y="6229350"/>
            <a:ext cx="11049000" cy="438150"/>
          </a:xfrm>
          <a:prstGeom prst="roundRect">
            <a:avLst>
              <a:gd name="adj" fmla="val 21739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62000" y="6362700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结论：</a:t>
            </a:r>
            <a:r>
              <a:rPr lang="en-US" sz="1125" b="1">
                <a:solidFill>
                  <a:srgbClr val="16263F"/>
                </a:solidFill>
                <a:latin typeface="思源黑体"/>
                <a:ea typeface="思源黑体"/>
              </a:rPr>
              <a:t>2026 </a:t>
            </a: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选模型不再看「谁最大」，而是看「谁更聪明、更省」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93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CORE TERMS&lt;/Text&gt;&#10;    &lt;Text style={{ fontSize: 34, color: '#16263F', fontWeight: 'bold', marginBottom: 14 }}&gt;核心术语一网打尽&lt;/Text&gt;&#10;    &lt;Box style={{ width: 56, height: 4, background: '#22D3EE', marginBottom: 20 }} /&gt;&#10;&#10;    &lt;Box style={{ flexDirection: 'row', flexWrap: 'wrap', gap: 16, flex: 1 }}&gt;&#10;      {[&#10;        { t: 'LLM', d: '大语言模型，靠海量文本学会「说话」' },&#10;        { t: 'GPT', d: '生成式预训练 Transformer，OpenAI 出品' },&#10;        { t: 'Transformer', d: '注意力架构，现代 LLM 的共同底座' },&#10;        { t: 'RAG', d: '检索增强：先查资料，再组织回答' },&#10;        { t: '知识库', d: '喂给模型的私有资料库' },&#10;        { t: '召回', d: '从知识库里捞出最相关内容' },&#10;        { t: 'Prompt', d: '你写给模型的输入指令' },&#10;        { t: 'Agent', d: '会规划 + 调用工具的自主智能体' },&#10;        { t: 'Function Calling', d: '让模型按约定调用你的函数' },&#10;        { t: '重写', d: '优化原始问题，提升命中率' },&#10;      ].map((item, idx) =&gt; (&#10;        &lt;Box key={idx} style={{ width: '48.5%', background: '#FFFFFF', borderRadius: 12, padding: '16px 22px', boxShadow: '0 2px 12px rgba(22,38,63,0.06)', flexDirection: 'row', alignItems: 'center', gap: 16 }}&gt;&#10;          &lt;Box style={{ width: 44, height: 44, borderRadius: 10, background: '#EAF2FB', justifyContent: 'center', alignItems: 'center' }}&gt;&#10;            &lt;Text style={{ fontSize: 14, color: '#22D3EE', fontWeight: 'bold' }}&gt;{String(idx + 1).padStart(2, '0')}&lt;/Text&gt;&#10;          &lt;/Box&gt;&#10;          &lt;Box style={{ flex: 1 }}&gt;&#10;            &lt;Text style={{ fontSize: 17, fontWeight: 'bold', color: '#16263F', marginBottom: 3 }}&gt;{item.t}&lt;/Text&gt;&#10;            &lt;Text style={{ fontSize: 13, color: '#5B6B7A' }}&gt;{item.d}&lt;/Text&gt;&#10;          &lt;/Box&gt;&#10;        &lt;/Box&gt;&#10;      ))}&#10;    &lt;/Box&gt;&#10;  &lt;/Box&gt;&#10;  &lt;Box style={{ position: 'absolute', bottom: 14, left: 60, right: 60, flexDirection: 'row', justifyContent: 'space-between' }}&gt;&#10;    &lt;Text style={{ fontSize: 14, color: '#5B6B7A' }}&gt;AI 从零开始 · 第 1 讲&lt;/Text&gt;&#10;    &lt;Text style={{ fontSize: 14, color: '#5B6B7A' }}&gt;03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CORE TERMS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核心术语一网打尽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571500" y="1181100"/>
            <a:ext cx="5362575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781050" y="14573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14400" y="15906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352550" y="1476375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LLM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352550" y="1704975"/>
            <a:ext cx="437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大语言模型，靠海量文本学会「说话」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086475" y="1181100"/>
            <a:ext cx="535305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6296025" y="14573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429375" y="15906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867525" y="1476375"/>
            <a:ext cx="436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GPT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867525" y="1704975"/>
            <a:ext cx="436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生成式预训练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Transformer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，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OpenAI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出品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571500" y="2305050"/>
            <a:ext cx="5362575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781050" y="25908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14400" y="272415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352550" y="2609850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Transformer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352550" y="2838450"/>
            <a:ext cx="437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注意力架构，现代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LLM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的共同底座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086475" y="2305050"/>
            <a:ext cx="535305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6296025" y="25908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429375" y="272415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867525" y="2609850"/>
            <a:ext cx="436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RAG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867525" y="2838450"/>
            <a:ext cx="436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检索增强：先查资料，再组织回答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571500" y="3438525"/>
            <a:ext cx="5362575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781050" y="37147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914400" y="384810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05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352550" y="3733800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知识库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352550" y="3962400"/>
            <a:ext cx="437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喂给模型的私有资料库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086475" y="3438525"/>
            <a:ext cx="535305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6296025" y="37147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429375" y="384810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06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867525" y="3733800"/>
            <a:ext cx="436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召回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867525" y="3962400"/>
            <a:ext cx="436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从知识库里捞出最相关内容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571500" y="4562475"/>
            <a:ext cx="5362575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781050" y="48482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14400" y="49815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07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352550" y="4867275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Prompt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352550" y="5095875"/>
            <a:ext cx="437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你写给模型的输入指令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086475" y="4562475"/>
            <a:ext cx="5353050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6296025" y="48482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429375" y="49815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08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867525" y="4867275"/>
            <a:ext cx="436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Agent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867525" y="5095875"/>
            <a:ext cx="436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会规划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+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调用工具的自主智能体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571500" y="5695950"/>
            <a:ext cx="5362575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781050" y="5972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914400" y="610552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09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352550" y="5991225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Function Calling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352550" y="6219825"/>
            <a:ext cx="437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让模型按约定调用你的函数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86475" y="5695950"/>
            <a:ext cx="5353050" cy="97155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6296025" y="5972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429375" y="610552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10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867525" y="5991225"/>
            <a:ext cx="436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重写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867525" y="6219825"/>
            <a:ext cx="436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优化原始问题，提升命中率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50" name="" descr="&lt;Slide&#10;  style={{&#10;    width: '1280px', height: '720px',&#10;    background: '#F5F7FA',&#10;    padding: '20px 60px',&#10;    fontFamily: '&quot;思源黑体&quot;, sans-serif',&#10;  }}&#10;&gt;&#10;  &lt;Box style={{ width: '100%', height: '100%', flexDirection: 'row', gap: 36 }}&gt;&#10;    &lt;Box style={{ flex: 5, paddingTop: 8 }}&gt;&#10;      &lt;Text style={{ fontSize: 14, color: '#FF9F1C', fontWeight: 'bold', letterSpacing: 2, marginBottom: 10 }}&gt;TRANSFORMER&lt;/Text&gt;&#10;      &lt;Text style={{ fontSize: 34, color: '#16263F', fontWeight: 'bold', lineHeight: 1.35, marginBottom: 16 }}&gt;&#10;        Transformer：&lt;br /&gt;答题时圈重点的注意力机制&#10;      &lt;/Text&gt;&#10;      &lt;Box style={{ width: 56, height: 4, background: '#22D3EE', marginBottom: 22 }} /&gt;&#10;      &lt;Text style={{ fontSize: 16, color: '#5B6B7A', lineHeight: 1.8, marginBottom: 22 }}&gt;&#10;        读题时你会&lt;span style={{ fontWeight: 'bold', color: '#16263F' }}&gt;圈出关键词&lt;/span&gt;再作答——Transformer 的「注意力」就是这个过程：让模型知道一句话里&lt;span style={{ fontWeight: 'bold', color: '#16263F' }}&gt;哪些词最重要&lt;/span&gt;。&#10;      &lt;/Text&gt;&#10;&#10;      &lt;Box style={{ background: '#16263F', borderRadius: 14, padding: '24px 28px' }}&gt;&#10;        &lt;Box style={{ flexDirection: 'row', alignItems: 'center', gap: 12, marginBottom: 14 }}&gt;&#10;          &lt;FAIcon name='brain' style={{ fill: '#FF9F1C', width: 26, height: 26 }} /&gt;&#10;          &lt;Text style={{ fontSize: 19, fontWeight: 'bold', color: '#FFFFFF' }}&gt;一句话记牢&lt;/Text&gt;&#10;        &lt;/Box&gt;&#10;        &lt;Text style={{ fontSize: 15, color: '#DCE7F5', lineHeight: 1.9 }}&gt;&#10;          自注意力 = 每个词都问一遍「整句话里，谁和我最相关」，然后把重点信息「加权」到自己身上。&#10;        &lt;/Text&gt;&#10;      &lt;/Box&gt;&#10;    &lt;/Box&gt;&#10;&#10;    &lt;Box style={{ flex: 4, background: '#FFFFFF', borderRadius: 14, padding: '24px 26px', boxShadow: '0 2px 12px rgba(22,38,63,0.06)' }}&gt;&#10;      &lt;Box style={{ flexDirection: 'row', alignItems: 'center', justifyContent: 'space-between', marginBottom: 16 }}&gt;&#10;        &lt;Text style={{ fontSize: 18, fontWeight: 'bold', color: '#16263F' }}&gt;Q / K / V 三个角色&lt;/Text&gt;&#10;        &lt;Box style={{ background: 'rgba(255,159,28,0.12)', borderRadius: 8, padding: '6px 12px' }}&gt;&#10;          &lt;Text style={{ fontSize: 12, color: '#FF9F1C', fontWeight: 'bold' }}&gt;选学 · 可跳过&lt;/Text&gt;&#10;        &lt;/Box&gt;&#10;      &lt;/Box&gt;&#10;      {[&#10;        { k: 'Q', n: '查询 Query', d: '「我想找什么」——当前词的发问', c: '#22D3EE' },&#10;        { k: 'K', n: '键 Key', d: '「我是什么」——每个词的标签', c: '#FF9F1C' },&#10;        { k: 'V', n: '值 Value', d: '「我有什么内容」——被提取的信息', c: '#16263F' },&#10;      ].map((item, idx) =&gt; (&#10;        &lt;Box key={idx} style={{ flexDirection: 'row', alignItems: 'flex-start', gap: 14, padding: '14px 0', borderBottom: idx &lt; 2 ? '1px solid #EEF2F7' : 'none' }}&gt;&#10;          &lt;Box style={{ width: 40, height: 40, borderRadius: 10, background: '#EAF2FB', justifyContent: 'center', alignItems: 'center' }}&gt;&#10;            &lt;Text style={{ fontSize: 18, fontWeight: 'bold', color: item.c }}&gt;{item.k}&lt;/Text&gt;&#10;          &lt;/Box&gt;&#10;          &lt;Box style={{ flex: 1 }}&gt;&#10;            &lt;Text style={{ fontSize: 16, fontWeight: 'bold', color: '#16263F', marginBottom: 4 }}&gt;{item.n}&lt;/Text&gt;&#10;            &lt;Text style={{ fontSize: 14, color: '#5B6B7A' }}&gt;{item.d}&lt;/Text&gt;&#10;          &lt;/Box&gt;&#10;        &lt;/Box&gt;&#10;      ))}&#10;      &lt;Text style={{ fontSize: 13, color: '#5B6B7A', marginTop: 14, lineHeight: 1.6 }}&gt;&#10;        细节留到 P11 选学页再展开，这里先记住「注意力 = 圈重点」即可。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1 讲&lt;/Text&gt;&#10;    &lt;Text style={{ fontSize: 14, color: '#5B6B7A' }}&gt;04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71500" y="266700"/>
            <a:ext cx="594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TRANSFORMER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71500" y="523875"/>
            <a:ext cx="5943600" cy="1057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Transformer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：</a:t>
            </a:r>
            <a:endParaRPr/>
          </a:p>
          <a:p>
            <a:pPr>
              <a:lnSpc>
                <a:spcPct val="135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答题时圈重点的注意力机制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571500" y="173355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71500" y="1981200"/>
            <a:ext cx="59436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读题时你会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圈出关键词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再作答——</a:t>
            </a:r>
            <a:r>
              <a:rPr lang="en-US" sz="1200">
                <a:solidFill>
                  <a:srgbClr val="5B6B7A"/>
                </a:solidFill>
                <a:latin typeface="思源黑体"/>
                <a:ea typeface="思源黑体"/>
              </a:rPr>
              <a:t>Transformer 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的「注意力」就是这个过程：让模型知道一句话里</a:t>
            </a: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哪些词最重要</a:t>
            </a:r>
            <a:r>
              <a:rPr lang="zh-CN" sz="1200">
                <a:solidFill>
                  <a:srgbClr val="5B6B7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71500" y="2857500"/>
            <a:ext cx="5943600" cy="1495425"/>
          </a:xfrm>
          <a:prstGeom prst="roundRect">
            <a:avLst>
              <a:gd name="adj" fmla="val 8917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1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3086100"/>
            <a:ext cx="247650" cy="247650"/>
          </a:xfrm>
          <a:prstGeom prst="rect">
            <a:avLst/>
          </a:prstGeom>
          <a:ln/>
        </p:spPr>
      </p:pic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200150" y="3105150"/>
            <a:ext cx="923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思源黑体"/>
                <a:ea typeface="思源黑体"/>
              </a:rPr>
              <a:t>一句话记牢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38200" y="3467100"/>
            <a:ext cx="54102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自注意力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=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每个词都问一遍「整句话里，谁和我最相关」，然后把重点信息「加权」到自己身上。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858000" y="190500"/>
            <a:ext cx="4762500" cy="6477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105650" y="447675"/>
            <a:ext cx="1409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Q / K / V </a:t>
            </a: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三个角色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10458450" y="419100"/>
            <a:ext cx="914400" cy="257175"/>
          </a:xfrm>
          <a:prstGeom prst="roundRect">
            <a:avLst>
              <a:gd name="adj" fmla="val 29630"/>
            </a:avLst>
          </a:prstGeom>
          <a:solidFill>
            <a:srgbClr val="FF9F1C">
              <a:alpha val="12000"/>
            </a:srgbClr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0572750" y="4762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9F1C"/>
                </a:solidFill>
                <a:latin typeface="思源黑体"/>
                <a:ea typeface="思源黑体"/>
              </a:rPr>
              <a:t>选学</a:t>
            </a:r>
            <a:r>
              <a:rPr lang="en-US" sz="900" b="1">
                <a:solidFill>
                  <a:srgbClr val="FF9F1C"/>
                </a:solidFill>
                <a:latin typeface="思源黑体"/>
                <a:ea typeface="思源黑体"/>
              </a:rPr>
              <a:t> · </a:t>
            </a:r>
            <a:r>
              <a:rPr lang="zh-CN" sz="900" b="1">
                <a:solidFill>
                  <a:srgbClr val="FF9F1C"/>
                </a:solidFill>
                <a:latin typeface="思源黑体"/>
                <a:ea typeface="思源黑体"/>
              </a:rPr>
              <a:t>可跳过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7105650" y="828675"/>
            <a:ext cx="4267200" cy="676275"/>
          </a:xfrm>
          <a:custGeom>
            <a:pathLst>
              <a:path w="448" h="71">
                <a:moveTo>
                  <a:pt x="0" y="70"/>
                </a:moveTo>
                <a:lnTo>
                  <a:pt x="448" y="70"/>
                </a:lnTo>
                <a:lnTo>
                  <a:pt x="448" y="71"/>
                </a:lnTo>
                <a:lnTo>
                  <a:pt x="0" y="71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7105650" y="9620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229475" y="1047750"/>
            <a:ext cx="142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2D3EE"/>
                </a:solidFill>
                <a:latin typeface="思源黑体"/>
                <a:ea typeface="思源黑体"/>
              </a:rPr>
              <a:t>Q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620000" y="96202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查询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Query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620000" y="1190625"/>
            <a:ext cx="3752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「我想找什么」——当前词的发问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7105650" y="1495425"/>
            <a:ext cx="4267200" cy="676275"/>
          </a:xfrm>
          <a:custGeom>
            <a:pathLst>
              <a:path w="448" h="71">
                <a:moveTo>
                  <a:pt x="0" y="70"/>
                </a:moveTo>
                <a:lnTo>
                  <a:pt x="448" y="70"/>
                </a:lnTo>
                <a:lnTo>
                  <a:pt x="448" y="71"/>
                </a:lnTo>
                <a:lnTo>
                  <a:pt x="0" y="71"/>
                </a:lnTo>
                <a:close/>
              </a:path>
            </a:pathLst>
          </a:custGeom>
          <a:solidFill>
            <a:srgbClr val="EEF2F7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7105650" y="16287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239000" y="1714500"/>
            <a:ext cx="123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9F1C"/>
                </a:solidFill>
                <a:latin typeface="思源黑体"/>
                <a:ea typeface="思源黑体"/>
              </a:rPr>
              <a:t>K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620000" y="162877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键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Key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620000" y="1857375"/>
            <a:ext cx="3752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「我是什么」——每个词的标签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7105650" y="22955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239000" y="2381250"/>
            <a:ext cx="123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V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620000" y="229552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值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Value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620000" y="2524125"/>
            <a:ext cx="3752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「我有什么内容」——被提取的信息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105650" y="2952750"/>
            <a:ext cx="42672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细节留到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P11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选学页再展开，这里先记住「注意力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=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圈重点」即可。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81" name="" descr="&lt;Slide&#10;  style={{&#10;    width: '1280px', height: '720px',&#10;    background: '#16263F',&#10;    padding: '20px 60px',&#10;    fontFamily: '&quot;思源黑体&quot;, sans-serif',&#10;  }}&#10;&gt;&#10;  &lt;Box style={{ width: '100%', height: '100%', flexDirection: 'row', gap: 44 }}&gt;&#10;    &lt;Box style={{ flex: 1, flexDirection: 'column', justifyContent: 'center' }}&gt;&#10;      &lt;Text style={{ fontSize: 14, color: '#22D3EE', fontWeight: 'bold', letterSpacing: 3, marginBottom: 14 }}&gt;TOKEN ECONOMICS&lt;/Text&gt;&#10;      &lt;Text style={{ fontSize: 40, color: '#FFFFFF', fontWeight: 'bold', lineHeight: 1.3, marginBottom: 22 }}&gt;&#10;        Token：AI 世界的&lt;br /&gt;计费货币，中文更贵&#10;      &lt;/Text&gt;&#10;      &lt;Box style={{ width: 56, height: 4, background: '#FF9F1C', marginBottom: 22 }} /&gt;&#10;      &lt;Box style={{ flexDirection: 'row', alignItems: 'flex-end', gap: 20 }}&gt;&#10;        &lt;Box&gt;&#10;          &lt;Text style={{ fontSize: 68, color: '#FF9F1C', fontWeight: 'bold', lineHeight: 1 }}&gt;40%~100%&lt;/Text&gt;&#10;          &lt;Text style={{ fontSize: 16, color: '#DCE7F5', marginTop: 8 }}&gt;中文 Token 税&lt;/Text&gt;&#10;        &lt;/Box&gt;&#10;      &lt;/Box&gt;&#10;    &lt;/Box&gt;&#10;&#10;    &lt;Box style={{ flex: 1, flexDirection: 'column', justifyContent: 'center', gap: 14 }}&gt;&#10;      &lt;Box style={{ background: 'rgba(255,255,255,0.06)', border: '1px solid rgba(220,231,245,0.15)', borderRadius: 12, padding: '18px 22px' }}&gt;&#10;        &lt;Text style={{ fontSize: 17, color: '#FFFFFF', fontWeight: 'bold', marginBottom: 6 }}&gt;Token 是什么&lt;/Text&gt;&#10;        &lt;Text style={{ fontSize: 14, color: '#DCE7F5', lineHeight: 1.7 }}&gt;模型把文本切成「Token」再计算，按 Token 计费——它是 AI 世界的度量与计价单位。&lt;/Text&gt;&#10;      &lt;/Box&gt;&#10;      &lt;Box style={{ background: 'rgba(255,255,255,0.06)', border: '1px solid rgba(220,231,245,0.15)', borderRadius: 12, padding: '18px 22px' }}&gt;&#10;        &lt;Text style={{ fontSize: 17, color: '#FFFFFF', fontWeight: 'bold', marginBottom: 6 }}&gt;中文为什么更贵&lt;/Text&gt;&#10;        &lt;Text style={{ fontSize: 14, color: '#DCE7F5', lineHeight: 1.7 }}&gt;同样语义，中文常被切成更多 Token（1 汉字 ≈ 1-2 Token），比英文多 40%~100%。&lt;/Text&gt;&#10;      &lt;/Box&gt;&#10;      &lt;Box style={{ background: 'rgba(255,159,28,0.12)', border: '1px solid rgba(255,159,28,0.3)', borderRadius: 12, padding: '18px 22px' }}&gt;&#10;        &lt;Text style={{ fontSize: 17, color: '#FF9F1C', fontWeight: 'bold', marginBottom: 6 }}&gt;省钱冷知识&lt;/Text&gt;&#10;        &lt;Text style={{ fontSize: 14, color: '#DCE7F5', lineHeight: 1.7 }}&gt;能精简就别啰嗦：Prompt 越干练，Token 越省，账单越好看。&lt;/Text&gt;&#10;      &lt;/Box&gt;&#10;    &lt;/Box&gt;&#10;  &lt;/Box&gt;&#10;  &lt;Box style={{ position: 'absolute', bottom: 14, left: 60, right: 60, flexDirection: 'row', justifyContent: 'space-between' }}&gt;&#10;    &lt;Text style={{ fontSize: 14, color: '#8FA4B8' }}&gt;AI 从零开始 · 第 1 讲&lt;/Text&gt;&#10;    &lt;Text style={{ fontSize: 14, color: '#8FA4B8' }}&gt;05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6263F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71500" y="1933575"/>
            <a:ext cx="531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TOKEN ECONOMICS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71500" y="2228850"/>
            <a:ext cx="5314950" cy="11906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Token</a:t>
            </a: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：</a:t>
            </a: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AI </a:t>
            </a: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世界的</a:t>
            </a:r>
            <a:endParaRPr/>
          </a:p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计费货币，中文更贵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571500" y="3629025"/>
            <a:ext cx="5334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71500" y="3876675"/>
            <a:ext cx="3333750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FF9F1C"/>
                </a:solidFill>
                <a:latin typeface="思源黑体"/>
                <a:ea typeface="思源黑体"/>
              </a:rPr>
              <a:t>40%~100%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71500" y="4733925"/>
            <a:ext cx="333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中文</a:t>
            </a:r>
            <a:r>
              <a:rPr lang="en-US" sz="1200">
                <a:solidFill>
                  <a:srgbClr val="DCE7F5"/>
                </a:solidFill>
                <a:latin typeface="思源黑体"/>
                <a:ea typeface="思源黑体"/>
              </a:rPr>
              <a:t> Token 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税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305550" y="1704975"/>
            <a:ext cx="5314950" cy="1152525"/>
          </a:xfrm>
          <a:prstGeom prst="roundRect">
            <a:avLst>
              <a:gd name="adj" fmla="val 991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515100" y="1876425"/>
            <a:ext cx="4895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思源黑体"/>
                <a:ea typeface="思源黑体"/>
              </a:rPr>
              <a:t>Token </a:t>
            </a: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是什么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515100" y="2133600"/>
            <a:ext cx="48958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模型把文本切成「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Token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」再计算，按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Token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计费——它是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AI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世界的度量与计价单位。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305550" y="2990850"/>
            <a:ext cx="5314950" cy="1152525"/>
          </a:xfrm>
          <a:prstGeom prst="roundRect">
            <a:avLst>
              <a:gd name="adj" fmla="val 991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515100" y="3162300"/>
            <a:ext cx="4895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中文为什么更贵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515100" y="3419475"/>
            <a:ext cx="48958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同样语义，中文常被切成更多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Token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（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1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汉字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≈ 1-2 Token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），比英文多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 40%~100%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305550" y="4276725"/>
            <a:ext cx="5314950" cy="876300"/>
          </a:xfrm>
          <a:prstGeom prst="roundRect">
            <a:avLst>
              <a:gd name="adj" fmla="val 13043"/>
            </a:avLst>
          </a:prstGeom>
          <a:solidFill>
            <a:srgbClr val="FF9F1C">
              <a:alpha val="12000"/>
            </a:srgbClr>
          </a:solidFill>
          <a:ln w="12700">
            <a:solidFill>
              <a:srgbClr val="FF9F1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515100" y="4448175"/>
            <a:ext cx="4895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9F1C"/>
                </a:solidFill>
                <a:latin typeface="思源黑体"/>
                <a:ea typeface="思源黑体"/>
              </a:rPr>
              <a:t>省钱冷知识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515100" y="4705350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能精简就别啰嗦：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Prompt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越干练，</a:t>
            </a:r>
            <a:r>
              <a:rPr lang="en-US" sz="1050">
                <a:solidFill>
                  <a:srgbClr val="DCE7F5"/>
                </a:solidFill>
                <a:latin typeface="思源黑体"/>
                <a:ea typeface="思源黑体"/>
              </a:rPr>
              <a:t>Token 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越省，账单越好看。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1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99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EMBEDDING&lt;/Text&gt;&#10;    &lt;Text style={{ fontSize: 34, color: '#16263F', fontWeight: 'bold', marginBottom: 14 }}&gt;Embedding：文字变向量，机器才懂意思相近&lt;/Text&gt;&#10;    &lt;Box style={{ width: 56, height: 4, background: '#22D3EE', marginBottom: 20 }} /&gt;&#10;&#10;    &lt;Box style={{ background: '#16263F', borderRadius: 12, padding: '18px 24px', flexDirection: 'row', alignItems: 'center', gap: 16, marginBottom: 22 }}&gt;&#10;      &lt;FAIcon name='cube' style={{ fill: '#FF9F1C', width: 24, height: 24 }} /&gt;&#10;      &lt;Text style={{ fontSize: 16, color: '#DCE7F5', lineHeight: 1.7 }}&gt;&#10;        把文字映射成高维空间里的一个「点」——&lt;span style={{ color: '#22D3EE', fontWeight: 'bold' }}&gt;意思越近，向量距离越近&lt;/span&gt;。「猫」和「狗」靠得近，「猫」和「汽车」离得远。&#10;      &lt;/Text&gt;&#10;    &lt;/Box&gt;&#10;&#10;    &lt;Box style={{ flexDirection: 'row', gap: 22, flex: 1 }}&gt;&#10;      {[&#10;        { t: '语义搜索', d: '用户搜「怎么快速入睡」，能命中「失眠怎么办」——搜的是意思，不是字面。', icon: 'search' },&#10;        { t: '推荐系统', d: '「相似内容」推荐、相关文章、猜你喜欢，本质都是向量最近邻。', icon: 'thumbs-up' },&#10;        { t: 'RAG 基石', d: '知识库召回靠的就是 Embedding：把问题向量化，再找最相关的资料片段。', icon: 'layer-group' },&#10;      ].map((item, idx) =&gt; (&#10;        &lt;Box key={idx} style={{ flex: 1, background: '#FFFFFF', borderRadius: 14, padding: '26px 26px', boxShadow: '0 2px 12px rgba(22,38,63,0.06)' }}&gt;&#10;          &lt;Box style={{ flexDirection: 'row', alignItems: 'center', gap: 12, marginBottom: 14 }}&gt;&#10;            &lt;Box style={{ width: 44, height: 44, borderRadius: 12, background: '#EAF2FB', justifyContent: 'center', alignItems: 'center' }}&gt;&#10;              &lt;FAIcon name={item.icon} style={{ fill: '#22D3EE', width: 22, height: 22 }} /&gt;&#10;            &lt;/Box&gt;&#10;            &lt;Text style={{ fontSize: 20, fontWeight: 'bold', color: '#16263F' }}&gt;{item.t}&lt;/Text&gt;&#10;          &lt;/Box&gt;&#10;          &lt;Text style={{ fontSize: 15, color: '#5B6B7A', lineHeight: 1.8 }}&gt;{item.d}&lt;/Text&gt;&#10;        &lt;/Box&gt;&#10;      ))}&#10;    &lt;/Box&gt;&#10;  &lt;/Box&gt;&#10;  &lt;Box style={{ position: 'absolute', bottom: 14, left: 60, right: 60, flexDirection: 'row', justifyContent: 'space-between' }}&gt;&#10;    &lt;Text style={{ fontSize: 14, color: '#5B6B7A' }}&gt;AI 从零开始 · 第 1 讲&lt;/Text&gt;&#10;    &lt;Text style={{ fontSize: 14, color: '#5B6B7A' }}&gt;06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EMBEDDING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Embedding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：文字变向量，机器才懂意思相近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571500" y="1181100"/>
            <a:ext cx="11049000" cy="657225"/>
          </a:xfrm>
          <a:prstGeom prst="roundRect">
            <a:avLst>
              <a:gd name="adj" fmla="val 17391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2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400175"/>
            <a:ext cx="228600" cy="228600"/>
          </a:xfrm>
          <a:prstGeom prst="rect">
            <a:avLst/>
          </a:prstGeom>
          <a:ln/>
        </p:spPr>
      </p:pic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181100" y="1352550"/>
            <a:ext cx="8391525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把文字映射成高维空间里的一个「点」——</a:t>
            </a:r>
            <a:r>
              <a:rPr lang="zh-CN" sz="1200" b="1">
                <a:solidFill>
                  <a:srgbClr val="22D3EE"/>
                </a:solidFill>
                <a:latin typeface="思源黑体"/>
                <a:ea typeface="思源黑体"/>
              </a:rPr>
              <a:t>意思越近，向量距离越近</a:t>
            </a:r>
            <a:r>
              <a:rPr lang="zh-CN" sz="1200">
                <a:solidFill>
                  <a:srgbClr val="DCE7F5"/>
                </a:solidFill>
                <a:latin typeface="思源黑体"/>
                <a:ea typeface="思源黑体"/>
              </a:rPr>
              <a:t>。「猫」和「狗」靠得近，「猫」和「汽车」离得远。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571500" y="2047875"/>
            <a:ext cx="3543300" cy="4619625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819150" y="22955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23925" y="2400300"/>
            <a:ext cx="209550" cy="209550"/>
          </a:xfrm>
          <a:prstGeom prst="rect">
            <a:avLst/>
          </a:prstGeom>
          <a:ln/>
        </p:spPr>
      </p:pic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352550" y="2390775"/>
            <a:ext cx="781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语义搜索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19150" y="2847975"/>
            <a:ext cx="3048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用户搜「怎么快速入睡」，能命中「失眠怎么办」——搜的是意思，不是字面。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4324350" y="2047875"/>
            <a:ext cx="3543300" cy="4619625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4572000" y="22955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676775" y="2400300"/>
            <a:ext cx="209550" cy="209550"/>
          </a:xfrm>
          <a:prstGeom prst="rect">
            <a:avLst/>
          </a:prstGeom>
          <a:ln/>
        </p:spPr>
      </p:pic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105400" y="2390775"/>
            <a:ext cx="781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推荐系统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572000" y="2847975"/>
            <a:ext cx="3048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「相似内容」推荐、相关文章、猜你喜欢，本质都是向量最近邻。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8077200" y="2047875"/>
            <a:ext cx="3543300" cy="4619625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8324850" y="22955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429625" y="2400300"/>
            <a:ext cx="209550" cy="209550"/>
          </a:xfrm>
          <a:prstGeom prst="rect">
            <a:avLst/>
          </a:prstGeom>
          <a:ln/>
        </p:spPr>
      </p:pic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858250" y="2390775"/>
            <a:ext cx="866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6263F"/>
                </a:solidFill>
                <a:latin typeface="思源黑体"/>
                <a:ea typeface="思源黑体"/>
              </a:rPr>
              <a:t>RAG </a:t>
            </a:r>
            <a:r>
              <a:rPr lang="zh-CN" sz="1500" b="1">
                <a:solidFill>
                  <a:srgbClr val="16263F"/>
                </a:solidFill>
                <a:latin typeface="思源黑体"/>
                <a:ea typeface="思源黑体"/>
              </a:rPr>
              <a:t>基石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324850" y="2847975"/>
            <a:ext cx="3048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知识库召回靠的就是</a:t>
            </a:r>
            <a:r>
              <a:rPr lang="en-US" sz="1125">
                <a:solidFill>
                  <a:srgbClr val="5B6B7A"/>
                </a:solidFill>
                <a:latin typeface="思源黑体"/>
                <a:ea typeface="思源黑体"/>
              </a:rPr>
              <a:t> Embedding</a:t>
            </a:r>
            <a:r>
              <a:rPr lang="zh-CN" sz="1125">
                <a:solidFill>
                  <a:srgbClr val="5B6B7A"/>
                </a:solidFill>
                <a:latin typeface="思源黑体"/>
                <a:ea typeface="思源黑体"/>
              </a:rPr>
              <a:t>：把问题向量化，再找最相关的资料片段。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24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MODEL LANDSCAPE&lt;/Text&gt;&#10;    &lt;Text style={{ fontSize: 34, color: '#16263F', fontWeight: 'bold', marginBottom: 14 }}&gt;主流模型格局 2026-08&lt;/Text&gt;&#10;    &lt;Box style={{ width: 56, height: 4, background: '#22D3EE', marginBottom: 22 }} /&gt;&#10;&#10;    &lt;Box style={{ flexDirection: 'row', gap: 24, flex: 1 }}&gt;&#10;      &lt;Box style={{ flex: 5, background: '#16263F', borderRadius: 14, padding: '28px 28px', justifyContent: 'center' }}&gt;&#10;        &lt;Box style={{ flexDirection: 'row', alignItems: 'center', gap: 12, marginBottom: 14 }}&gt;&#10;          &lt;FAIcon name='crown' style={{ fill: '#FF9F1C', width: 28, height: 28 }} /&gt;&#10;          &lt;Text style={{ fontSize: 14, color: '#FF9F1C', fontWeight: 'bold', letterSpacing: 1 }}&gt;OPEN-SOURCE FLAGSHIP&lt;/Text&gt;&#10;        &lt;/Box&gt;&#10;        &lt;Text style={{ fontSize: 30, fontWeight: 'bold', color: '#FFFFFF', marginBottom: 10 }}&gt;DeepSeek V4-Flash&lt;/Text&gt;&#10;        &lt;Text style={{ fontSize: 15, color: '#DCE7F5', lineHeight: 1.8, marginBottom: 16 }}&gt;&#10;          开源旗舰：MIT 协议、284B 总参 / 13B 激活、1M 上下文，$0.14 / 百万 input——&lt;span style={{ color: '#22D3EE', fontWeight: 'bold' }}&gt;国产开源的代表作&lt;/span&gt;。&#10;        &lt;/Text&gt;&#10;        &lt;Box style={{ background: 'rgba(34,211,238,0.12)', borderRadius: 8, padding: '10px 14px' }}&gt;&#10;          &lt;Text style={{ fontSize: 14, color: '#22D3EE', fontWeight: 'bold' }}&gt;小参数反超大参数，本地可跑&lt;/Text&gt;&#10;        &lt;/Box&gt;&#10;      &lt;/Box&gt;&#10;&#10;      &lt;Box style={{ flex: 5, flexDirection: 'column', gap: 12 }}&gt;&#10;        {[&#10;          { t: 'GPT-5', v: 'OpenAI', d: '综合旗舰 · 生态最成熟', icon: 'rocket' },&#10;          { t: 'Claude Opus 5', v: 'Anthropic', d: '代码与长文强 · 风格克制', icon: 'code' },&#10;          { t: 'Qwen', v: '阿里', d: '国产开源主力 · 中文友好', icon: 'cubes' },&#10;          { t: 'GLM', v: '智谱', d: '国产闭源 · 推理扎实', icon: 'brain' },&#10;          { t: '豆包', v: '字节', d: 'C 端普及度高 · 易上手', icon: 'fire' },&#10;        ].map((item, idx) =&gt; (&#10;          &lt;Box key={idx} style={{ flex: 1, background: '#FFFFFF', borderRadius: 12, padding: '12px 18px', boxShadow: '0 2px 12px rgba(22,38,63,0.06)', flexDirection: 'row', alignItems: 'center', gap: 14 }}&gt;&#10;            &lt;Box style={{ width: 36, height: 36, borderRadius: 10, background: '#EAF2FB', justifyContent: 'center', alignItems: 'center' }}&gt;&#10;              &lt;FAIcon name={item.icon} style={{ fill: '#22D3EE', width: 18, height: 18 }} /&gt;&#10;            &lt;/Box&gt;&#10;            &lt;Box style={{ flex: 1 }}&gt;&#10;              &lt;Text style={{ fontSize: 16, fontWeight: 'bold', color: '#16263F' }}&gt;{item.t} &lt;span style={{ fontSize: 12, color: '#5B6B7A', fontWeight: 'normal' }}&gt;· {item.v}&lt;/span&gt;&lt;/Text&gt;&#10;              &lt;Text style={{ fontSize: 13, color: '#5B6B7A' }}&gt;{item.d}&lt;/Text&gt;&#10;            &lt;/Box&gt;&#10;          &lt;/Box&gt;&#10;        ))}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1 讲 · 数据截至 2026-08&lt;/Text&gt;&#10;    &lt;Text style={{ fontSize: 14, color: '#5B6B7A' }}&gt;07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MODEL LANDSCAPE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主流模型格局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2026-08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571500" y="1200150"/>
            <a:ext cx="5410200" cy="5467350"/>
          </a:xfrm>
          <a:prstGeom prst="roundRect">
            <a:avLst>
              <a:gd name="adj" fmla="val 2465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2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2952750"/>
            <a:ext cx="266700" cy="266700"/>
          </a:xfrm>
          <a:prstGeom prst="rect">
            <a:avLst/>
          </a:prstGeom>
          <a:ln/>
        </p:spPr>
      </p:pic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219200" y="30099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75">
                <a:solidFill>
                  <a:srgbClr val="FF9F1C"/>
                </a:solidFill>
                <a:latin typeface="思源黑体"/>
                <a:ea typeface="思源黑体"/>
              </a:rPr>
              <a:t>OPEN-SOURCE FLAGSHIP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38200" y="3352800"/>
            <a:ext cx="4876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思源黑体"/>
                <a:ea typeface="思源黑体"/>
              </a:rPr>
              <a:t>DeepSeek V4-Flash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38200" y="3790950"/>
            <a:ext cx="48768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开源旗舰：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MIT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协议、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284B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总参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/ 13B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激活、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1M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上下文，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$0.14 /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百万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input——</a:t>
            </a: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国产开源的代表作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838200" y="4562475"/>
            <a:ext cx="4876800" cy="352425"/>
          </a:xfrm>
          <a:prstGeom prst="roundRect">
            <a:avLst>
              <a:gd name="adj" fmla="val 21622"/>
            </a:avLst>
          </a:prstGeom>
          <a:solidFill>
            <a:srgbClr val="22D3EE">
              <a:alpha val="12000"/>
            </a:srgbClr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71550" y="465772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2D3EE"/>
                </a:solidFill>
                <a:latin typeface="思源黑体"/>
                <a:ea typeface="思源黑体"/>
              </a:rPr>
              <a:t>小参数反超大参数，本地可跑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210300" y="1200150"/>
            <a:ext cx="54102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381750" y="153352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67475" y="1619250"/>
            <a:ext cx="171450" cy="171450"/>
          </a:xfrm>
          <a:prstGeom prst="rect">
            <a:avLst/>
          </a:prstGeom>
          <a:ln/>
        </p:spPr>
      </p:pic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858000" y="1533525"/>
            <a:ext cx="459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GPT-5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</a:t>
            </a: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OpenAI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858000" y="1724025"/>
            <a:ext cx="459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综合旗舰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生态最成熟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210300" y="2314575"/>
            <a:ext cx="54102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6381750" y="26479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67475" y="2733675"/>
            <a:ext cx="171450" cy="171450"/>
          </a:xfrm>
          <a:prstGeom prst="rect">
            <a:avLst/>
          </a:prstGeom>
          <a:ln/>
        </p:spPr>
      </p:pic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858000" y="2647950"/>
            <a:ext cx="459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Claude Opus 5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</a:t>
            </a: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Anthropic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858000" y="2838450"/>
            <a:ext cx="459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代码与长文强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风格克制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210300" y="3429000"/>
            <a:ext cx="5410200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6381750" y="376237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467475" y="3848100"/>
            <a:ext cx="171450" cy="171450"/>
          </a:xfrm>
          <a:prstGeom prst="rect">
            <a:avLst/>
          </a:prstGeom>
          <a:ln/>
        </p:spPr>
      </p:pic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858000" y="3762375"/>
            <a:ext cx="459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Qwen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</a:t>
            </a: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阿里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858000" y="3952875"/>
            <a:ext cx="459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国产开源主力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中文友好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210300" y="4552950"/>
            <a:ext cx="54102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6381750" y="488632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467475" y="4972050"/>
            <a:ext cx="171450" cy="171450"/>
          </a:xfrm>
          <a:prstGeom prst="rect">
            <a:avLst/>
          </a:prstGeom>
          <a:ln/>
        </p:spPr>
      </p:pic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858000" y="4886325"/>
            <a:ext cx="459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GLM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</a:t>
            </a: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智谱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858000" y="5076825"/>
            <a:ext cx="459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国产闭源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推理扎实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210300" y="5667375"/>
            <a:ext cx="54102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6381750" y="60007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6467475" y="6086475"/>
            <a:ext cx="171450" cy="171450"/>
          </a:xfrm>
          <a:prstGeom prst="rect">
            <a:avLst/>
          </a:prstGeom>
          <a:ln/>
        </p:spPr>
      </p:pic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858000" y="6000750"/>
            <a:ext cx="4591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6263F"/>
                </a:solidFill>
                <a:latin typeface="思源黑体"/>
                <a:ea typeface="思源黑体"/>
              </a:rPr>
              <a:t>豆包</a:t>
            </a:r>
            <a:r>
              <a:rPr lang="en-US" sz="1200" b="1">
                <a:solidFill>
                  <a:srgbClr val="16263F"/>
                </a:solidFill>
                <a:latin typeface="思源黑体"/>
                <a:ea typeface="思源黑体"/>
              </a:rPr>
              <a:t> </a:t>
            </a:r>
            <a:r>
              <a:rPr lang="en-US" sz="900">
                <a:solidFill>
                  <a:srgbClr val="5B6B7A"/>
                </a:solidFill>
                <a:latin typeface="思源黑体"/>
                <a:ea typeface="思源黑体"/>
              </a:rPr>
              <a:t>· </a:t>
            </a:r>
            <a:r>
              <a:rPr lang="zh-CN" sz="900">
                <a:solidFill>
                  <a:srgbClr val="5B6B7A"/>
                </a:solidFill>
                <a:latin typeface="思源黑体"/>
                <a:ea typeface="思源黑体"/>
              </a:rPr>
              <a:t>字节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858000" y="6191250"/>
            <a:ext cx="459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C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端普及度高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易上手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2428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数据截至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2026-08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63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DEV FRAMEWORKS&lt;/Text&gt;&#10;    &lt;Text style={{ fontSize: 34, color: '#16263F', fontWeight: 'bold', marginBottom: 14 }}&gt;开发框架：从 LangChain 开始&lt;/Text&gt;&#10;    &lt;Box style={{ width: 56, height: 4, background: '#22D3EE', marginBottom: 22 }} /&gt;&#10;&#10;    &lt;Box style={{ flexDirection: 'row', flexWrap: 'wrap', gap: 18, flex: 1 }}&gt;&#10;      {[&#10;        { t: 'LangChain', d: '生态最全，起步首选', icon: 'link', star: true },&#10;        { t: 'LlamaIndex', d: '专注 RAG 索引', icon: 'layer-group', star: false },&#10;        { t: 'Dify', d: '可视化低代码编排', icon: 'paint-brush', star: false },&#10;        { t: 'AutoGen', d: '多智能体协作', icon: 'users', star: false },&#10;        { t: 'Semantic Kernel', d: '微软 .NET 生态', icon: 'windows', star: false },&#10;        { t: 'Spring AI', d: 'Java 生态接入', icon: 'leaf', star: false },&#10;      ].map((item, idx) =&gt; (&#10;        &lt;Box key={idx} style={{ width: '31.8%', background: item.star ? '#16263F' : '#FFFFFF', borderRadius: 12, padding: '20px 22px', boxShadow: item.star ? 'none' : '0 2px 12px rgba(22,38,63,0.06)' }}&gt;&#10;          &lt;Box style={{ flexDirection: 'row', alignItems: 'center', gap: 12, marginBottom: 10 }}&gt;&#10;            &lt;FAIcon name={item.icon} style={{ fill: item.star ? '#FF9F1C' : '#22D3EE', width: 22, height: 22 }} /&gt;&#10;            &lt;Text style={{ fontSize: 19, fontWeight: 'bold', color: item.star ? '#FFFFFF' : '#16263F' }}&gt;{item.t}&lt;/Text&gt;&#10;            {item.star &amp;&amp; (&#10;              &lt;Box style={{ background: 'rgba(255,159,28,0.15)', borderRadius: 8, padding: '4px 10px', marginLeft: 'auto' }}&gt;&#10;                &lt;Text style={{ fontSize: 12, color: '#FF9F1C', fontWeight: 'bold' }}&gt;推荐&lt;/Text&gt;&#10;              &lt;/Box&gt;&#10;            )}&#10;          &lt;/Box&gt;&#10;          &lt;Text style={{ fontSize: 14, color: item.star ? '#DCE7F5' : '#5B6B7A' }}&gt;{item.d}&lt;/Text&gt;&#10;        &lt;/Box&gt;&#10;      ))}&#10;    &lt;/Box&gt;&#10;&#10;    &lt;Box style={{ marginTop: 18, background: '#DCE7F5', borderRadius: 10, padding: '14px 20px' }}&gt;&#10;      &lt;Text style={{ fontSize: 15, color: '#16263F', fontWeight: 'bold' }}&gt;&#10;        选型原则：别贪多，先吃透 LangChain 一个，再按场景补齐 RAG 或多智能体&#10;      &lt;/Text&gt;&#10;    &lt;/Box&gt;&#10;  &lt;/Box&gt;&#10;  &lt;Box style={{ position: 'absolute', bottom: 14, left: 60, right: 60, flexDirection: 'row', justifyContent: 'space-between' }}&gt;&#10;    &lt;Text style={{ fontSize: 14, color: '#5B6B7A' }}&gt;AI 从零开始 · 第 1 讲&lt;/Text&gt;&#10;    &lt;Text style={{ fontSize: 14, color: '#5B6B7A' }}&gt;08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DEV FRAMEWORKS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开发框架：从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LangChain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开始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571500" y="1200150"/>
            <a:ext cx="3514725" cy="2343150"/>
          </a:xfrm>
          <a:prstGeom prst="roundRect">
            <a:avLst>
              <a:gd name="adj" fmla="val 4878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2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" y="1400175"/>
            <a:ext cx="209550" cy="209550"/>
          </a:xfrm>
          <a:prstGeom prst="rect">
            <a:avLst/>
          </a:prstGeom>
          <a:ln/>
        </p:spPr>
      </p:pic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104900" y="1390650"/>
            <a:ext cx="942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思源黑体"/>
                <a:ea typeface="思源黑体"/>
              </a:rPr>
              <a:t>LangChain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3448050" y="1390650"/>
            <a:ext cx="428625" cy="219075"/>
          </a:xfrm>
          <a:prstGeom prst="roundRect">
            <a:avLst>
              <a:gd name="adj" fmla="val 34783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3543300" y="1428750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9F1C"/>
                </a:solidFill>
                <a:latin typeface="思源黑体"/>
                <a:ea typeface="思源黑体"/>
              </a:rPr>
              <a:t>推荐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81050" y="1704975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生态最全，起步首选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4257675" y="1200150"/>
            <a:ext cx="3514725" cy="23431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67225" y="1400175"/>
            <a:ext cx="209550" cy="209550"/>
          </a:xfrm>
          <a:prstGeom prst="rect">
            <a:avLst/>
          </a:prstGeom>
          <a:ln/>
        </p:spPr>
      </p:pic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791075" y="1390650"/>
            <a:ext cx="1000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LlamaIndex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467225" y="1704975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专注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RAG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索引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7943850" y="1200150"/>
            <a:ext cx="3514725" cy="23431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153400" y="1400175"/>
            <a:ext cx="209550" cy="209550"/>
          </a:xfrm>
          <a:prstGeom prst="rect">
            <a:avLst/>
          </a:prstGeom>
          <a:ln/>
        </p:spPr>
      </p:pic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477250" y="1390650"/>
            <a:ext cx="342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Dify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153400" y="1704975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可视化低代码编排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571500" y="3714750"/>
            <a:ext cx="3514725" cy="23431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81050" y="3914775"/>
            <a:ext cx="209550" cy="209550"/>
          </a:xfrm>
          <a:prstGeom prst="rect">
            <a:avLst/>
          </a:prstGeom>
          <a:ln/>
        </p:spPr>
      </p:pic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104900" y="3905250"/>
            <a:ext cx="771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AutoGen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81050" y="4219575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多智能体协作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4257675" y="3714750"/>
            <a:ext cx="3514725" cy="23431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467225" y="3914775"/>
            <a:ext cx="209550" cy="209550"/>
          </a:xfrm>
          <a:prstGeom prst="rect">
            <a:avLst/>
          </a:prstGeom>
          <a:ln/>
        </p:spPr>
      </p:pic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4791075" y="3905250"/>
            <a:ext cx="1419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Semantic Kernel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4467225" y="4219575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微软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.NET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生态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7943850" y="3714750"/>
            <a:ext cx="3514725" cy="23431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153400" y="3914775"/>
            <a:ext cx="209550" cy="209550"/>
          </a:xfrm>
          <a:prstGeom prst="rect">
            <a:avLst/>
          </a:prstGeom>
          <a:ln/>
        </p:spPr>
      </p:pic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477250" y="3905250"/>
            <a:ext cx="809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6263F"/>
                </a:solidFill>
                <a:latin typeface="思源黑体"/>
                <a:ea typeface="思源黑体"/>
              </a:rPr>
              <a:t>Spring AI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153400" y="4219575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Java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生态接入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571500" y="6229350"/>
            <a:ext cx="11049000" cy="438150"/>
          </a:xfrm>
          <a:prstGeom prst="roundRect">
            <a:avLst>
              <a:gd name="adj" fmla="val 21739"/>
            </a:avLst>
          </a:prstGeom>
          <a:solidFill>
            <a:srgbClr val="DCE7F5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62000" y="6362700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选型原则：别贪多，先吃透</a:t>
            </a:r>
            <a:r>
              <a:rPr lang="en-US" sz="1125" b="1">
                <a:solidFill>
                  <a:srgbClr val="16263F"/>
                </a:solidFill>
                <a:latin typeface="思源黑体"/>
                <a:ea typeface="思源黑体"/>
              </a:rPr>
              <a:t> LangChain </a:t>
            </a: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一个，再按场景补齐</a:t>
            </a:r>
            <a:r>
              <a:rPr lang="en-US" sz="1125" b="1">
                <a:solidFill>
                  <a:srgbClr val="16263F"/>
                </a:solidFill>
                <a:latin typeface="思源黑体"/>
                <a:ea typeface="思源黑体"/>
              </a:rPr>
              <a:t> RAG </a:t>
            </a:r>
            <a:r>
              <a:rPr lang="zh-CN" sz="1125" b="1">
                <a:solidFill>
                  <a:srgbClr val="16263F"/>
                </a:solidFill>
                <a:latin typeface="思源黑体"/>
                <a:ea typeface="思源黑体"/>
              </a:rPr>
              <a:t>或多智能体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98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API PLATFORMS&lt;/Text&gt;&#10;    &lt;Text style={{ fontSize: 34, color: '#16263F', fontWeight: 'bold', marginBottom: 14 }}&gt;API 平台：一行 Key 接入&lt;/Text&gt;&#10;    &lt;Box style={{ width: 56, height: 4, background: '#22D3EE', marginBottom: 22 }} /&gt;&#10;&#10;    &lt;Box style={{ flexDirection: 'row', gap: 26, flex: 1 }}&gt;&#10;      &lt;Box style={{ flex: 5, flexDirection: 'column', gap: 14 }}&gt;&#10;        {[&#10;          { t: 'OpenAI', d: 'GPT-5 系列，生态最成熟', icon: 'bolt' },&#10;          { t: '腾讯混元', d: '国产大厂 · 企业级稳定', icon: 'cloud' },&#10;          { t: '百度文心', d: '中文场景积累深', icon: 'feather' },&#10;          { t: '硅基流动', d: '开源模型托管 · 聚合接入', icon: 'stream' },&#10;        ].map((item, idx) =&gt; (&#10;          &lt;Box key={idx} style={{ flex: 1, background: '#FFFFFF', borderRadius: 12, padding: '16px 22px', boxShadow: '0 2px 12px rgba(22,38,63,0.06)', flexDirection: 'row', alignItems: 'center', gap: 16 }}&gt;&#10;            &lt;Box style={{ width: 40, height: 40, borderRadius: 10, background: '#EAF2FB', justifyContent: 'center', alignItems: 'center' }}&gt;&#10;              &lt;FAIcon name={item.icon} style={{ fill: '#22D3EE', width: 20, height: 20 }} /&gt;&#10;            &lt;/Box&gt;&#10;            &lt;Box style={{ flex: 1 }}&gt;&#10;              &lt;Text style={{ fontSize: 17, fontWeight: 'bold', color: '#16263F' }}&gt;{item.t}&lt;/Text&gt;&#10;              &lt;Text style={{ fontSize: 13, color: '#5B6B7A' }}&gt;{item.d}&lt;/Text&gt;&#10;            &lt;/Box&gt;&#10;          &lt;/Box&gt;&#10;        ))}&#10;      &lt;/Box&gt;&#10;&#10;      &lt;Box style={{ flex: 4, background: '#16263F', borderRadius: 14, padding: '28px 28px', justifyContent: 'center' }}&gt;&#10;        &lt;Box style={{ flexDirection: 'row', alignItems: 'center', gap: 12, marginBottom: 16 }}&gt;&#10;          &lt;FAIcon name='dollar' style={{ fill: '#FF9F1C', width: 26, height: 26 }} /&gt;&#10;          &lt;Text style={{ fontSize: 19, fontWeight: 'bold', color: '#FFFFFF' }}&gt;DeepSeek 官方 API&lt;/Text&gt;&#10;        &lt;/Box&gt;&#10;        &lt;Text style={{ fontSize: 56, color: '#FF9F1C', fontWeight: 'bold', lineHeight: 1 }}&gt;$0.14&lt;/Text&gt;&#10;        &lt;Text style={{ fontSize: 15, color: '#DCE7F5', marginTop: 8, marginBottom: 18 }}&gt;每百万 input token&lt;/Text&gt;&#10;        &lt;Text style={{ fontSize: 15, color: '#DCE7F5', lineHeight: 1.8 }}&gt;&#10;          成本低到可当「水电」用——一行 API Key 就能开始调用，&lt;span style={{ color: '#22D3EE', fontWeight: 'bold' }}&gt;本地与云双轨可行&lt;/span&gt;。&#10;        &lt;/Text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1 讲&lt;/Text&gt;&#10;    &lt;Text style={{ fontSize: 14, color: '#5B6B7A' }}&gt;09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API PLATFORMS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API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平台：一行</a:t>
            </a:r>
            <a:r>
              <a:rPr lang="en-US" sz="2550" b="1">
                <a:solidFill>
                  <a:srgbClr val="16263F"/>
                </a:solidFill>
                <a:latin typeface="思源黑体"/>
                <a:ea typeface="思源黑体"/>
              </a:rPr>
              <a:t> Key </a:t>
            </a: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接入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571500" y="1200150"/>
            <a:ext cx="6000750" cy="1266825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781050" y="164782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743075"/>
            <a:ext cx="190500" cy="190500"/>
          </a:xfrm>
          <a:prstGeom prst="rect">
            <a:avLst/>
          </a:prstGeom>
          <a:ln/>
        </p:spPr>
      </p:pic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1314450" y="1657350"/>
            <a:ext cx="504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6263F"/>
                </a:solidFill>
                <a:latin typeface="思源黑体"/>
                <a:ea typeface="思源黑体"/>
              </a:rPr>
              <a:t>OpenAI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314450" y="1857375"/>
            <a:ext cx="504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GPT-5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系列，生态最成熟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571500" y="2600325"/>
            <a:ext cx="6000750" cy="1266825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781050" y="30480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76300" y="3143250"/>
            <a:ext cx="190500" cy="190500"/>
          </a:xfrm>
          <a:prstGeom prst="rect">
            <a:avLst/>
          </a:prstGeom>
          <a:ln/>
        </p:spPr>
      </p:pic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314450" y="3057525"/>
            <a:ext cx="504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腾讯混元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314450" y="3257550"/>
            <a:ext cx="504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国产大厂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企业级稳定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571500" y="4000500"/>
            <a:ext cx="6000750" cy="1266825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781050" y="444817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76300" y="4543425"/>
            <a:ext cx="190500" cy="190500"/>
          </a:xfrm>
          <a:prstGeom prst="rect">
            <a:avLst/>
          </a:prstGeom>
          <a:ln/>
        </p:spPr>
      </p:pic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314450" y="4457700"/>
            <a:ext cx="504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百度文心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314450" y="4657725"/>
            <a:ext cx="504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中文场景积累深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571500" y="5400675"/>
            <a:ext cx="6000750" cy="1266825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781050" y="58483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76300" y="5943600"/>
            <a:ext cx="190500" cy="190500"/>
          </a:xfrm>
          <a:prstGeom prst="rect">
            <a:avLst/>
          </a:prstGeom>
          <a:ln/>
        </p:spPr>
      </p:pic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314450" y="5857875"/>
            <a:ext cx="504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263F"/>
                </a:solidFill>
                <a:latin typeface="思源黑体"/>
                <a:ea typeface="思源黑体"/>
              </a:rPr>
              <a:t>硅基流动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314450" y="6057900"/>
            <a:ext cx="504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开源模型托管</a:t>
            </a:r>
            <a:r>
              <a:rPr lang="en-US" sz="975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5B6B7A"/>
                </a:solidFill>
                <a:latin typeface="思源黑体"/>
                <a:ea typeface="思源黑体"/>
              </a:rPr>
              <a:t>聚合接入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6819900" y="1200150"/>
            <a:ext cx="4800600" cy="5467350"/>
          </a:xfrm>
          <a:prstGeom prst="roundRect">
            <a:avLst>
              <a:gd name="adj" fmla="val 2778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3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086600" y="2895600"/>
            <a:ext cx="247650" cy="247650"/>
          </a:xfrm>
          <a:prstGeom prst="rect">
            <a:avLst/>
          </a:prstGeom>
          <a:ln/>
        </p:spPr>
      </p:pic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448550" y="2914650"/>
            <a:ext cx="1638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思源黑体"/>
                <a:ea typeface="思源黑体"/>
              </a:rPr>
              <a:t>DeepSeek </a:t>
            </a:r>
            <a:r>
              <a:rPr lang="zh-CN" sz="1425" b="1">
                <a:solidFill>
                  <a:srgbClr val="FFFFFF"/>
                </a:solidFill>
                <a:latin typeface="思源黑体"/>
                <a:ea typeface="思源黑体"/>
              </a:rPr>
              <a:t>官方</a:t>
            </a:r>
            <a:r>
              <a:rPr lang="en-US" sz="1425" b="1">
                <a:solidFill>
                  <a:srgbClr val="FFFFFF"/>
                </a:solidFill>
                <a:latin typeface="思源黑体"/>
                <a:ea typeface="思源黑体"/>
              </a:rPr>
              <a:t> API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7086600" y="3295650"/>
            <a:ext cx="42672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9F1C"/>
                </a:solidFill>
                <a:latin typeface="思源黑体"/>
                <a:ea typeface="思源黑体"/>
              </a:rPr>
              <a:t>$0.14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7086600" y="4019550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每百万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input token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7086600" y="4362450"/>
            <a:ext cx="42672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成本低到可当「水电」用——一行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API Key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就能开始调用，</a:t>
            </a:r>
            <a:r>
              <a:rPr lang="zh-CN" sz="1125" b="1">
                <a:solidFill>
                  <a:srgbClr val="22D3EE"/>
                </a:solidFill>
                <a:latin typeface="思源黑体"/>
                <a:ea typeface="思源黑体"/>
              </a:rPr>
              <a:t>本地与云双轨可行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" name="" descr="&lt;Slide&#10;  style={{&#10;    width: '1280px', height: '720px',&#10;    background: '#F5F7FA',&#10;    padding: '20px 60px',&#10;    fontFamily: '&quot;思源黑体&quot;, sans-serif',&#10;  }}&#10;&gt;&#10;  &lt;Box style={{ width: '100%', height: '100%' }}&gt;&#10;    &lt;Text style={{ fontSize: 14, color: '#FF9F1C', fontWeight: 'bold', letterSpacing: 2, marginBottom: 8 }}&gt;WEEKLY ACTION&lt;/Text&gt;&#10;    &lt;Text style={{ fontSize: 34, color: '#16263F', fontWeight: 'bold', marginBottom: 14 }}&gt;本周行动：跑通一次模型对话&lt;/Text&gt;&#10;    &lt;Box style={{ width: 56, height: 4, background: '#22D3EE', marginBottom: 22 }} /&gt;&#10;&#10;    &lt;Box style={{ flexDirection: 'row', gap: 26, flex: 1 }}&gt;&#10;      &lt;Box style={{ flex: 5, flexDirection: 'column', gap: 16 }}&gt;&#10;        {[&#10;          { n: '①', t: '注册拿 Key', d: '任选一个平台（推荐 DeepSeek），注册并生成 API Key', icon: 'key' },&#10;          { n: '②', t: '写第一段对话', d: '用官方 Playground 或网页，向模型发出第一个问题', icon: 'comment' },&#10;          { n: '③', t: '调通 API', d: '写几行 Python，用 Key 调一次模型，看到返回即通关', icon: 'code' },&#10;        ].map((item, idx) =&gt; (&#10;          &lt;Box key={idx} style={{ flex: 1, background: '#FFFFFF', borderRadius: 14, padding: '20px 24px', boxShadow: '0 2px 12px rgba(22,38,63,0.06)', flexDirection: 'row', alignItems: 'center', gap: 18 }}&gt;&#10;            &lt;Text style={{ fontSize: 26, color: '#FF9F1C', fontWeight: 'bold' }}&gt;{item.n}&lt;/Text&gt;&#10;            &lt;Box style={{ width: 44, height: 44, borderRadius: 12, background: '#EAF2FB', justifyContent: 'center', alignItems: 'center' }}&gt;&#10;              &lt;FAIcon name={item.icon} style={{ fill: '#22D3EE', width: 22, height: 22 }} /&gt;&#10;            &lt;/Box&gt;&#10;            &lt;Box style={{ flex: 1 }}&gt;&#10;              &lt;Text style={{ fontSize: 18, fontWeight: 'bold', color: '#16263F', marginBottom: 4 }}&gt;{item.t}&lt;/Text&gt;&#10;              &lt;Text style={{ fontSize: 14, color: '#5B6B7A' }}&gt;{item.d}&lt;/Text&gt;&#10;            &lt;/Box&gt;&#10;          &lt;/Box&gt;&#10;        ))}&#10;      &lt;/Box&gt;&#10;&#10;      &lt;Box style={{ flex: 4, background: '#16263F', borderRadius: 14, padding: '26px 28px', justifyContent: 'center' }}&gt;&#10;        &lt;Box style={{ flexDirection: 'row', alignItems: 'center', gap: 12, marginBottom: 18 }}&gt;&#10;          &lt;FAIcon name='clipboard-check' style={{ fill: '#FF9F1C', width: 24, height: 24 }} /&gt;&#10;          &lt;Text style={{ fontSize: 19, fontWeight: 'bold', color: '#FFFFFF' }}&gt;自测 3 题&lt;/Text&gt;&#10;        &lt;/Box&gt;&#10;        {[&#10;          'LLM 的参数量一定越大越好吗？为什么？',&#10;          '「中文 Token 税」是什么意思，能省吗？',&#10;          'Embedding 和 RAG 是什么关系？',&#10;        ].map((q, idx) =&gt; (&#10;          &lt;Box key={idx} style={{ flexDirection: 'row', alignItems: 'flex-start', gap: 12, marginBottom: 14 }}&gt;&#10;            &lt;Text style={{ fontSize: 14, color: '#22D3EE', fontWeight: 'bold' }}&gt;0{idx + 1}&lt;/Text&gt;&#10;            &lt;Text style={{ fontSize: 15, color: '#DCE7F5', lineHeight: 1.7 }}&gt;{q}&lt;/Text&gt;&#10;          &lt;/Box&gt;&#10;        ))}&#10;        &lt;Box style={{ marginTop: 8, background: 'rgba(255,159,28,0.12)', borderRadius: 8, padding: '12px 16px' }}&gt;&#10;          &lt;Text style={{ fontSize: 14, color: '#FF9F1C', fontWeight: 'bold' }}&gt;&#10;            答不上来？回到对应页面再看一遍&#10;          &lt;/Text&gt;&#10;        &lt;/Box&gt;&#10;      &lt;/Box&gt;&#10;    &lt;/Box&gt;&#10;  &lt;/Box&gt;&#10;  &lt;Box style={{ position: 'absolute', bottom: 14, left: 60, right: 60, flexDirection: 'row', justifyContent: 'space-between' }}&gt;&#10;    &lt;Text style={{ fontSize: 14, color: '#5B6B7A' }}&gt;AI 从零开始 · 第 1 讲&lt;/Text&gt;&#10;    &lt;Text style={{ fontSize: 14, color: '#5B6B7A' }}&gt;10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190500"/>
            <a:ext cx="1104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FF9F1C"/>
                </a:solidFill>
                <a:latin typeface="思源黑体"/>
                <a:ea typeface="思源黑体"/>
              </a:rPr>
              <a:t>WEEKLY ACTION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428625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63F"/>
                </a:solidFill>
                <a:latin typeface="思源黑体"/>
                <a:ea typeface="思源黑体"/>
              </a:rPr>
              <a:t>本周行动：跑通一次模型对话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71500" y="952500"/>
            <a:ext cx="53340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571500" y="1200150"/>
            <a:ext cx="6000750" cy="1724025"/>
          </a:xfrm>
          <a:prstGeom prst="roundRect">
            <a:avLst>
              <a:gd name="adj" fmla="val 773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00100" y="191452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FF9F1C"/>
                </a:solidFill>
                <a:latin typeface="思源黑体"/>
                <a:ea typeface="思源黑体"/>
              </a:rPr>
              <a:t>①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1219200" y="18573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323975" y="1962150"/>
            <a:ext cx="209550" cy="209550"/>
          </a:xfrm>
          <a:prstGeom prst="rect">
            <a:avLst/>
          </a:prstGeom>
          <a:ln/>
        </p:spPr>
      </p:pic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809750" y="1857375"/>
            <a:ext cx="453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注册拿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Key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809750" y="210502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任选一个平台（推荐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DeepSeek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），注册并生成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API Key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71500" y="3076575"/>
            <a:ext cx="600075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00100" y="378142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FF9F1C"/>
                </a:solidFill>
                <a:latin typeface="思源黑体"/>
                <a:ea typeface="思源黑体"/>
              </a:rPr>
              <a:t>②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219200" y="37242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323975" y="3829050"/>
            <a:ext cx="209550" cy="209550"/>
          </a:xfrm>
          <a:prstGeom prst="rect">
            <a:avLst/>
          </a:prstGeom>
          <a:ln/>
        </p:spPr>
      </p:pic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809750" y="3733800"/>
            <a:ext cx="453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写第一段对话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809750" y="3981450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用官方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Playground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或网页，向模型发出第一个问题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571500" y="4943475"/>
            <a:ext cx="6000750" cy="1724025"/>
          </a:xfrm>
          <a:prstGeom prst="roundRect">
            <a:avLst>
              <a:gd name="adj" fmla="val 773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16263F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00100" y="5657850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FF9F1C"/>
                </a:solidFill>
                <a:latin typeface="思源黑体"/>
                <a:ea typeface="思源黑体"/>
              </a:rPr>
              <a:t>③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1219200" y="56007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2FB"/>
          </a:solidFill>
          <a:ln/>
        </p:spPr>
        <p:txBody>
          <a:bodyPr/>
          <a:p/>
        </p:txBody>
      </p:sp>
      <p:pic>
        <p:nvPicPr>
          <p:cNvPr id="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323975" y="5705475"/>
            <a:ext cx="209550" cy="209550"/>
          </a:xfrm>
          <a:prstGeom prst="rect">
            <a:avLst/>
          </a:prstGeom>
          <a:ln/>
        </p:spPr>
      </p:pic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809750" y="5600700"/>
            <a:ext cx="453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6263F"/>
                </a:solidFill>
                <a:latin typeface="思源黑体"/>
                <a:ea typeface="思源黑体"/>
              </a:rPr>
              <a:t>调通</a:t>
            </a:r>
            <a:r>
              <a:rPr lang="en-US" sz="1350" b="1">
                <a:solidFill>
                  <a:srgbClr val="16263F"/>
                </a:solidFill>
                <a:latin typeface="思源黑体"/>
                <a:ea typeface="思源黑体"/>
              </a:rPr>
              <a:t> API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809750" y="5848350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写几行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Python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，用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Key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调一次模型，看到返回即通关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819900" y="1200150"/>
            <a:ext cx="4800600" cy="5467350"/>
          </a:xfrm>
          <a:prstGeom prst="roundRect">
            <a:avLst>
              <a:gd name="adj" fmla="val 2778"/>
            </a:avLst>
          </a:prstGeom>
          <a:solidFill>
            <a:srgbClr val="16263F"/>
          </a:solidFill>
          <a:ln/>
        </p:spPr>
        <p:txBody>
          <a:bodyPr/>
          <a:p/>
        </p:txBody>
      </p:sp>
      <p:pic>
        <p:nvPicPr>
          <p:cNvPr id="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086600" y="2857500"/>
            <a:ext cx="228600" cy="228600"/>
          </a:xfrm>
          <a:prstGeom prst="rect">
            <a:avLst/>
          </a:prstGeom>
          <a:ln/>
        </p:spPr>
      </p:pic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429500" y="2867025"/>
            <a:ext cx="762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思源黑体"/>
                <a:ea typeface="思源黑体"/>
              </a:rPr>
              <a:t>自测</a:t>
            </a:r>
            <a:r>
              <a:rPr lang="en-US" sz="1425" b="1">
                <a:solidFill>
                  <a:srgbClr val="FFFFFF"/>
                </a:solidFill>
                <a:latin typeface="思源黑体"/>
                <a:ea typeface="思源黑体"/>
              </a:rPr>
              <a:t> 3 </a:t>
            </a:r>
            <a:r>
              <a:rPr lang="zh-CN" sz="1425" b="1">
                <a:solidFill>
                  <a:srgbClr val="FFFFFF"/>
                </a:solidFill>
                <a:latin typeface="思源黑体"/>
                <a:ea typeface="思源黑体"/>
              </a:rPr>
              <a:t>题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086600" y="325755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0</a:t>
            </a: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1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353300" y="3257550"/>
            <a:ext cx="2657475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LLM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的参数量一定越大越好吗？为什么？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086600" y="3686175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0</a:t>
            </a: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2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353300" y="3686175"/>
            <a:ext cx="264795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「中文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Token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税」是什么意思，能省吗？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086600" y="411480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0</a:t>
            </a:r>
            <a:r>
              <a:rPr lang="en-US" sz="1050" b="1">
                <a:solidFill>
                  <a:srgbClr val="22D3EE"/>
                </a:solidFill>
                <a:latin typeface="思源黑体"/>
                <a:ea typeface="思源黑体"/>
              </a:rPr>
              <a:t>3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353300" y="4114800"/>
            <a:ext cx="21717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Embedding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和</a:t>
            </a:r>
            <a:r>
              <a:rPr lang="en-US" sz="1125">
                <a:solidFill>
                  <a:srgbClr val="DCE7F5"/>
                </a:solidFill>
                <a:latin typeface="思源黑体"/>
                <a:ea typeface="思源黑体"/>
              </a:rPr>
              <a:t> RAG </a:t>
            </a: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是什么关系？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086600" y="4619625"/>
            <a:ext cx="4267200" cy="390525"/>
          </a:xfrm>
          <a:prstGeom prst="roundRect">
            <a:avLst>
              <a:gd name="adj" fmla="val 19512"/>
            </a:avLst>
          </a:prstGeom>
          <a:solidFill>
            <a:srgbClr val="FF9F1C">
              <a:alpha val="12000"/>
            </a:srgbClr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239000" y="4733925"/>
            <a:ext cx="396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9F1C"/>
                </a:solidFill>
                <a:latin typeface="思源黑体"/>
                <a:ea typeface="思源黑体"/>
              </a:rPr>
              <a:t>答不上来？回到对应页面再看一遍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 1 </a:t>
            </a:r>
            <a:r>
              <a:rPr lang="zh-CN" sz="1050">
                <a:solidFill>
                  <a:srgbClr val="5B6B7A"/>
                </a:solidFill>
                <a:latin typeface="思源黑体"/>
                <a:ea typeface="思源黑体"/>
              </a:rPr>
              <a:t>讲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1220450" y="6562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B6B7A"/>
                </a:solidFill>
                <a:latin typeface="思源黑体"/>
                <a:ea typeface="思源黑体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48" name="" descr="&lt;Slide&#10;  style={{&#10;    width: '1280px', height: '720px',&#10;    background: 'linear-gradient(135deg, #16263F 0%, #1E3A5F 100%)',&#10;    padding: '20px 60px',&#10;    fontFamily: '&quot;思源黑体&quot;, sans-serif',&#10;  }}&#10;&gt;&#10;  &lt;Box style={{ width: '100%', height: '100%', flexDirection: 'row', gap: 36, alignItems: 'center' }}&gt;&#10;    &lt;Box style={{ flex: 5 }}&gt;&#10;      &lt;Box style={{ flexDirection: 'row', alignItems: 'center', gap: 12, marginBottom: 14 }}&gt;&#10;        &lt;Text style={{ fontSize: 14, color: '#22D3EE', fontWeight: 'bold', letterSpacing: 3 }}&gt;OPTIONAL · 选学&lt;/Text&gt;&#10;        &lt;Box style={{ background: 'rgba(255,159,28,0.15)', borderRadius: 8, padding: '5px 12px' }}&gt;&#10;          &lt;Text style={{ fontSize: 12, color: '#FF9F1C', fontWeight: 'bold' }}&gt;可跳过&lt;/Text&gt;&#10;        &lt;/Box&gt;&#10;      &lt;/Box&gt;&#10;      &lt;Text style={{ fontSize: 40, color: '#FFFFFF', fontWeight: 'bold', lineHeight: 1.3, marginBottom: 14 }}&gt;Q / K / V 到底在算什么&lt;/Text&gt;&#10;      &lt;Box style={{ width: 56, height: 4, background: '#FF9F1C', marginBottom: 24 }} /&gt;&#10;&#10;      {[&#10;        { k: 'Q', c: '#22D3EE', d: '查询：当前词想问「整句话里，谁和我相关？」' },&#10;        { k: 'K', c: '#FF9F1C', d: '键：每个词回答「我是什么，能被谁匹配」' },&#10;        { k: 'V', c: '#DCE7F5', d: '值：每个词携带「我真正要传递的内容」' },&#10;      ].map((item, idx) =&gt; (&#10;        &lt;Box key={idx} style={{ flexDirection: 'row', alignItems: 'flex-start', gap: 14, marginBottom: 16 }}&gt;&#10;          &lt;Box style={{ width: 44, height: 44, borderRadius: 10, background: 'rgba(255,255,255,0.1)', justifyContent: 'center', alignItems: 'center' }}&gt;&#10;            &lt;Text style={{ fontSize: 20, fontWeight: 'bold', color: item.c }}&gt;{item.k}&lt;/Text&gt;&#10;          &lt;/Box&gt;&#10;          &lt;Text style={{ fontSize: 15, color: '#DCE7F5', lineHeight: 1.7, flex: 1 }}&gt;{item.d}&lt;/Text&gt;&#10;        &lt;/Box&gt;&#10;      ))}&#10;    &lt;/Box&gt;&#10;&#10;    &lt;Box style={{ flex: 5 }}&gt;&#10;      &lt;Text style={{ fontSize: 15, color: '#8FA4B8', marginBottom: 12 }}&gt;一句话版本：注意力 = 加权求和&lt;/Text&gt;&#10;      &lt;CodeBlock&#10;        code={`# Q 问路，K 指路，V 给内容&#10;scores = Q @ K.T / sqrt(d_k)   # 相关性打分&#10;weights = softmax(scores)      # 归一化成权重&#10;output = weights @ V           # 按权重取 V`}&#10;        language='python'&#10;        width={520}&#10;        fontSize={14}&#10;      /&gt;&#10;      &lt;Box style={{ marginTop: 20, background: 'rgba(255,255,255,0.06)', border: '1px solid rgba(220,231,245,0.15)', borderRadius: 12, padding: '16px 20px' }}&gt;&#10;        &lt;Text style={{ fontSize: 14, color: '#DCE7F5', lineHeight: 1.8 }}&gt;&#10;          把每个词的「重要程度」量化成权重，再决定输出里&lt;span style={{ color: '#22D3EE', fontWeight: 'bold' }}&gt;哪些信息该被放大、哪些该被忽略&lt;/span&gt;——这就是注意力。&#10;        &lt;/Text&gt;&#10;      &lt;/Box&gt;&#10;    &lt;/Box&gt;&#10;  &lt;/Box&gt;&#10;  &lt;Box style={{ position: 'absolute', bottom: 14, left: 60, right: 60, flexDirection: 'row', justifyContent: 'space-between' }}&gt;&#10;    &lt;Text style={{ fontSize: 14, color: '#8FA4B8' }}&gt;AI 从零开始 · 第 1 讲 · 选学页&lt;/Text&gt;&#10;    &lt;Text style={{ fontSize: 14, color: '#8FA4B8' }}&gt;11 / 11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263F"/>
              </a:gs>
              <a:gs pos="100000">
                <a:srgbClr val="1E3A5F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71500" y="192405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225">
                <a:solidFill>
                  <a:srgbClr val="22D3EE"/>
                </a:solidFill>
                <a:latin typeface="思源黑体"/>
                <a:ea typeface="思源黑体"/>
              </a:rPr>
              <a:t>OPTIONAL · </a:t>
            </a:r>
            <a:r>
              <a:rPr lang="zh-CN" sz="1050" b="1" spc="225">
                <a:solidFill>
                  <a:srgbClr val="22D3EE"/>
                </a:solidFill>
                <a:latin typeface="思源黑体"/>
                <a:ea typeface="思源黑体"/>
              </a:rPr>
              <a:t>选学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2133600" y="1885950"/>
            <a:ext cx="581025" cy="238125"/>
          </a:xfrm>
          <a:prstGeom prst="roundRect">
            <a:avLst>
              <a:gd name="adj" fmla="val 32000"/>
            </a:avLst>
          </a:prstGeom>
          <a:solidFill>
            <a:srgbClr val="FF9F1C">
              <a:alpha val="15000"/>
            </a:srgbClr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2247900" y="1933575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9F1C"/>
                </a:solidFill>
                <a:latin typeface="思源黑体"/>
                <a:ea typeface="思源黑体"/>
              </a:rPr>
              <a:t>可跳过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71500" y="2257425"/>
            <a:ext cx="5353050" cy="600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3000" b="1">
                <a:solidFill>
                  <a:srgbClr val="FFFFFF"/>
                </a:solidFill>
                <a:latin typeface="思源黑体"/>
                <a:ea typeface="思源黑体"/>
              </a:rPr>
              <a:t>Q / K / V </a:t>
            </a:r>
            <a:r>
              <a:rPr lang="zh-CN" sz="3000" b="1">
                <a:solidFill>
                  <a:srgbClr val="FFFFFF"/>
                </a:solidFill>
                <a:latin typeface="思源黑体"/>
                <a:ea typeface="思源黑体"/>
              </a:rPr>
              <a:t>到底在算什么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571500" y="2990850"/>
            <a:ext cx="533400" cy="3810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571500" y="32575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04850" y="3352800"/>
            <a:ext cx="15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2D3EE"/>
                </a:solidFill>
                <a:latin typeface="思源黑体"/>
                <a:ea typeface="思源黑体"/>
              </a:rPr>
              <a:t>Q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23950" y="3257550"/>
            <a:ext cx="48006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查询：当前词想问「整句话里，谁和我相关？」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71500" y="38290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14375" y="3924300"/>
            <a:ext cx="142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9F1C"/>
                </a:solidFill>
                <a:latin typeface="思源黑体"/>
                <a:ea typeface="思源黑体"/>
              </a:rPr>
              <a:t>K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123950" y="3829050"/>
            <a:ext cx="48006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键：每个词回答「我是什么，能被谁匹配」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571500" y="44005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14375" y="449580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CE7F5"/>
                </a:solidFill>
                <a:latin typeface="思源黑体"/>
                <a:ea typeface="思源黑体"/>
              </a:rPr>
              <a:t>V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123950" y="4400550"/>
            <a:ext cx="48006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DCE7F5"/>
                </a:solidFill>
                <a:latin typeface="思源黑体"/>
                <a:ea typeface="思源黑体"/>
              </a:rPr>
              <a:t>值：每个词携带「我真正要传递的内容」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267450" y="2162175"/>
            <a:ext cx="5353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一句话版本：注意力</a:t>
            </a:r>
            <a:r>
              <a:rPr lang="en-US" sz="1125">
                <a:solidFill>
                  <a:srgbClr val="8FA4B8"/>
                </a:solidFill>
                <a:latin typeface="思源黑体"/>
                <a:ea typeface="思源黑体"/>
              </a:rPr>
              <a:t> = </a:t>
            </a:r>
            <a:r>
              <a:rPr lang="zh-CN" sz="1125">
                <a:solidFill>
                  <a:srgbClr val="8FA4B8"/>
                </a:solidFill>
                <a:latin typeface="思源黑体"/>
                <a:ea typeface="思源黑体"/>
              </a:rPr>
              <a:t>加权求和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267450" y="3810000"/>
            <a:ext cx="5353050" cy="885825"/>
          </a:xfrm>
          <a:prstGeom prst="roundRect">
            <a:avLst>
              <a:gd name="adj" fmla="val 1290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CE7F5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457950" y="3962400"/>
            <a:ext cx="49720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把每个词的「重要程度」量化成权重，再决定输出里</a:t>
            </a:r>
            <a:r>
              <a:rPr lang="zh-CN" sz="1050" b="1">
                <a:solidFill>
                  <a:srgbClr val="22D3EE"/>
                </a:solidFill>
                <a:latin typeface="思源黑体"/>
                <a:ea typeface="思源黑体"/>
              </a:rPr>
              <a:t>哪些信息该被放大、哪些该被忽略</a:t>
            </a:r>
            <a:r>
              <a:rPr lang="zh-CN" sz="1050">
                <a:solidFill>
                  <a:srgbClr val="DCE7F5"/>
                </a:solidFill>
                <a:latin typeface="思源黑体"/>
                <a:ea typeface="思源黑体"/>
              </a:rPr>
              <a:t>——这就是注意力。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267450" y="2447925"/>
            <a:ext cx="5353050" cy="1171575"/>
          </a:xfrm>
          <a:prstGeom prst="roundRect">
            <a:avLst>
              <a:gd name="adj" fmla="val 6504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68" name=""/>
          <p:cNvSpPr txBox="1"/>
          <p:nvPr/>
        </p:nvSpPr>
        <p:spPr>
          <a:xfrm rot="0" flipH="0" flipV="0">
            <a:off x="6419850" y="2581275"/>
            <a:ext cx="50482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Q 问路，K 指路，V 给内容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scores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Q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@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K.T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/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sqrt(d_k)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相关性打分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weights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softmax(scores)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归一化成权重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output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weights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@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V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按权重取 V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71500" y="656272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AI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从零开始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第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1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讲</a:t>
            </a: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 · </a:t>
            </a:r>
            <a:r>
              <a:rPr lang="zh-CN" sz="1050">
                <a:solidFill>
                  <a:srgbClr val="8FA4B8"/>
                </a:solidFill>
                <a:latin typeface="思源黑体"/>
                <a:ea typeface="思源黑体"/>
              </a:rPr>
              <a:t>选学页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229975" y="6562725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FA4B8"/>
                </a:solidFill>
                <a:latin typeface="思源黑体"/>
                <a:ea typeface="思源黑体"/>
              </a:rPr>
              <a:t>11 / 11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2026-08-13T21:35:02Z</dcterms:created>
  <dcterms:modified xsi:type="dcterms:W3CDTF">2026-08-13T21:35:02Z</dcterms:modified>
</cp:coreProperties>
</file>