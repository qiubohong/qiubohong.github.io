
<file path=[Content_Types].xml><?xml version="1.0" encoding="utf-8"?>
<Types xmlns="http://schemas.openxmlformats.org/package/2006/content-types">
  <Default Extension="svg" ContentType="image/svg+xml"/>
  <Default Extension="xml" ContentType="application/xml"/>
  <Default Extension="rels" ContentType="application/vnd.openxmlformats-package.relationships+xml"/>
  <Override PartName="/ppt/theme/theme2.xml" ContentType="application/vnd.openxmlformats-officedocument.theme+xml"/>
  <Override PartName="/ppt/theme/theme1.xml" ContentType="application/vnd.openxmlformats-officedocument.them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8.xml" ContentType="application/vnd.openxmlformats-officedocument.presentationml.slide+xml"/>
  <Override PartName="/ppt/slides/slide13.xml" ContentType="application/vnd.openxmlformats-officedocument.presentationml.slide+xml"/>
  <Override PartName="/docProps/core.xml" ContentType="application/vnd.openxmlformats-package.core-properties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slides/slide12.xml" ContentType="application/vnd.openxmlformats-officedocument.presentationml.slide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docProps/app.xml" ContentType="application/vnd.openxmlformats-officedocument.extended-properties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package/2006/relationships/metadata/core-properties" Target="docProps/core.xml" /><Relationship Id="rId2" Type="http://schemas.openxmlformats.org/officeDocument/2006/relationships/extended-properties" Target="docProps/app.xml" /><Relationship Id="rId0" Type="http://schemas.openxmlformats.org/officeDocument/2006/relationships/officeDocument" Target="ppt/presentation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1">
  <p:sldMasterIdLst>
    <p:sldMasterId id="2147483648" r:id="rId0"/>
  </p:sldMasterIdLst>
  <p:notesMasterIdLst>
    <p:notesMasterId r:id="rId15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9" Type="http://schemas.openxmlformats.org/officeDocument/2006/relationships/slide" Target="slides/slide9.xml" /><Relationship Id="rId7" Type="http://schemas.openxmlformats.org/officeDocument/2006/relationships/slide" Target="slides/slide7.xml" /><Relationship Id="rId6" Type="http://schemas.openxmlformats.org/officeDocument/2006/relationships/slide" Target="slides/slide6.xml" /><Relationship Id="rId5" Type="http://schemas.openxmlformats.org/officeDocument/2006/relationships/slide" Target="slides/slide5.xml" /><Relationship Id="rId4" Type="http://schemas.openxmlformats.org/officeDocument/2006/relationships/slide" Target="slides/slide4.xml" /><Relationship Id="rId3" Type="http://schemas.openxmlformats.org/officeDocument/2006/relationships/slide" Target="slides/slide3.xml" /><Relationship Id="rId15" Type="http://schemas.openxmlformats.org/officeDocument/2006/relationships/notesMaster" Target="notesMasters/notesMaster1.xml" /><Relationship Id="rId18" Type="http://schemas.openxmlformats.org/officeDocument/2006/relationships/viewProps" Target="viewProps.xml" /><Relationship Id="rId8" Type="http://schemas.openxmlformats.org/officeDocument/2006/relationships/slide" Target="slides/slide8.xml" /><Relationship Id="rId2" Type="http://schemas.openxmlformats.org/officeDocument/2006/relationships/slide" Target="slides/slide2.xml" /><Relationship Id="rId12" Type="http://schemas.openxmlformats.org/officeDocument/2006/relationships/slide" Target="slides/slide12.xml" /><Relationship Id="rId13" Type="http://schemas.openxmlformats.org/officeDocument/2006/relationships/slide" Target="slides/slide13.xml" /><Relationship Id="rId14" Type="http://schemas.openxmlformats.org/officeDocument/2006/relationships/slide" Target="slides/slide14.xml" /><Relationship Id="rId11" Type="http://schemas.openxmlformats.org/officeDocument/2006/relationships/slide" Target="slides/slide11.xml" /><Relationship Id="rId17" Type="http://schemas.openxmlformats.org/officeDocument/2006/relationships/tableStyles" Target="tableStyles.xml" /><Relationship Id="rId1" Type="http://schemas.openxmlformats.org/officeDocument/2006/relationships/slide" Target="slides/slide1.xml" /><Relationship Id="rId16" Type="http://schemas.openxmlformats.org/officeDocument/2006/relationships/presProps" Target="presProps.xml" /><Relationship Id="rId10" Type="http://schemas.openxmlformats.org/officeDocument/2006/relationships/slide" Target="slides/slide10.xml" /><Relationship Id="rId0" Type="http://schemas.openxmlformats.org/officeDocument/2006/relationships/slideMaster" Target="slideMasters/slideMaster1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 /><Relationship Id="rId0" Type="http://schemas.openxmlformats.org/officeDocument/2006/relationships/slideLayout" Target="../slideLayouts/slideLayout1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2.xml.rels><?xml version="1.0" encoding="UTF-8" standalone="yes"?><Relationships xmlns="http://schemas.openxmlformats.org/package/2006/relationships"><Relationship Id="rId3" Type="http://schemas.openxmlformats.org/officeDocument/2006/relationships/image" Target="media/image7.svg" /><Relationship Id="rId4" Type="http://schemas.openxmlformats.org/officeDocument/2006/relationships/image" Target="media/image8.svg" /><Relationship Id="rId2" Type="http://schemas.openxmlformats.org/officeDocument/2006/relationships/image" Target="media/image6.svg" /><Relationship Id="rId1" Type="http://schemas.openxmlformats.org/officeDocument/2006/relationships/image" Target="media/image5.svg" /><Relationship Id="rId0" Type="http://schemas.openxmlformats.org/officeDocument/2006/relationships/slideLayout" Target="../slideLayouts/slideLayout1.xml" 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image" Target="media/image9.svg" /><Relationship Id="rId0" Type="http://schemas.openxmlformats.org/officeDocument/2006/relationships/slideLayout" Target="../slideLayouts/slideLayout1.xml" /></Relationships>
</file>

<file path=ppt/slides/_rels/slide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8.xml.rels><?xml version="1.0" encoding="UTF-8" standalone="yes"?><Relationships xmlns="http://schemas.openxmlformats.org/package/2006/relationships"><Relationship Id="rId2" Type="http://schemas.openxmlformats.org/officeDocument/2006/relationships/image" Target="media/image11.svg" /><Relationship Id="rId1" Type="http://schemas.openxmlformats.org/officeDocument/2006/relationships/image" Target="media/image10.svg" /><Relationship Id="rId0" Type="http://schemas.openxmlformats.org/officeDocument/2006/relationships/slideLayout" Target="../slideLayouts/slideLayout1.xml" 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image" Target="media/image9.svg" /><Relationship Id="rId0" Type="http://schemas.openxmlformats.org/officeDocument/2006/relationships/slideLayout" Target="../slideLayouts/slideLayout1.xml" /></Relationships>
</file>

<file path=ppt/slides/_rels/slide1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2.xml.rels><?xml version="1.0" encoding="UTF-8" standalone="yes"?><Relationships xmlns="http://schemas.openxmlformats.org/package/2006/relationships"><Relationship Id="rId3" Type="http://schemas.openxmlformats.org/officeDocument/2006/relationships/image" Target="media/image3.svg" /><Relationship Id="rId2" Type="http://schemas.openxmlformats.org/officeDocument/2006/relationships/image" Target="media/image2.svg" /><Relationship Id="rId1" Type="http://schemas.openxmlformats.org/officeDocument/2006/relationships/image" Target="media/image1.svg" /><Relationship Id="rId0" Type="http://schemas.openxmlformats.org/officeDocument/2006/relationships/slideLayout" Target="../slideLayouts/slideLayout1.xml" 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image" Target="media/image4.svg" /><Relationship Id="rId0" Type="http://schemas.openxmlformats.org/officeDocument/2006/relationships/slideLayout" Target="../slideLayouts/slideLayout1.xml" /></Relationships>
</file>

<file path=ppt/slides/_rels/slide1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p="http://schemas.openxmlformats.org/presentationml/2006/main">
  <p:cSld>
    <p:spTree>
      <p:nvGrpSpPr>
        <p:cNvPr id="1" name="" descr="&lt;Slide&#10;  style={{&#10;    width: '1280px', height: '720px',&#10;    background: 'linear-gradient(135deg, #16263F 0%, #1E3A5F 100%)',&#10;    position: 'relative', overflow: 'hidden',&#10;    fontFamily: '&quot;思源黑体&quot;, sans-serif',&#10;  }}&#10;&gt;&#10;  &lt;Box style={{ position: 'absolute', top: -80, right: -80, width: 340, height: 340, borderRadius: 170, background: 'rgba(34,211,238,0.12)', opacity: 0.8 }} /&gt;&#10;  &lt;Box style={{ position: 'absolute', bottom: -100, left: -60, width: 300, height: 300, borderRadius: 150, background: 'rgba(255,159,28,0.10)' }} /&gt;&#10;  &lt;Box style={{ position: 'absolute', top: 0, left: 0, width: '100%', height: 8, background: '#FF9F1C' }} /&gt;&#10;&#10;  &lt;Box style={{ position: 'relative', zIndex: 2, padding: '60px 80px', height: '100%', flexDirection: 'column', justifyContent: 'center' }}&gt;&#10;    &lt;Text style={{ fontSize: 16, color: '#22D3EE', letterSpacing: 4, marginBottom: 16 }}&gt;AI 从零开始 · 第 4 讲&lt;/Text&gt;&#10;    &lt;Text style={{ fontSize: 52, color: '#FFFFFF', fontWeight: 'bold', lineHeight: 1.25, marginBottom: 20 }}&gt;&#10;      LangChain 与&lt;br /&gt;工作流编排&#10;    &lt;/Text&gt;&#10;    &lt;Box style={{ width: 80, height: 4, background: '#FF9F1C', marginBottom: 28 }} /&gt;&#10;    &lt;Text style={{ fontSize: 22, color: '#DCE7F5', lineHeight: 1.6 }}&gt;&#10;      框架让 LLM 应用开发变简单：从手工拼接到搭积木&#10;    &lt;/Text&gt;&#10;    &lt;Text style={{ fontSize: 15, color: '#8FA4B8', marginTop: 36 }}&gt;&#10;      学完能写出「5 行跑通对话 → LCEL 链式编排 → LangServe 一键部署」的完整闭环&#10;    &lt;/Text&gt;&#10;    &lt;Text style={{ fontSize: 13, color: '#8FA4B8', marginTop: 'auto', paddingTop: 40 }}&gt;&#10;      Qborfy · 做一个有温度和有干货的技术分享作者&#10;    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6263F"/>
              </a:gs>
              <a:gs pos="100000">
                <a:srgbClr val="1E3A5F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3" name=""/>
          <p:cNvSpPr/>
          <p:nvPr/>
        </p:nvSpPr>
        <p:spPr>
          <a:xfrm rot="0" flipH="0" flipV="0">
            <a:off x="9715500" y="-762000"/>
            <a:ext cx="3238500" cy="3238500"/>
          </a:xfrm>
          <a:custGeom>
            <a:pathLst>
              <a:path w="340" h="340">
                <a:moveTo>
                  <a:pt x="260" y="314"/>
                </a:moveTo>
                <a:cubicBezTo>
                  <a:pt x="193" y="356"/>
                  <a:pt x="106" y="346"/>
                  <a:pt x="50" y="290"/>
                </a:cubicBezTo>
                <a:cubicBezTo>
                  <a:pt x="-6" y="234"/>
                  <a:pt x="-16" y="147"/>
                  <a:pt x="26" y="80"/>
                </a:cubicBezTo>
                <a:lnTo>
                  <a:pt x="260" y="80"/>
                </a:lnTo>
                <a:close/>
              </a:path>
            </a:pathLst>
          </a:custGeom>
          <a:solidFill>
            <a:srgbClr val="22D3EE">
              <a:alpha val="9600"/>
            </a:srgbClr>
          </a:solidFill>
          <a:ln/>
        </p:spPr>
        <p:txBody>
          <a:bodyPr/>
          <a:p/>
        </p:txBody>
      </p:sp>
      <p:sp>
        <p:nvSpPr>
          <p:cNvPr id="4" name=""/>
          <p:cNvSpPr/>
          <p:nvPr/>
        </p:nvSpPr>
        <p:spPr>
          <a:xfrm rot="0" flipH="0" flipV="0">
            <a:off x="-571500" y="4953000"/>
            <a:ext cx="2857500" cy="2857500"/>
          </a:xfrm>
          <a:custGeom>
            <a:pathLst>
              <a:path w="300" h="300">
                <a:moveTo>
                  <a:pt x="154" y="0"/>
                </a:moveTo>
                <a:cubicBezTo>
                  <a:pt x="202" y="1"/>
                  <a:pt x="246" y="25"/>
                  <a:pt x="274" y="65"/>
                </a:cubicBezTo>
                <a:cubicBezTo>
                  <a:pt x="301" y="105"/>
                  <a:pt x="307" y="155"/>
                  <a:pt x="291" y="200"/>
                </a:cubicBezTo>
                <a:lnTo>
                  <a:pt x="60" y="200"/>
                </a:lnTo>
                <a:lnTo>
                  <a:pt x="60" y="30"/>
                </a:lnTo>
                <a:cubicBezTo>
                  <a:pt x="86" y="10"/>
                  <a:pt x="118" y="0"/>
                  <a:pt x="150" y="0"/>
                </a:cubicBezTo>
                <a:close/>
              </a:path>
            </a:pathLst>
          </a:custGeom>
          <a:solidFill>
            <a:srgbClr val="FF9F1C">
              <a:alpha val="10000"/>
            </a:srgbClr>
          </a:solidFill>
          <a:ln/>
        </p:spPr>
        <p:txBody>
          <a:bodyPr/>
          <a:p/>
        </p:txBody>
      </p:sp>
      <p:sp>
        <p:nvSpPr>
          <p:cNvPr id="5" name=""/>
          <p:cNvSpPr/>
          <p:nvPr/>
        </p:nvSpPr>
        <p:spPr>
          <a:xfrm rot="0" flipH="0" flipV="0">
            <a:off x="0" y="0"/>
            <a:ext cx="12192000" cy="76200"/>
          </a:xfrm>
          <a:prstGeom prst="rect">
            <a:avLst/>
          </a:prstGeom>
          <a:solidFill>
            <a:srgbClr val="FF9F1C"/>
          </a:solidFill>
          <a:ln/>
        </p:spPr>
        <p:txBody>
          <a:bodyPr/>
          <a:p/>
        </p:txBody>
      </p:sp>
      <p:sp>
        <p:nvSpPr>
          <p:cNvPr id="6" name="" descr="{&quot;isTemplate&quot;:true,&quot;type&quot;:&quot;text&quot;}"/>
          <p:cNvSpPr txBox="1"/>
          <p:nvPr/>
        </p:nvSpPr>
        <p:spPr>
          <a:xfrm rot="0" flipH="0" flipV="0">
            <a:off x="762000" y="571500"/>
            <a:ext cx="10668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spc="300">
                <a:solidFill>
                  <a:srgbClr val="22D3EE"/>
                </a:solidFill>
                <a:latin typeface="思源黑体"/>
                <a:ea typeface="思源黑体"/>
              </a:rPr>
              <a:t>AI </a:t>
            </a:r>
            <a:r>
              <a:rPr lang="zh-CN" sz="1200" spc="300">
                <a:solidFill>
                  <a:srgbClr val="22D3EE"/>
                </a:solidFill>
                <a:latin typeface="思源黑体"/>
                <a:ea typeface="思源黑体"/>
              </a:rPr>
              <a:t>从零开始</a:t>
            </a:r>
            <a:r>
              <a:rPr lang="en-US" sz="1200" spc="300">
                <a:solidFill>
                  <a:srgbClr val="22D3EE"/>
                </a:solidFill>
                <a:latin typeface="思源黑体"/>
                <a:ea typeface="思源黑体"/>
              </a:rPr>
              <a:t> · </a:t>
            </a:r>
            <a:r>
              <a:rPr lang="zh-CN" sz="1200" spc="300">
                <a:solidFill>
                  <a:srgbClr val="22D3EE"/>
                </a:solidFill>
                <a:latin typeface="思源黑体"/>
                <a:ea typeface="思源黑体"/>
              </a:rPr>
              <a:t>第</a:t>
            </a:r>
            <a:r>
              <a:rPr lang="en-US" sz="1200" spc="300">
                <a:solidFill>
                  <a:srgbClr val="22D3EE"/>
                </a:solidFill>
                <a:latin typeface="思源黑体"/>
                <a:ea typeface="思源黑体"/>
              </a:rPr>
              <a:t> 4 </a:t>
            </a:r>
            <a:r>
              <a:rPr lang="zh-CN" sz="1200" spc="300">
                <a:solidFill>
                  <a:srgbClr val="22D3EE"/>
                </a:solidFill>
                <a:latin typeface="思源黑体"/>
                <a:ea typeface="思源黑体"/>
              </a:rPr>
              <a:t>讲</a:t>
            </a:r>
            <a:endParaRPr/>
          </a:p>
        </p:txBody>
      </p:sp>
      <p:sp>
        <p:nvSpPr>
          <p:cNvPr id="7" name="" descr="{&quot;isTemplate&quot;:true,&quot;type&quot;:&quot;text&quot;}"/>
          <p:cNvSpPr txBox="1"/>
          <p:nvPr/>
        </p:nvSpPr>
        <p:spPr>
          <a:xfrm rot="0" flipH="0" flipV="0">
            <a:off x="762000" y="914400"/>
            <a:ext cx="10668000" cy="1485900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en-US" sz="3900" b="1">
                <a:solidFill>
                  <a:srgbClr val="FFFFFF"/>
                </a:solidFill>
                <a:latin typeface="思源黑体"/>
                <a:ea typeface="思源黑体"/>
              </a:rPr>
              <a:t>LangChain </a:t>
            </a:r>
            <a:r>
              <a:rPr lang="zh-CN" sz="3900" b="1">
                <a:solidFill>
                  <a:srgbClr val="FFFFFF"/>
                </a:solidFill>
                <a:latin typeface="思源黑体"/>
                <a:ea typeface="思源黑体"/>
              </a:rPr>
              <a:t>与</a:t>
            </a:r>
            <a:endParaRPr/>
          </a:p>
          <a:p>
            <a:pPr>
              <a:lnSpc>
                <a:spcPct val="125000"/>
              </a:lnSpc>
            </a:pPr>
            <a:r>
              <a:rPr lang="zh-CN" sz="3900" b="1">
                <a:solidFill>
                  <a:srgbClr val="FFFFFF"/>
                </a:solidFill>
                <a:latin typeface="思源黑体"/>
                <a:ea typeface="思源黑体"/>
              </a:rPr>
              <a:t>工作流编排</a:t>
            </a:r>
            <a:endParaRPr/>
          </a:p>
        </p:txBody>
      </p:sp>
      <p:sp>
        <p:nvSpPr>
          <p:cNvPr id="8" name=""/>
          <p:cNvSpPr/>
          <p:nvPr/>
        </p:nvSpPr>
        <p:spPr>
          <a:xfrm rot="0" flipH="0" flipV="0">
            <a:off x="762000" y="2590800"/>
            <a:ext cx="762000" cy="38100"/>
          </a:xfrm>
          <a:prstGeom prst="rect">
            <a:avLst/>
          </a:prstGeom>
          <a:solidFill>
            <a:srgbClr val="FF9F1C"/>
          </a:solidFill>
          <a:ln/>
        </p:spPr>
        <p:txBody>
          <a:bodyPr/>
          <a:p/>
        </p:txBody>
      </p:sp>
      <p:sp>
        <p:nvSpPr>
          <p:cNvPr id="9" name="" descr="{&quot;isTemplate&quot;:true,&quot;type&quot;:&quot;text&quot;}"/>
          <p:cNvSpPr txBox="1"/>
          <p:nvPr/>
        </p:nvSpPr>
        <p:spPr>
          <a:xfrm rot="0" flipH="0" flipV="0">
            <a:off x="762000" y="2895600"/>
            <a:ext cx="10668000" cy="4095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650">
                <a:solidFill>
                  <a:srgbClr val="DCE7F5"/>
                </a:solidFill>
                <a:latin typeface="思源黑体"/>
                <a:ea typeface="思源黑体"/>
              </a:rPr>
              <a:t>框架让</a:t>
            </a:r>
            <a:r>
              <a:rPr lang="en-US" sz="1650">
                <a:solidFill>
                  <a:srgbClr val="DCE7F5"/>
                </a:solidFill>
                <a:latin typeface="思源黑体"/>
                <a:ea typeface="思源黑体"/>
              </a:rPr>
              <a:t> LLM </a:t>
            </a:r>
            <a:r>
              <a:rPr lang="zh-CN" sz="1650">
                <a:solidFill>
                  <a:srgbClr val="DCE7F5"/>
                </a:solidFill>
                <a:latin typeface="思源黑体"/>
                <a:ea typeface="思源黑体"/>
              </a:rPr>
              <a:t>应用开发变简单：从手工拼接到搭积木</a:t>
            </a:r>
            <a:endParaRPr/>
          </a:p>
        </p:txBody>
      </p:sp>
      <p:sp>
        <p:nvSpPr>
          <p:cNvPr id="10" name="" descr="{&quot;isTemplate&quot;:true,&quot;type&quot;:&quot;text&quot;}"/>
          <p:cNvSpPr txBox="1"/>
          <p:nvPr/>
        </p:nvSpPr>
        <p:spPr>
          <a:xfrm rot="0" flipH="0" flipV="0">
            <a:off x="762000" y="3648075"/>
            <a:ext cx="10668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8FA4B8"/>
                </a:solidFill>
                <a:latin typeface="思源黑体"/>
                <a:ea typeface="思源黑体"/>
              </a:rPr>
              <a:t>学完能写出「</a:t>
            </a:r>
            <a:r>
              <a:rPr lang="en-US" sz="1125">
                <a:solidFill>
                  <a:srgbClr val="8FA4B8"/>
                </a:solidFill>
                <a:latin typeface="思源黑体"/>
                <a:ea typeface="思源黑体"/>
              </a:rPr>
              <a:t>5 </a:t>
            </a:r>
            <a:r>
              <a:rPr lang="zh-CN" sz="1125">
                <a:solidFill>
                  <a:srgbClr val="8FA4B8"/>
                </a:solidFill>
                <a:latin typeface="思源黑体"/>
                <a:ea typeface="思源黑体"/>
              </a:rPr>
              <a:t>行跑通对话</a:t>
            </a:r>
            <a:r>
              <a:rPr lang="en-US" sz="1125">
                <a:solidFill>
                  <a:srgbClr val="8FA4B8"/>
                </a:solidFill>
                <a:latin typeface="思源黑体"/>
                <a:ea typeface="思源黑体"/>
              </a:rPr>
              <a:t> → LCEL </a:t>
            </a:r>
            <a:r>
              <a:rPr lang="zh-CN" sz="1125">
                <a:solidFill>
                  <a:srgbClr val="8FA4B8"/>
                </a:solidFill>
                <a:latin typeface="思源黑体"/>
                <a:ea typeface="思源黑体"/>
              </a:rPr>
              <a:t>链式编排</a:t>
            </a:r>
            <a:r>
              <a:rPr lang="en-US" sz="1125">
                <a:solidFill>
                  <a:srgbClr val="8FA4B8"/>
                </a:solidFill>
                <a:latin typeface="思源黑体"/>
                <a:ea typeface="思源黑体"/>
              </a:rPr>
              <a:t> → LangServe </a:t>
            </a:r>
            <a:r>
              <a:rPr lang="zh-CN" sz="1125">
                <a:solidFill>
                  <a:srgbClr val="8FA4B8"/>
                </a:solidFill>
                <a:latin typeface="思源黑体"/>
                <a:ea typeface="思源黑体"/>
              </a:rPr>
              <a:t>一键部署」的完整闭环</a:t>
            </a:r>
            <a:endParaRPr/>
          </a:p>
        </p:txBody>
      </p:sp>
      <p:sp>
        <p:nvSpPr>
          <p:cNvPr id="11" name="" descr="{&quot;isTemplate&quot;:true,&quot;type&quot;:&quot;text&quot;}"/>
          <p:cNvSpPr txBox="1"/>
          <p:nvPr/>
        </p:nvSpPr>
        <p:spPr>
          <a:xfrm rot="0" flipH="0" flipV="0">
            <a:off x="762000" y="5753100"/>
            <a:ext cx="10668000" cy="533400"/>
          </a:xfrm>
          <a:prstGeom prst="rect"/>
        </p:spPr>
        <p:txBody>
          <a:bodyPr wrap="none" lIns="0" tIns="28575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FA4B8"/>
                </a:solidFill>
                <a:latin typeface="思源黑体"/>
                <a:ea typeface="思源黑体"/>
              </a:rPr>
              <a:t>Qborfy · </a:t>
            </a:r>
            <a:r>
              <a:rPr lang="zh-CN" sz="975">
                <a:solidFill>
                  <a:srgbClr val="8FA4B8"/>
                </a:solidFill>
                <a:latin typeface="思源黑体"/>
                <a:ea typeface="思源黑体"/>
              </a:rPr>
              <a:t>做一个有温度和有干货的技术分享作者</a:t>
            </a:r>
            <a:endParaRPr/>
          </a:p>
        </p:txBody>
      </p:sp>
    </p:spTree>
  </p:cSld>
</p:sld>
</file>

<file path=ppt/slides/slide2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130" name="" descr="&lt;Slide&#10;  style={{&#10;    width: '1280px', height: '720px',&#10;    background: '#F5F7FA',&#10;    padding: '20px 60px',&#10;    fontFamily: '&quot;思源黑体&quot;, sans-serif',&#10;  }}&#10;&gt;&#10;  &lt;Box style={{ flexDirection: 'row', width: '100%', height: '100%', gap: 40 }}&gt;&#10;    &lt;Box style={{ width: 360, paddingTop: 20 }}&gt;&#10;      &lt;Text style={{ fontSize: 14, color: '#FF9F1C', fontWeight: 'bold', letterSpacing: 2, marginBottom: 12 }}&gt;WHY FRAMEWORK&lt;/Text&gt;&#10;      &lt;Text style={{ fontSize: 34, color: '#16263F', fontWeight: 'bold', lineHeight: 1.35, marginBottom: 24 }}&gt;&#10;        裸调大模型&lt;br /&gt;痛点在哪里&#10;      &lt;/Text&gt;&#10;      &lt;Box style={{ width: 56, height: 4, background: '#22D3EE', marginBottom: 24 }} /&gt;&#10;      &lt;Text style={{ fontSize: 16, color: '#5B6B7A', lineHeight: 1.7 }}&gt;&#10;        直接调用 API 能做 demo，却撑不起真实应用——&lt;span style={{ fontWeight: 'bold', color: '#16263F' }}&gt;四个痛点&lt;/span&gt;逼出了框架的诞生。&#10;      &lt;/Text&gt;&#10;    &lt;/Box&gt;&#10;&#10;    &lt;Box style={{ flex: 1, flexDirection: 'column', gap: 16, justifyContent: 'center' }}&gt;&#10;      {[&#10;        { icon: 'brain', t: '无记忆', d: '每轮都重新开始，上下文靠手动拼接，多轮对话极易失忆' },&#10;        { icon: 'ruler', t: 'Token 限制', d: '窗口有限，长文本要自己切分与压缩，稍不留神就超限' },&#10;        { icon: 'times-circle', t: '无法验证', d: '输出是一段自由文本，格式不稳定，程序无法可靠解析' },&#10;        { icon: 'layer-group', t: '多步低效', d: '多模型、多提示词、多步骤的编排全靠手写 if-else，难复用' },&#10;      ].map((item, idx) =&gt; (&#10;        &lt;Box key={idx} style={{ flexDirection: 'row', gap: 16, background: '#FFFFFF', borderRadius: 12, padding: '18px 24px', boxShadow: '0 2px 12px rgba(22,38,63,0.06)' }}&gt;&#10;          &lt;Box style={{ width: 52, height: 52, borderRadius: 13, background: '#EAF2FB', justifyContent: 'center', alignItems: 'center' }}&gt;&#10;            &lt;FAIcon name={item.icon} style={{ fill: '#22D3EE', width: 26, height: 26 }} /&gt;&#10;          &lt;/Box&gt;&#10;          &lt;Box style={{ flex: 1 }}&gt;&#10;            &lt;Text style={{ fontSize: 19, fontWeight: 'bold', color: '#16263F', marginBottom: 4 }}&gt;{item.t}&lt;/Text&gt;&#10;            &lt;Text style={{ fontSize: 14, color: '#5B6B7A', lineHeight: 1.6 }}&gt;{item.d}&lt;/Text&gt;&#10;          &lt;/Box&gt;&#10;        &lt;/Box&gt;&#10;      ))}&#10;    &lt;/Box&gt;&#10;  &lt;/Box&gt;&#10;  &lt;Box style={{ position: 'absolute', bottom: 14, left: 60, right: 60, flexDirection: 'row', justifyContent: 'space-between' }}&gt;&#10;    &lt;Text style={{ fontSize: 14, color: '#5B6B7A' }}&gt;AI 从零开始 · 第 4 讲&lt;/Text&gt;&#10;    &lt;Text style={{ fontSize: 14, color: '#5B6B7A' }}&gt;02 / 14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p/>
        </p:txBody>
      </p:sp>
      <p:sp>
        <p:nvSpPr>
          <p:cNvPr id="132" name="" descr="{&quot;isTemplate&quot;:true,&quot;type&quot;:&quot;text&quot;}"/>
          <p:cNvSpPr txBox="1"/>
          <p:nvPr/>
        </p:nvSpPr>
        <p:spPr>
          <a:xfrm rot="0" flipH="0" flipV="0">
            <a:off x="571500" y="381000"/>
            <a:ext cx="3429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 spc="150">
                <a:solidFill>
                  <a:srgbClr val="FF9F1C"/>
                </a:solidFill>
                <a:latin typeface="思源黑体"/>
                <a:ea typeface="思源黑体"/>
              </a:rPr>
              <a:t>WHY FRAMEWORK</a:t>
            </a:r>
            <a:endParaRPr/>
          </a:p>
        </p:txBody>
      </p:sp>
      <p:sp>
        <p:nvSpPr>
          <p:cNvPr id="133" name="" descr="{&quot;isTemplate&quot;:true,&quot;type&quot;:&quot;text&quot;}"/>
          <p:cNvSpPr txBox="1"/>
          <p:nvPr/>
        </p:nvSpPr>
        <p:spPr>
          <a:xfrm rot="0" flipH="0" flipV="0">
            <a:off x="571500" y="657225"/>
            <a:ext cx="3429000" cy="105727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2550" b="1">
                <a:solidFill>
                  <a:srgbClr val="16263F"/>
                </a:solidFill>
                <a:latin typeface="思源黑体"/>
                <a:ea typeface="思源黑体"/>
              </a:rPr>
              <a:t>裸调大模型</a:t>
            </a:r>
            <a:endParaRPr/>
          </a:p>
          <a:p>
            <a:pPr>
              <a:lnSpc>
                <a:spcPct val="135000"/>
              </a:lnSpc>
            </a:pPr>
            <a:r>
              <a:rPr lang="zh-CN" sz="2550" b="1">
                <a:solidFill>
                  <a:srgbClr val="16263F"/>
                </a:solidFill>
                <a:latin typeface="思源黑体"/>
                <a:ea typeface="思源黑体"/>
              </a:rPr>
              <a:t>痛点在哪里</a:t>
            </a:r>
            <a:endParaRPr/>
          </a:p>
        </p:txBody>
      </p:sp>
      <p:sp>
        <p:nvSpPr>
          <p:cNvPr id="134" name=""/>
          <p:cNvSpPr/>
          <p:nvPr/>
        </p:nvSpPr>
        <p:spPr>
          <a:xfrm rot="0" flipH="0" flipV="0">
            <a:off x="571500" y="1943100"/>
            <a:ext cx="533400" cy="38100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p/>
        </p:txBody>
      </p:sp>
      <p:sp>
        <p:nvSpPr>
          <p:cNvPr id="135" name="" descr="{&quot;isTemplate&quot;:true,&quot;type&quot;:&quot;text&quot;}"/>
          <p:cNvSpPr txBox="1"/>
          <p:nvPr/>
        </p:nvSpPr>
        <p:spPr>
          <a:xfrm rot="0" flipH="0" flipV="0">
            <a:off x="571500" y="2209800"/>
            <a:ext cx="3429000" cy="6286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200">
                <a:solidFill>
                  <a:srgbClr val="5B6B7A"/>
                </a:solidFill>
                <a:latin typeface="思源黑体"/>
                <a:ea typeface="思源黑体"/>
              </a:rPr>
              <a:t>直接调用</a:t>
            </a:r>
            <a:r>
              <a:rPr lang="en-US" sz="1200">
                <a:solidFill>
                  <a:srgbClr val="5B6B7A"/>
                </a:solidFill>
                <a:latin typeface="思源黑体"/>
                <a:ea typeface="思源黑体"/>
              </a:rPr>
              <a:t> API </a:t>
            </a:r>
            <a:r>
              <a:rPr lang="zh-CN" sz="1200">
                <a:solidFill>
                  <a:srgbClr val="5B6B7A"/>
                </a:solidFill>
                <a:latin typeface="思源黑体"/>
                <a:ea typeface="思源黑体"/>
              </a:rPr>
              <a:t>能做</a:t>
            </a:r>
            <a:r>
              <a:rPr lang="en-US" sz="1200">
                <a:solidFill>
                  <a:srgbClr val="5B6B7A"/>
                </a:solidFill>
                <a:latin typeface="思源黑体"/>
                <a:ea typeface="思源黑体"/>
              </a:rPr>
              <a:t> demo</a:t>
            </a:r>
            <a:r>
              <a:rPr lang="zh-CN" sz="1200">
                <a:solidFill>
                  <a:srgbClr val="5B6B7A"/>
                </a:solidFill>
                <a:latin typeface="思源黑体"/>
                <a:ea typeface="思源黑体"/>
              </a:rPr>
              <a:t>，却撑不起真实应用——</a:t>
            </a:r>
            <a:r>
              <a:rPr lang="zh-CN" sz="1200" b="1">
                <a:solidFill>
                  <a:srgbClr val="16263F"/>
                </a:solidFill>
                <a:latin typeface="思源黑体"/>
                <a:ea typeface="思源黑体"/>
              </a:rPr>
              <a:t>四个痛点</a:t>
            </a:r>
            <a:r>
              <a:rPr lang="zh-CN" sz="1200">
                <a:solidFill>
                  <a:srgbClr val="5B6B7A"/>
                </a:solidFill>
                <a:latin typeface="思源黑体"/>
                <a:ea typeface="思源黑体"/>
              </a:rPr>
              <a:t>逼出了框架的诞生。</a:t>
            </a:r>
            <a:endParaRPr/>
          </a:p>
        </p:txBody>
      </p:sp>
      <p:sp>
        <p:nvSpPr>
          <p:cNvPr id="136" name=""/>
          <p:cNvSpPr/>
          <p:nvPr/>
        </p:nvSpPr>
        <p:spPr>
          <a:xfrm rot="0" flipH="0" flipV="0">
            <a:off x="4381500" y="1485900"/>
            <a:ext cx="7239000" cy="85725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blurRad="114300" dist="19050" dir="5400000">
              <a:srgbClr val="16263F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137" name=""/>
          <p:cNvSpPr/>
          <p:nvPr/>
        </p:nvSpPr>
        <p:spPr>
          <a:xfrm rot="0" flipH="0" flipV="0">
            <a:off x="4610100" y="1657350"/>
            <a:ext cx="495300" cy="495300"/>
          </a:xfrm>
          <a:prstGeom prst="roundRect">
            <a:avLst>
              <a:gd name="adj" fmla="val 25000"/>
            </a:avLst>
          </a:prstGeom>
          <a:solidFill>
            <a:srgbClr val="EAF2FB"/>
          </a:solidFill>
          <a:ln/>
        </p:spPr>
        <p:txBody>
          <a:bodyPr/>
          <a:p/>
        </p:txBody>
      </p:sp>
      <p:pic>
        <p:nvPicPr>
          <p:cNvPr id="13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4733925" y="1781175"/>
            <a:ext cx="247650" cy="247650"/>
          </a:xfrm>
          <a:prstGeom prst="rect">
            <a:avLst/>
          </a:prstGeom>
          <a:ln/>
        </p:spPr>
      </p:pic>
      <p:sp>
        <p:nvSpPr>
          <p:cNvPr id="139" name="" descr="{&quot;isTemplate&quot;:true,&quot;type&quot;:&quot;text&quot;}"/>
          <p:cNvSpPr txBox="1"/>
          <p:nvPr/>
        </p:nvSpPr>
        <p:spPr>
          <a:xfrm rot="0" flipH="0" flipV="0">
            <a:off x="5257800" y="1657350"/>
            <a:ext cx="61341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6263F"/>
                </a:solidFill>
                <a:latin typeface="思源黑体"/>
                <a:ea typeface="思源黑体"/>
              </a:rPr>
              <a:t>无记忆</a:t>
            </a:r>
            <a:endParaRPr/>
          </a:p>
        </p:txBody>
      </p:sp>
      <p:sp>
        <p:nvSpPr>
          <p:cNvPr id="140" name="" descr="{&quot;isTemplate&quot;:true,&quot;type&quot;:&quot;text&quot;}"/>
          <p:cNvSpPr txBox="1"/>
          <p:nvPr/>
        </p:nvSpPr>
        <p:spPr>
          <a:xfrm rot="0" flipH="0" flipV="0">
            <a:off x="5257800" y="1914525"/>
            <a:ext cx="6134100" cy="2571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每轮都重新开始，上下文靠手动拼接，多轮对话极易失忆</a:t>
            </a:r>
            <a:endParaRPr/>
          </a:p>
        </p:txBody>
      </p:sp>
      <p:sp>
        <p:nvSpPr>
          <p:cNvPr id="141" name=""/>
          <p:cNvSpPr/>
          <p:nvPr/>
        </p:nvSpPr>
        <p:spPr>
          <a:xfrm rot="0" flipH="0" flipV="0">
            <a:off x="4381500" y="2495550"/>
            <a:ext cx="7239000" cy="85725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blurRad="114300" dist="19050" dir="5400000">
              <a:srgbClr val="16263F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142" name=""/>
          <p:cNvSpPr/>
          <p:nvPr/>
        </p:nvSpPr>
        <p:spPr>
          <a:xfrm rot="0" flipH="0" flipV="0">
            <a:off x="4610100" y="2667000"/>
            <a:ext cx="495300" cy="495300"/>
          </a:xfrm>
          <a:prstGeom prst="roundRect">
            <a:avLst>
              <a:gd name="adj" fmla="val 25000"/>
            </a:avLst>
          </a:prstGeom>
          <a:solidFill>
            <a:srgbClr val="EAF2FB"/>
          </a:solidFill>
          <a:ln/>
        </p:spPr>
        <p:txBody>
          <a:bodyPr/>
          <a:p/>
        </p:txBody>
      </p:sp>
      <p:pic>
        <p:nvPicPr>
          <p:cNvPr id="143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4733925" y="2790825"/>
            <a:ext cx="247650" cy="247650"/>
          </a:xfrm>
          <a:prstGeom prst="rect">
            <a:avLst/>
          </a:prstGeom>
          <a:ln/>
        </p:spPr>
      </p:pic>
      <p:sp>
        <p:nvSpPr>
          <p:cNvPr id="144" name="" descr="{&quot;isTemplate&quot;:true,&quot;type&quot;:&quot;text&quot;}"/>
          <p:cNvSpPr txBox="1"/>
          <p:nvPr/>
        </p:nvSpPr>
        <p:spPr>
          <a:xfrm rot="0" flipH="0" flipV="0">
            <a:off x="5257800" y="2667000"/>
            <a:ext cx="61341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16263F"/>
                </a:solidFill>
                <a:latin typeface="思源黑体"/>
                <a:ea typeface="思源黑体"/>
              </a:rPr>
              <a:t>Token </a:t>
            </a:r>
            <a:r>
              <a:rPr lang="zh-CN" sz="1425" b="1">
                <a:solidFill>
                  <a:srgbClr val="16263F"/>
                </a:solidFill>
                <a:latin typeface="思源黑体"/>
                <a:ea typeface="思源黑体"/>
              </a:rPr>
              <a:t>限制</a:t>
            </a:r>
            <a:endParaRPr/>
          </a:p>
        </p:txBody>
      </p:sp>
      <p:sp>
        <p:nvSpPr>
          <p:cNvPr id="145" name="" descr="{&quot;isTemplate&quot;:true,&quot;type&quot;:&quot;text&quot;}"/>
          <p:cNvSpPr txBox="1"/>
          <p:nvPr/>
        </p:nvSpPr>
        <p:spPr>
          <a:xfrm rot="0" flipH="0" flipV="0">
            <a:off x="5257800" y="2924175"/>
            <a:ext cx="6134100" cy="2571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窗口有限，长文本要自己切分与压缩，稍不留神就超限</a:t>
            </a:r>
            <a:endParaRPr/>
          </a:p>
        </p:txBody>
      </p:sp>
      <p:sp>
        <p:nvSpPr>
          <p:cNvPr id="146" name=""/>
          <p:cNvSpPr/>
          <p:nvPr/>
        </p:nvSpPr>
        <p:spPr>
          <a:xfrm rot="0" flipH="0" flipV="0">
            <a:off x="4381500" y="3505200"/>
            <a:ext cx="7239000" cy="85725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blurRad="114300" dist="19050" dir="5400000">
              <a:srgbClr val="16263F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147" name=""/>
          <p:cNvSpPr/>
          <p:nvPr/>
        </p:nvSpPr>
        <p:spPr>
          <a:xfrm rot="0" flipH="0" flipV="0">
            <a:off x="4610100" y="3676650"/>
            <a:ext cx="495300" cy="495300"/>
          </a:xfrm>
          <a:prstGeom prst="roundRect">
            <a:avLst>
              <a:gd name="adj" fmla="val 25000"/>
            </a:avLst>
          </a:prstGeom>
          <a:solidFill>
            <a:srgbClr val="EAF2FB"/>
          </a:solidFill>
          <a:ln/>
        </p:spPr>
        <p:txBody>
          <a:bodyPr/>
          <a:p/>
        </p:txBody>
      </p:sp>
      <p:pic>
        <p:nvPicPr>
          <p:cNvPr id="14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4733925" y="3800475"/>
            <a:ext cx="247650" cy="247650"/>
          </a:xfrm>
          <a:prstGeom prst="rect">
            <a:avLst/>
          </a:prstGeom>
          <a:ln/>
        </p:spPr>
      </p:pic>
      <p:sp>
        <p:nvSpPr>
          <p:cNvPr id="149" name="" descr="{&quot;isTemplate&quot;:true,&quot;type&quot;:&quot;text&quot;}"/>
          <p:cNvSpPr txBox="1"/>
          <p:nvPr/>
        </p:nvSpPr>
        <p:spPr>
          <a:xfrm rot="0" flipH="0" flipV="0">
            <a:off x="5257800" y="3676650"/>
            <a:ext cx="61341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6263F"/>
                </a:solidFill>
                <a:latin typeface="思源黑体"/>
                <a:ea typeface="思源黑体"/>
              </a:rPr>
              <a:t>无法验证</a:t>
            </a:r>
            <a:endParaRPr/>
          </a:p>
        </p:txBody>
      </p:sp>
      <p:sp>
        <p:nvSpPr>
          <p:cNvPr id="150" name="" descr="{&quot;isTemplate&quot;:true,&quot;type&quot;:&quot;text&quot;}"/>
          <p:cNvSpPr txBox="1"/>
          <p:nvPr/>
        </p:nvSpPr>
        <p:spPr>
          <a:xfrm rot="0" flipH="0" flipV="0">
            <a:off x="5257800" y="3933825"/>
            <a:ext cx="6134100" cy="2571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输出是一段自由文本，格式不稳定，程序无法可靠解析</a:t>
            </a:r>
            <a:endParaRPr/>
          </a:p>
        </p:txBody>
      </p:sp>
      <p:sp>
        <p:nvSpPr>
          <p:cNvPr id="151" name=""/>
          <p:cNvSpPr/>
          <p:nvPr/>
        </p:nvSpPr>
        <p:spPr>
          <a:xfrm rot="0" flipH="0" flipV="0">
            <a:off x="4381500" y="4514850"/>
            <a:ext cx="7239000" cy="85725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blurRad="114300" dist="19050" dir="5400000">
              <a:srgbClr val="16263F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152" name=""/>
          <p:cNvSpPr/>
          <p:nvPr/>
        </p:nvSpPr>
        <p:spPr>
          <a:xfrm rot="0" flipH="0" flipV="0">
            <a:off x="4610100" y="4686300"/>
            <a:ext cx="495300" cy="495300"/>
          </a:xfrm>
          <a:prstGeom prst="roundRect">
            <a:avLst>
              <a:gd name="adj" fmla="val 25000"/>
            </a:avLst>
          </a:prstGeom>
          <a:solidFill>
            <a:srgbClr val="EAF2FB"/>
          </a:solidFill>
          <a:ln/>
        </p:spPr>
        <p:txBody>
          <a:bodyPr/>
          <a:p/>
        </p:txBody>
      </p:sp>
      <p:pic>
        <p:nvPicPr>
          <p:cNvPr id="153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4"/>
              </a:ext>
            </a:extLst>
          </a:blip>
          <a:stretch>
            <a:fillRect/>
          </a:stretch>
        </p:blipFill>
        <p:spPr>
          <a:xfrm rot="0" flipH="0" flipV="0">
            <a:off x="4733925" y="4810125"/>
            <a:ext cx="247650" cy="247650"/>
          </a:xfrm>
          <a:prstGeom prst="rect">
            <a:avLst/>
          </a:prstGeom>
          <a:ln/>
        </p:spPr>
      </p:pic>
      <p:sp>
        <p:nvSpPr>
          <p:cNvPr id="154" name="" descr="{&quot;isTemplate&quot;:true,&quot;type&quot;:&quot;text&quot;}"/>
          <p:cNvSpPr txBox="1"/>
          <p:nvPr/>
        </p:nvSpPr>
        <p:spPr>
          <a:xfrm rot="0" flipH="0" flipV="0">
            <a:off x="5257800" y="4686300"/>
            <a:ext cx="61341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6263F"/>
                </a:solidFill>
                <a:latin typeface="思源黑体"/>
                <a:ea typeface="思源黑体"/>
              </a:rPr>
              <a:t>多步低效</a:t>
            </a:r>
            <a:endParaRPr/>
          </a:p>
        </p:txBody>
      </p:sp>
      <p:sp>
        <p:nvSpPr>
          <p:cNvPr id="155" name="" descr="{&quot;isTemplate&quot;:true,&quot;type&quot;:&quot;text&quot;}"/>
          <p:cNvSpPr txBox="1"/>
          <p:nvPr/>
        </p:nvSpPr>
        <p:spPr>
          <a:xfrm rot="0" flipH="0" flipV="0">
            <a:off x="5257800" y="4943475"/>
            <a:ext cx="6134100" cy="2571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多模型、多提示词、多步骤的编排全靠手写</a:t>
            </a: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 if-else</a:t>
            </a: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，难复用</a:t>
            </a:r>
            <a:endParaRPr/>
          </a:p>
        </p:txBody>
      </p:sp>
      <p:sp>
        <p:nvSpPr>
          <p:cNvPr id="156" name="" descr="{&quot;isTemplate&quot;:true,&quot;type&quot;:&quot;text&quot;}"/>
          <p:cNvSpPr txBox="1"/>
          <p:nvPr/>
        </p:nvSpPr>
        <p:spPr>
          <a:xfrm rot="0" flipH="0" flipV="0">
            <a:off x="571500" y="6562725"/>
            <a:ext cx="12477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AI </a:t>
            </a: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从零开始</a:t>
            </a: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 · </a:t>
            </a: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第</a:t>
            </a: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 4 </a:t>
            </a: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讲</a:t>
            </a:r>
            <a:endParaRPr/>
          </a:p>
        </p:txBody>
      </p:sp>
      <p:sp>
        <p:nvSpPr>
          <p:cNvPr id="157" name="" descr="{&quot;isTemplate&quot;:true,&quot;type&quot;:&quot;text&quot;}"/>
          <p:cNvSpPr txBox="1"/>
          <p:nvPr/>
        </p:nvSpPr>
        <p:spPr>
          <a:xfrm rot="0" flipH="0" flipV="0">
            <a:off x="11210925" y="6562725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02 / 14</a:t>
            </a:r>
            <a:endParaRPr/>
          </a:p>
        </p:txBody>
      </p:sp>
    </p:spTree>
  </p:cSld>
</p:sld>
</file>

<file path=ppt/slides/slide3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158" name="" descr="&lt;Slide&#10;  style={{&#10;    width: '1280px', height: '720px',&#10;    background: '#16263F',&#10;    padding: '20px 60px',&#10;    fontFamily: '&quot;思源黑体&quot;, sans-serif',&#10;  }}&#10;&gt;&#10;  &lt;Box style={{ flexDirection: 'column', height: '100%', justifyContent: 'center' }}&gt;&#10;    &lt;Text style={{ fontSize: 14, color: '#22D3EE', fontWeight: 'bold', letterSpacing: 3, marginBottom: 14 }}&gt;CHAPTER 01 · 认识框架&lt;/Text&gt;&#10;    &lt;Text style={{ fontSize: 44, color: '#FFFFFF', fontWeight: 'bold', marginBottom: 16 }}&gt;LangChain 是什么？&lt;/Text&gt;&#10;    &lt;Text style={{ fontSize: 18, color: '#DCE7F5', lineHeight: 1.7, marginBottom: 40 }}&gt;&#10;      一个开源的 &lt;span style={{ color: '#FF9F1C', fontWeight: 'bold' }}&gt;LLM 应用开发框架&lt;/span&gt;——把「调用模型」的脏活累活标准化，让开发者专注于业务逻辑。&#10;    &lt;/Text&gt;&#10;&#10;    &lt;Box style={{ flexDirection: 'row', gap: 24 }}&gt;&#10;      {[&#10;        { n: '01', t: '简化开发', d: '组件化封装提示词、模型、解析器\n像搭积木一样拼出应用' },&#10;        { n: '02', t: '标准化工具链', d: '统一调用接口与最佳实践\n从 prompt 到部署一条龙' },&#10;        { n: '03', t: '生态扩展', d: '海量集成 + 社区组件\n换模型、换向量库只需一行' },&#10;      ].map((item, idx) =&gt; (&#10;        &lt;Box key={idx} style={{ flex: 1, background: 'rgba(255,255,255,0.06)', border: '1px solid rgba(220,231,245,0.15)', borderRadius: 12, padding: '26px 24px' }}&gt;&#10;          &lt;Text style={{ fontSize: 13, color: '#FF9F1C', fontWeight: 'bold', marginBottom: 10 }}&gt;{item.n}&lt;/Text&gt;&#10;          &lt;Text style={{ fontSize: 22, color: '#FFFFFF', fontWeight: 'bold', marginBottom: 12 }}&gt;{item.t}&lt;/Text&gt;&#10;          &lt;Text style={{ fontSize: 15, color: '#DCE7F5', lineHeight: 1.7, whiteSpace: 'pre-line' }}&gt;{item.d}&lt;/Text&gt;&#10;        &lt;/Box&gt;&#10;      ))}&#10;    &lt;/Box&gt;&#10;&#10;    &lt;Box style={{ marginTop: 36, flexDirection: 'row', alignItems: 'center', gap: 12 }}&gt;&#10;      &lt;FAIcon name='lightbulb' style={{ fill: '#FF9F1C', width: 20, height: 20 }} /&gt;&#10;      &lt;Text style={{ fontSize: 16, color: '#DCE7F5' }}&gt;&#10;        一句话记住：LangChain 之于 LLM 应用，就像 Spring 之于 Java Web&#10;      &lt;/Text&gt;&#10;    &lt;/Box&gt;&#10;  &lt;/Box&gt;&#10;  &lt;Box style={{ position: 'absolute', bottom: 14, left: 60, right: 60, flexDirection: 'row', justifyContent: 'space-between' }}&gt;&#10;    &lt;Text style={{ fontSize: 14, color: '#8FA4B8' }}&gt;AI 从零开始 · 第 4 讲&lt;/Text&gt;&#10;    &lt;Text style={{ fontSize: 14, color: '#8FA4B8' }}&gt;03 / 14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16263F"/>
          </a:solidFill>
          <a:ln/>
        </p:spPr>
        <p:txBody>
          <a:bodyPr/>
          <a:p/>
        </p:txBody>
      </p:sp>
      <p:sp>
        <p:nvSpPr>
          <p:cNvPr id="160" name="" descr="{&quot;isTemplate&quot;:true,&quot;type&quot;:&quot;text&quot;}"/>
          <p:cNvSpPr txBox="1"/>
          <p:nvPr/>
        </p:nvSpPr>
        <p:spPr>
          <a:xfrm rot="0" flipH="0" flipV="0">
            <a:off x="571500" y="1466850"/>
            <a:ext cx="11049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 spc="225">
                <a:solidFill>
                  <a:srgbClr val="22D3EE"/>
                </a:solidFill>
                <a:latin typeface="思源黑体"/>
                <a:ea typeface="思源黑体"/>
              </a:rPr>
              <a:t>CHAPTER 01 · </a:t>
            </a:r>
            <a:r>
              <a:rPr lang="zh-CN" sz="1050" b="1" spc="225">
                <a:solidFill>
                  <a:srgbClr val="22D3EE"/>
                </a:solidFill>
                <a:latin typeface="思源黑体"/>
                <a:ea typeface="思源黑体"/>
              </a:rPr>
              <a:t>认识框架</a:t>
            </a:r>
            <a:endParaRPr/>
          </a:p>
        </p:txBody>
      </p:sp>
      <p:sp>
        <p:nvSpPr>
          <p:cNvPr id="161" name="" descr="{&quot;isTemplate&quot;:true,&quot;type&quot;:&quot;text&quot;}"/>
          <p:cNvSpPr txBox="1"/>
          <p:nvPr/>
        </p:nvSpPr>
        <p:spPr>
          <a:xfrm rot="0" flipH="0" flipV="0">
            <a:off x="571500" y="1762125"/>
            <a:ext cx="11049000" cy="504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300" b="1">
                <a:solidFill>
                  <a:srgbClr val="FFFFFF"/>
                </a:solidFill>
                <a:latin typeface="思源黑体"/>
                <a:ea typeface="思源黑体"/>
              </a:rPr>
              <a:t>LangChain </a:t>
            </a:r>
            <a:r>
              <a:rPr lang="zh-CN" sz="3300" b="1">
                <a:solidFill>
                  <a:srgbClr val="FFFFFF"/>
                </a:solidFill>
                <a:latin typeface="思源黑体"/>
                <a:ea typeface="思源黑体"/>
              </a:rPr>
              <a:t>是什么？</a:t>
            </a:r>
            <a:endParaRPr/>
          </a:p>
        </p:txBody>
      </p:sp>
      <p:sp>
        <p:nvSpPr>
          <p:cNvPr id="162" name="" descr="{&quot;isTemplate&quot;:true,&quot;type&quot;:&quot;text&quot;}"/>
          <p:cNvSpPr txBox="1"/>
          <p:nvPr/>
        </p:nvSpPr>
        <p:spPr>
          <a:xfrm rot="0" flipH="0" flipV="0">
            <a:off x="571500" y="2419350"/>
            <a:ext cx="11049000" cy="3524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350">
                <a:solidFill>
                  <a:srgbClr val="DCE7F5"/>
                </a:solidFill>
                <a:latin typeface="思源黑体"/>
                <a:ea typeface="思源黑体"/>
              </a:rPr>
              <a:t>一个开源的</a:t>
            </a:r>
            <a:r>
              <a:rPr lang="en-US" sz="1350">
                <a:solidFill>
                  <a:srgbClr val="DCE7F5"/>
                </a:solidFill>
                <a:latin typeface="思源黑体"/>
                <a:ea typeface="思源黑体"/>
              </a:rPr>
              <a:t> </a:t>
            </a:r>
            <a:r>
              <a:rPr lang="en-US" sz="1350" b="1">
                <a:solidFill>
                  <a:srgbClr val="FF9F1C"/>
                </a:solidFill>
                <a:latin typeface="思源黑体"/>
                <a:ea typeface="思源黑体"/>
              </a:rPr>
              <a:t>LLM </a:t>
            </a:r>
            <a:r>
              <a:rPr lang="zh-CN" sz="1350" b="1">
                <a:solidFill>
                  <a:srgbClr val="FF9F1C"/>
                </a:solidFill>
                <a:latin typeface="思源黑体"/>
                <a:ea typeface="思源黑体"/>
              </a:rPr>
              <a:t>应用开发框架</a:t>
            </a:r>
            <a:r>
              <a:rPr lang="zh-CN" sz="1350">
                <a:solidFill>
                  <a:srgbClr val="DCE7F5"/>
                </a:solidFill>
                <a:latin typeface="思源黑体"/>
                <a:ea typeface="思源黑体"/>
              </a:rPr>
              <a:t>——把「调用模型」的脏活累活标准化，让开发者专注于业务逻辑。</a:t>
            </a:r>
            <a:endParaRPr/>
          </a:p>
        </p:txBody>
      </p:sp>
      <p:sp>
        <p:nvSpPr>
          <p:cNvPr id="163" name=""/>
          <p:cNvSpPr/>
          <p:nvPr/>
        </p:nvSpPr>
        <p:spPr>
          <a:xfrm rot="0" flipH="0" flipV="0">
            <a:off x="571500" y="3152775"/>
            <a:ext cx="3533775" cy="1704975"/>
          </a:xfrm>
          <a:prstGeom prst="roundRect">
            <a:avLst>
              <a:gd name="adj" fmla="val 6704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DCE7F5">
                <a:alpha val="1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64" name="" descr="{&quot;isTemplate&quot;:true,&quot;type&quot;:&quot;text&quot;}"/>
          <p:cNvSpPr txBox="1"/>
          <p:nvPr/>
        </p:nvSpPr>
        <p:spPr>
          <a:xfrm rot="0" flipH="0" flipV="0">
            <a:off x="800100" y="3400425"/>
            <a:ext cx="30765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FF9F1C"/>
                </a:solidFill>
                <a:latin typeface="思源黑体"/>
                <a:ea typeface="思源黑体"/>
              </a:rPr>
              <a:t>01</a:t>
            </a:r>
            <a:endParaRPr/>
          </a:p>
        </p:txBody>
      </p:sp>
      <p:sp>
        <p:nvSpPr>
          <p:cNvPr id="165" name="" descr="{&quot;isTemplate&quot;:true,&quot;type&quot;:&quot;text&quot;}"/>
          <p:cNvSpPr txBox="1"/>
          <p:nvPr/>
        </p:nvSpPr>
        <p:spPr>
          <a:xfrm rot="0" flipH="0" flipV="0">
            <a:off x="800100" y="3648075"/>
            <a:ext cx="307657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FFFFFF"/>
                </a:solidFill>
                <a:latin typeface="思源黑体"/>
                <a:ea typeface="思源黑体"/>
              </a:rPr>
              <a:t>简化开发</a:t>
            </a:r>
            <a:endParaRPr/>
          </a:p>
        </p:txBody>
      </p:sp>
      <p:sp>
        <p:nvSpPr>
          <p:cNvPr id="166" name="" descr="{&quot;isTemplate&quot;:true,&quot;type&quot;:&quot;text&quot;}"/>
          <p:cNvSpPr txBox="1"/>
          <p:nvPr/>
        </p:nvSpPr>
        <p:spPr>
          <a:xfrm rot="0" flipH="0" flipV="0">
            <a:off x="800100" y="4019550"/>
            <a:ext cx="3076575" cy="590550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125">
                <a:solidFill>
                  <a:srgbClr val="DCE7F5"/>
                </a:solidFill>
                <a:latin typeface="思源黑体"/>
                <a:ea typeface="思源黑体"/>
              </a:rPr>
              <a:t>组件化封装提示词、模型、解析器
像搭积木一样拼出应用</a:t>
            </a:r>
            <a:endParaRPr/>
          </a:p>
        </p:txBody>
      </p:sp>
      <p:sp>
        <p:nvSpPr>
          <p:cNvPr id="167" name=""/>
          <p:cNvSpPr/>
          <p:nvPr/>
        </p:nvSpPr>
        <p:spPr>
          <a:xfrm rot="0" flipH="0" flipV="0">
            <a:off x="4333875" y="3152775"/>
            <a:ext cx="3524250" cy="1704975"/>
          </a:xfrm>
          <a:prstGeom prst="roundRect">
            <a:avLst>
              <a:gd name="adj" fmla="val 6704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DCE7F5">
                <a:alpha val="1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68" name="" descr="{&quot;isTemplate&quot;:true,&quot;type&quot;:&quot;text&quot;}"/>
          <p:cNvSpPr txBox="1"/>
          <p:nvPr/>
        </p:nvSpPr>
        <p:spPr>
          <a:xfrm rot="0" flipH="0" flipV="0">
            <a:off x="4562475" y="3400425"/>
            <a:ext cx="30670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FF9F1C"/>
                </a:solidFill>
                <a:latin typeface="思源黑体"/>
                <a:ea typeface="思源黑体"/>
              </a:rPr>
              <a:t>02</a:t>
            </a:r>
            <a:endParaRPr/>
          </a:p>
        </p:txBody>
      </p:sp>
      <p:sp>
        <p:nvSpPr>
          <p:cNvPr id="169" name="" descr="{&quot;isTemplate&quot;:true,&quot;type&quot;:&quot;text&quot;}"/>
          <p:cNvSpPr txBox="1"/>
          <p:nvPr/>
        </p:nvSpPr>
        <p:spPr>
          <a:xfrm rot="0" flipH="0" flipV="0">
            <a:off x="4562475" y="3648075"/>
            <a:ext cx="30670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FFFFFF"/>
                </a:solidFill>
                <a:latin typeface="思源黑体"/>
                <a:ea typeface="思源黑体"/>
              </a:rPr>
              <a:t>标准化工具链</a:t>
            </a:r>
            <a:endParaRPr/>
          </a:p>
        </p:txBody>
      </p:sp>
      <p:sp>
        <p:nvSpPr>
          <p:cNvPr id="170" name="" descr="{&quot;isTemplate&quot;:true,&quot;type&quot;:&quot;text&quot;}"/>
          <p:cNvSpPr txBox="1"/>
          <p:nvPr/>
        </p:nvSpPr>
        <p:spPr>
          <a:xfrm rot="0" flipH="0" flipV="0">
            <a:off x="4562475" y="4019550"/>
            <a:ext cx="3067050" cy="590550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125">
                <a:solidFill>
                  <a:srgbClr val="DCE7F5"/>
                </a:solidFill>
                <a:latin typeface="思源黑体"/>
                <a:ea typeface="思源黑体"/>
              </a:rPr>
              <a:t>统一调用接口与最佳实践
从</a:t>
            </a:r>
            <a:r>
              <a:rPr lang="en-US" sz="1125">
                <a:solidFill>
                  <a:srgbClr val="DCE7F5"/>
                </a:solidFill>
                <a:latin typeface="思源黑体"/>
                <a:ea typeface="思源黑体"/>
              </a:rPr>
              <a:t> prompt </a:t>
            </a:r>
            <a:r>
              <a:rPr lang="zh-CN" sz="1125">
                <a:solidFill>
                  <a:srgbClr val="DCE7F5"/>
                </a:solidFill>
                <a:latin typeface="思源黑体"/>
                <a:ea typeface="思源黑体"/>
              </a:rPr>
              <a:t>到部署一条龙</a:t>
            </a:r>
            <a:endParaRPr/>
          </a:p>
        </p:txBody>
      </p:sp>
      <p:sp>
        <p:nvSpPr>
          <p:cNvPr id="171" name=""/>
          <p:cNvSpPr/>
          <p:nvPr/>
        </p:nvSpPr>
        <p:spPr>
          <a:xfrm rot="0" flipH="0" flipV="0">
            <a:off x="8086725" y="3152775"/>
            <a:ext cx="3533775" cy="1704975"/>
          </a:xfrm>
          <a:prstGeom prst="roundRect">
            <a:avLst>
              <a:gd name="adj" fmla="val 6704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DCE7F5">
                <a:alpha val="1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72" name="" descr="{&quot;isTemplate&quot;:true,&quot;type&quot;:&quot;text&quot;}"/>
          <p:cNvSpPr txBox="1"/>
          <p:nvPr/>
        </p:nvSpPr>
        <p:spPr>
          <a:xfrm rot="0" flipH="0" flipV="0">
            <a:off x="8315325" y="3400425"/>
            <a:ext cx="30765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FF9F1C"/>
                </a:solidFill>
                <a:latin typeface="思源黑体"/>
                <a:ea typeface="思源黑体"/>
              </a:rPr>
              <a:t>03</a:t>
            </a:r>
            <a:endParaRPr/>
          </a:p>
        </p:txBody>
      </p:sp>
      <p:sp>
        <p:nvSpPr>
          <p:cNvPr id="173" name="" descr="{&quot;isTemplate&quot;:true,&quot;type&quot;:&quot;text&quot;}"/>
          <p:cNvSpPr txBox="1"/>
          <p:nvPr/>
        </p:nvSpPr>
        <p:spPr>
          <a:xfrm rot="0" flipH="0" flipV="0">
            <a:off x="8315325" y="3648075"/>
            <a:ext cx="307657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FFFFFF"/>
                </a:solidFill>
                <a:latin typeface="思源黑体"/>
                <a:ea typeface="思源黑体"/>
              </a:rPr>
              <a:t>生态扩展</a:t>
            </a:r>
            <a:endParaRPr/>
          </a:p>
        </p:txBody>
      </p:sp>
      <p:sp>
        <p:nvSpPr>
          <p:cNvPr id="174" name="" descr="{&quot;isTemplate&quot;:true,&quot;type&quot;:&quot;text&quot;}"/>
          <p:cNvSpPr txBox="1"/>
          <p:nvPr/>
        </p:nvSpPr>
        <p:spPr>
          <a:xfrm rot="0" flipH="0" flipV="0">
            <a:off x="8315325" y="4019550"/>
            <a:ext cx="3076575" cy="590550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125">
                <a:solidFill>
                  <a:srgbClr val="DCE7F5"/>
                </a:solidFill>
                <a:latin typeface="思源黑体"/>
                <a:ea typeface="思源黑体"/>
              </a:rPr>
              <a:t>海量集成</a:t>
            </a:r>
            <a:r>
              <a:rPr lang="en-US" sz="1125">
                <a:solidFill>
                  <a:srgbClr val="DCE7F5"/>
                </a:solidFill>
                <a:latin typeface="思源黑体"/>
                <a:ea typeface="思源黑体"/>
              </a:rPr>
              <a:t> + </a:t>
            </a:r>
            <a:r>
              <a:rPr lang="zh-CN" sz="1125">
                <a:solidFill>
                  <a:srgbClr val="DCE7F5"/>
                </a:solidFill>
                <a:latin typeface="思源黑体"/>
                <a:ea typeface="思源黑体"/>
              </a:rPr>
              <a:t>社区组件
换模型、换向量库只需一行</a:t>
            </a:r>
            <a:endParaRPr/>
          </a:p>
        </p:txBody>
      </p:sp>
      <p:pic>
        <p:nvPicPr>
          <p:cNvPr id="17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571500" y="5200650"/>
            <a:ext cx="190500" cy="190500"/>
          </a:xfrm>
          <a:prstGeom prst="rect">
            <a:avLst/>
          </a:prstGeom>
          <a:ln/>
        </p:spPr>
      </p:pic>
      <p:sp>
        <p:nvSpPr>
          <p:cNvPr id="176" name="" descr="{&quot;isTemplate&quot;:true,&quot;type&quot;:&quot;text&quot;}"/>
          <p:cNvSpPr txBox="1"/>
          <p:nvPr/>
        </p:nvSpPr>
        <p:spPr>
          <a:xfrm rot="0" flipH="0" flipV="0">
            <a:off x="876300" y="5200650"/>
            <a:ext cx="47434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DCE7F5"/>
                </a:solidFill>
                <a:latin typeface="思源黑体"/>
                <a:ea typeface="思源黑体"/>
              </a:rPr>
              <a:t>一句话记住：</a:t>
            </a:r>
            <a:r>
              <a:rPr lang="en-US" sz="1200">
                <a:solidFill>
                  <a:srgbClr val="DCE7F5"/>
                </a:solidFill>
                <a:latin typeface="思源黑体"/>
                <a:ea typeface="思源黑体"/>
              </a:rPr>
              <a:t>LangChain </a:t>
            </a:r>
            <a:r>
              <a:rPr lang="zh-CN" sz="1200">
                <a:solidFill>
                  <a:srgbClr val="DCE7F5"/>
                </a:solidFill>
                <a:latin typeface="思源黑体"/>
                <a:ea typeface="思源黑体"/>
              </a:rPr>
              <a:t>之于</a:t>
            </a:r>
            <a:r>
              <a:rPr lang="en-US" sz="1200">
                <a:solidFill>
                  <a:srgbClr val="DCE7F5"/>
                </a:solidFill>
                <a:latin typeface="思源黑体"/>
                <a:ea typeface="思源黑体"/>
              </a:rPr>
              <a:t> LLM </a:t>
            </a:r>
            <a:r>
              <a:rPr lang="zh-CN" sz="1200">
                <a:solidFill>
                  <a:srgbClr val="DCE7F5"/>
                </a:solidFill>
                <a:latin typeface="思源黑体"/>
                <a:ea typeface="思源黑体"/>
              </a:rPr>
              <a:t>应用，就像</a:t>
            </a:r>
            <a:r>
              <a:rPr lang="en-US" sz="1200">
                <a:solidFill>
                  <a:srgbClr val="DCE7F5"/>
                </a:solidFill>
                <a:latin typeface="思源黑体"/>
                <a:ea typeface="思源黑体"/>
              </a:rPr>
              <a:t> Spring </a:t>
            </a:r>
            <a:r>
              <a:rPr lang="zh-CN" sz="1200">
                <a:solidFill>
                  <a:srgbClr val="DCE7F5"/>
                </a:solidFill>
                <a:latin typeface="思源黑体"/>
                <a:ea typeface="思源黑体"/>
              </a:rPr>
              <a:t>之于</a:t>
            </a:r>
            <a:r>
              <a:rPr lang="en-US" sz="1200">
                <a:solidFill>
                  <a:srgbClr val="DCE7F5"/>
                </a:solidFill>
                <a:latin typeface="思源黑体"/>
                <a:ea typeface="思源黑体"/>
              </a:rPr>
              <a:t> Java Web</a:t>
            </a:r>
            <a:endParaRPr/>
          </a:p>
        </p:txBody>
      </p:sp>
      <p:sp>
        <p:nvSpPr>
          <p:cNvPr id="177" name="" descr="{&quot;isTemplate&quot;:true,&quot;type&quot;:&quot;text&quot;}"/>
          <p:cNvSpPr txBox="1"/>
          <p:nvPr/>
        </p:nvSpPr>
        <p:spPr>
          <a:xfrm rot="0" flipH="0" flipV="0">
            <a:off x="571500" y="6562725"/>
            <a:ext cx="12477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FA4B8"/>
                </a:solidFill>
                <a:latin typeface="思源黑体"/>
                <a:ea typeface="思源黑体"/>
              </a:rPr>
              <a:t>AI </a:t>
            </a:r>
            <a:r>
              <a:rPr lang="zh-CN" sz="1050">
                <a:solidFill>
                  <a:srgbClr val="8FA4B8"/>
                </a:solidFill>
                <a:latin typeface="思源黑体"/>
                <a:ea typeface="思源黑体"/>
              </a:rPr>
              <a:t>从零开始</a:t>
            </a:r>
            <a:r>
              <a:rPr lang="en-US" sz="1050">
                <a:solidFill>
                  <a:srgbClr val="8FA4B8"/>
                </a:solidFill>
                <a:latin typeface="思源黑体"/>
                <a:ea typeface="思源黑体"/>
              </a:rPr>
              <a:t> · </a:t>
            </a:r>
            <a:r>
              <a:rPr lang="zh-CN" sz="1050">
                <a:solidFill>
                  <a:srgbClr val="8FA4B8"/>
                </a:solidFill>
                <a:latin typeface="思源黑体"/>
                <a:ea typeface="思源黑体"/>
              </a:rPr>
              <a:t>第</a:t>
            </a:r>
            <a:r>
              <a:rPr lang="en-US" sz="1050">
                <a:solidFill>
                  <a:srgbClr val="8FA4B8"/>
                </a:solidFill>
                <a:latin typeface="思源黑体"/>
                <a:ea typeface="思源黑体"/>
              </a:rPr>
              <a:t> 4 </a:t>
            </a:r>
            <a:r>
              <a:rPr lang="zh-CN" sz="1050">
                <a:solidFill>
                  <a:srgbClr val="8FA4B8"/>
                </a:solidFill>
                <a:latin typeface="思源黑体"/>
                <a:ea typeface="思源黑体"/>
              </a:rPr>
              <a:t>讲</a:t>
            </a:r>
            <a:endParaRPr/>
          </a:p>
        </p:txBody>
      </p:sp>
      <p:sp>
        <p:nvSpPr>
          <p:cNvPr id="178" name="" descr="{&quot;isTemplate&quot;:true,&quot;type&quot;:&quot;text&quot;}"/>
          <p:cNvSpPr txBox="1"/>
          <p:nvPr/>
        </p:nvSpPr>
        <p:spPr>
          <a:xfrm rot="0" flipH="0" flipV="0">
            <a:off x="11210925" y="6562725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FA4B8"/>
                </a:solidFill>
                <a:latin typeface="思源黑体"/>
                <a:ea typeface="思源黑体"/>
              </a:rPr>
              <a:t>03 / 14</a:t>
            </a:r>
            <a:endParaRPr/>
          </a:p>
        </p:txBody>
      </p:sp>
    </p:spTree>
  </p:cSld>
</p:sld>
</file>

<file path=ppt/slides/slide4.xml><?xml version="1.0" encoding="utf-8"?>
<p:sld xmlns:a="http://schemas.openxmlformats.org/drawingml/2006/main" xmlns:p="http://schemas.openxmlformats.org/presentationml/2006/main">
  <p:cSld>
    <p:spTree>
      <p:nvGrpSpPr>
        <p:cNvPr id="179" name="" descr="&lt;Slide&#10;  style={{&#10;    width: '1280px', height: '720px',&#10;    background: '#F5F7FA',&#10;    padding: '20px 60px',&#10;    fontFamily: '&quot;思源黑体&quot;, sans-serif',&#10;  }}&#10;&gt;&#10;  &lt;Box style={{ width: '100%', height: '100%' }}&gt;&#10;    &lt;Text style={{ fontSize: 14, color: '#FF9F1C', fontWeight: 'bold', letterSpacing: 2, marginBottom: 8 }}&gt;CORE CONCEPTS&lt;/Text&gt;&#10;    &lt;Text style={{ fontSize: 34, color: '#16263F', fontWeight: 'bold', marginBottom: 24 }}&gt;必知概念：一张概念墙，建立全局地图&lt;/Text&gt;&#10;    &lt;Box style={{ width: 56, height: 4, background: '#22D3EE', marginBottom: 22 }} /&gt;&#10;&#10;    &lt;Box style={{ flexDirection: 'column', gap: 14 }}&gt;&#10;      &lt;Box style={{ flexDirection: 'row', gap: 14 }}&gt;&#10;        {[&#10;          { t: 'LLM', d: '大语言模型，应用的「大脑」' },&#10;          { t: 'Prompt', d: '提示模板，定义怎么问' },&#10;          { t: 'Chain', d: '组件串联的调用流水线' },&#10;          { t: 'LCEL', d: '声明式链式表达语言' },&#10;          { t: 'RAG', d: '检索增强，外挂知识库' },&#10;        ].map((item, idx) =&gt; (&#10;          &lt;Box key={idx} style={{ flex: 1, background: '#FFFFFF', borderRadius: 12, padding: '18px 18px', boxShadow: '0 2px 12px rgba(22,38,63,0.06)' }}&gt;&#10;            &lt;Text style={{ fontSize: 18, fontWeight: 'bold', color: '#16263F', marginBottom: 4 }}&gt;{item.t}&lt;/Text&gt;&#10;            &lt;Text style={{ fontSize: 13, color: '#5B6B7A', lineHeight: 1.5 }}&gt;{item.d}&lt;/Text&gt;&#10;          &lt;/Box&gt;&#10;        ))}&#10;      &lt;/Box&gt;&#10;      &lt;Box style={{ flexDirection: 'row', gap: 14 }}&gt;&#10;        {[&#10;          { t: 'Agent', d: '自主决策并执行任务的智能体' },&#10;          { t: 'Memory', d: '对话记忆，跨轮保留上下文' },&#10;          { t: 'OutputParser', d: '输出解析，把结果格式化' },&#10;          { t: 'Vectorstore', d: '向量库，存语义向量' },&#10;          { t: 'Embedding', d: '嵌入，把文本转成向量' },&#10;        ].map((item, idx) =&gt; (&#10;          &lt;Box key={idx} style={{ flex: 1, background: '#FFFFFF', borderRadius: 12, padding: '18px 18px', boxShadow: '0 2px 12px rgba(22,38,63,0.06)' }}&gt;&#10;            &lt;Text style={{ fontSize: 18, fontWeight: 'bold', color: '#16263F', marginBottom: 4 }}&gt;{item.t}&lt;/Text&gt;&#10;            &lt;Text style={{ fontSize: 13, color: '#5B6B7A', lineHeight: 1.5 }}&gt;{item.d}&lt;/Text&gt;&#10;          &lt;/Box&gt;&#10;        ))}&#10;      &lt;/Box&gt;&#10;    &lt;/Box&gt;&#10;&#10;    &lt;Box style={{ marginTop: 18, background: '#DCE7F5', borderRadius: 10, padding: '14px 22px' }}&gt;&#10;      &lt;Text style={{ fontSize: 16, color: '#16263F', fontWeight: 'bold' }}&gt;&#10;        这些概念不必今天全懂，用到哪学到哪——先有个地图，后续几讲逐一展开&#10;      &lt;/Text&gt;&#10;    &lt;/Box&gt;&#10;  &lt;/Box&gt;&#10;  &lt;Box style={{ position: 'absolute', bottom: 14, left: 60, right: 60, flexDirection: 'row', justifyContent: 'space-between' }}&gt;&#10;    &lt;Text style={{ fontSize: 14, color: '#5B6B7A' }}&gt;AI 从零开始 · 第 4 讲&lt;/Text&gt;&#10;    &lt;Text style={{ fontSize: 14, color: '#5B6B7A' }}&gt;04 / 14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p/>
        </p:txBody>
      </p:sp>
      <p:sp>
        <p:nvSpPr>
          <p:cNvPr id="181" name="" descr="{&quot;isTemplate&quot;:true,&quot;type&quot;:&quot;text&quot;}"/>
          <p:cNvSpPr txBox="1"/>
          <p:nvPr/>
        </p:nvSpPr>
        <p:spPr>
          <a:xfrm rot="0" flipH="0" flipV="0">
            <a:off x="571500" y="190500"/>
            <a:ext cx="11049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 spc="150">
                <a:solidFill>
                  <a:srgbClr val="FF9F1C"/>
                </a:solidFill>
                <a:latin typeface="思源黑体"/>
                <a:ea typeface="思源黑体"/>
              </a:rPr>
              <a:t>CORE CONCEPTS</a:t>
            </a:r>
            <a:endParaRPr/>
          </a:p>
        </p:txBody>
      </p:sp>
      <p:sp>
        <p:nvSpPr>
          <p:cNvPr id="182" name="" descr="{&quot;isTemplate&quot;:true,&quot;type&quot;:&quot;text&quot;}"/>
          <p:cNvSpPr txBox="1"/>
          <p:nvPr/>
        </p:nvSpPr>
        <p:spPr>
          <a:xfrm rot="0" flipH="0" flipV="0">
            <a:off x="571500" y="428625"/>
            <a:ext cx="110490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6263F"/>
                </a:solidFill>
                <a:latin typeface="思源黑体"/>
                <a:ea typeface="思源黑体"/>
              </a:rPr>
              <a:t>必知概念：一张概念墙，建立全局地图</a:t>
            </a:r>
            <a:endParaRPr/>
          </a:p>
        </p:txBody>
      </p:sp>
      <p:sp>
        <p:nvSpPr>
          <p:cNvPr id="183" name=""/>
          <p:cNvSpPr/>
          <p:nvPr/>
        </p:nvSpPr>
        <p:spPr>
          <a:xfrm rot="0" flipH="0" flipV="0">
            <a:off x="571500" y="1047750"/>
            <a:ext cx="533400" cy="38100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p/>
        </p:txBody>
      </p:sp>
      <p:sp>
        <p:nvSpPr>
          <p:cNvPr id="184" name=""/>
          <p:cNvSpPr/>
          <p:nvPr/>
        </p:nvSpPr>
        <p:spPr>
          <a:xfrm rot="0" flipH="0" flipV="0">
            <a:off x="571500" y="1295400"/>
            <a:ext cx="2105025" cy="819150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/>
          <a:effectLst>
            <a:outerShdw blurRad="114300" dist="19050" dir="5400000">
              <a:srgbClr val="16263F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185" name="" descr="{&quot;isTemplate&quot;:true,&quot;type&quot;:&quot;text&quot;}"/>
          <p:cNvSpPr txBox="1"/>
          <p:nvPr/>
        </p:nvSpPr>
        <p:spPr>
          <a:xfrm rot="0" flipH="0" flipV="0">
            <a:off x="742950" y="1466850"/>
            <a:ext cx="17621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16263F"/>
                </a:solidFill>
                <a:latin typeface="思源黑体"/>
                <a:ea typeface="思源黑体"/>
              </a:rPr>
              <a:t>LLM</a:t>
            </a:r>
            <a:endParaRPr/>
          </a:p>
        </p:txBody>
      </p:sp>
      <p:sp>
        <p:nvSpPr>
          <p:cNvPr id="186" name="" descr="{&quot;isTemplate&quot;:true,&quot;type&quot;:&quot;text&quot;}"/>
          <p:cNvSpPr txBox="1"/>
          <p:nvPr/>
        </p:nvSpPr>
        <p:spPr>
          <a:xfrm rot="0" flipH="0" flipV="0">
            <a:off x="742950" y="1714500"/>
            <a:ext cx="1762125" cy="2286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75">
                <a:solidFill>
                  <a:srgbClr val="5B6B7A"/>
                </a:solidFill>
                <a:latin typeface="思源黑体"/>
                <a:ea typeface="思源黑体"/>
              </a:rPr>
              <a:t>大语言模型，应用的「大脑」</a:t>
            </a:r>
            <a:endParaRPr/>
          </a:p>
        </p:txBody>
      </p:sp>
      <p:sp>
        <p:nvSpPr>
          <p:cNvPr id="187" name=""/>
          <p:cNvSpPr/>
          <p:nvPr/>
        </p:nvSpPr>
        <p:spPr>
          <a:xfrm rot="0" flipH="0" flipV="0">
            <a:off x="2809875" y="1295400"/>
            <a:ext cx="2105025" cy="819150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/>
          <a:effectLst>
            <a:outerShdw blurRad="114300" dist="19050" dir="5400000">
              <a:srgbClr val="16263F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188" name="" descr="{&quot;isTemplate&quot;:true,&quot;type&quot;:&quot;text&quot;}"/>
          <p:cNvSpPr txBox="1"/>
          <p:nvPr/>
        </p:nvSpPr>
        <p:spPr>
          <a:xfrm rot="0" flipH="0" flipV="0">
            <a:off x="2981325" y="1466850"/>
            <a:ext cx="17621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16263F"/>
                </a:solidFill>
                <a:latin typeface="思源黑体"/>
                <a:ea typeface="思源黑体"/>
              </a:rPr>
              <a:t>Prompt</a:t>
            </a:r>
            <a:endParaRPr/>
          </a:p>
        </p:txBody>
      </p:sp>
      <p:sp>
        <p:nvSpPr>
          <p:cNvPr id="189" name="" descr="{&quot;isTemplate&quot;:true,&quot;type&quot;:&quot;text&quot;}"/>
          <p:cNvSpPr txBox="1"/>
          <p:nvPr/>
        </p:nvSpPr>
        <p:spPr>
          <a:xfrm rot="0" flipH="0" flipV="0">
            <a:off x="2981325" y="1714500"/>
            <a:ext cx="1762125" cy="2286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75">
                <a:solidFill>
                  <a:srgbClr val="5B6B7A"/>
                </a:solidFill>
                <a:latin typeface="思源黑体"/>
                <a:ea typeface="思源黑体"/>
              </a:rPr>
              <a:t>提示模板，定义怎么问</a:t>
            </a:r>
            <a:endParaRPr/>
          </a:p>
        </p:txBody>
      </p:sp>
      <p:sp>
        <p:nvSpPr>
          <p:cNvPr id="190" name=""/>
          <p:cNvSpPr/>
          <p:nvPr/>
        </p:nvSpPr>
        <p:spPr>
          <a:xfrm rot="0" flipH="0" flipV="0">
            <a:off x="5048250" y="1295400"/>
            <a:ext cx="2095500" cy="819150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/>
          <a:effectLst>
            <a:outerShdw blurRad="114300" dist="19050" dir="5400000">
              <a:srgbClr val="16263F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191" name="" descr="{&quot;isTemplate&quot;:true,&quot;type&quot;:&quot;text&quot;}"/>
          <p:cNvSpPr txBox="1"/>
          <p:nvPr/>
        </p:nvSpPr>
        <p:spPr>
          <a:xfrm rot="0" flipH="0" flipV="0">
            <a:off x="5219700" y="1466850"/>
            <a:ext cx="17526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16263F"/>
                </a:solidFill>
                <a:latin typeface="思源黑体"/>
                <a:ea typeface="思源黑体"/>
              </a:rPr>
              <a:t>Chain</a:t>
            </a:r>
            <a:endParaRPr/>
          </a:p>
        </p:txBody>
      </p:sp>
      <p:sp>
        <p:nvSpPr>
          <p:cNvPr id="192" name="" descr="{&quot;isTemplate&quot;:true,&quot;type&quot;:&quot;text&quot;}"/>
          <p:cNvSpPr txBox="1"/>
          <p:nvPr/>
        </p:nvSpPr>
        <p:spPr>
          <a:xfrm rot="0" flipH="0" flipV="0">
            <a:off x="5219700" y="1714500"/>
            <a:ext cx="1752600" cy="2286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75">
                <a:solidFill>
                  <a:srgbClr val="5B6B7A"/>
                </a:solidFill>
                <a:latin typeface="思源黑体"/>
                <a:ea typeface="思源黑体"/>
              </a:rPr>
              <a:t>组件串联的调用流水线</a:t>
            </a:r>
            <a:endParaRPr/>
          </a:p>
        </p:txBody>
      </p:sp>
      <p:sp>
        <p:nvSpPr>
          <p:cNvPr id="193" name=""/>
          <p:cNvSpPr/>
          <p:nvPr/>
        </p:nvSpPr>
        <p:spPr>
          <a:xfrm rot="0" flipH="0" flipV="0">
            <a:off x="7277100" y="1295400"/>
            <a:ext cx="2105025" cy="819150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/>
          <a:effectLst>
            <a:outerShdw blurRad="114300" dist="19050" dir="5400000">
              <a:srgbClr val="16263F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194" name="" descr="{&quot;isTemplate&quot;:true,&quot;type&quot;:&quot;text&quot;}"/>
          <p:cNvSpPr txBox="1"/>
          <p:nvPr/>
        </p:nvSpPr>
        <p:spPr>
          <a:xfrm rot="0" flipH="0" flipV="0">
            <a:off x="7448550" y="1466850"/>
            <a:ext cx="17621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16263F"/>
                </a:solidFill>
                <a:latin typeface="思源黑体"/>
                <a:ea typeface="思源黑体"/>
              </a:rPr>
              <a:t>LCEL</a:t>
            </a:r>
            <a:endParaRPr/>
          </a:p>
        </p:txBody>
      </p:sp>
      <p:sp>
        <p:nvSpPr>
          <p:cNvPr id="195" name="" descr="{&quot;isTemplate&quot;:true,&quot;type&quot;:&quot;text&quot;}"/>
          <p:cNvSpPr txBox="1"/>
          <p:nvPr/>
        </p:nvSpPr>
        <p:spPr>
          <a:xfrm rot="0" flipH="0" flipV="0">
            <a:off x="7448550" y="1714500"/>
            <a:ext cx="1762125" cy="2286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75">
                <a:solidFill>
                  <a:srgbClr val="5B6B7A"/>
                </a:solidFill>
                <a:latin typeface="思源黑体"/>
                <a:ea typeface="思源黑体"/>
              </a:rPr>
              <a:t>声明式链式表达语言</a:t>
            </a:r>
            <a:endParaRPr/>
          </a:p>
        </p:txBody>
      </p:sp>
      <p:sp>
        <p:nvSpPr>
          <p:cNvPr id="196" name=""/>
          <p:cNvSpPr/>
          <p:nvPr/>
        </p:nvSpPr>
        <p:spPr>
          <a:xfrm rot="0" flipH="0" flipV="0">
            <a:off x="9515475" y="1295400"/>
            <a:ext cx="2105025" cy="819150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/>
          <a:effectLst>
            <a:outerShdw blurRad="114300" dist="19050" dir="5400000">
              <a:srgbClr val="16263F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197" name="" descr="{&quot;isTemplate&quot;:true,&quot;type&quot;:&quot;text&quot;}"/>
          <p:cNvSpPr txBox="1"/>
          <p:nvPr/>
        </p:nvSpPr>
        <p:spPr>
          <a:xfrm rot="0" flipH="0" flipV="0">
            <a:off x="9686925" y="1466850"/>
            <a:ext cx="17621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16263F"/>
                </a:solidFill>
                <a:latin typeface="思源黑体"/>
                <a:ea typeface="思源黑体"/>
              </a:rPr>
              <a:t>RAG</a:t>
            </a:r>
            <a:endParaRPr/>
          </a:p>
        </p:txBody>
      </p:sp>
      <p:sp>
        <p:nvSpPr>
          <p:cNvPr id="198" name="" descr="{&quot;isTemplate&quot;:true,&quot;type&quot;:&quot;text&quot;}"/>
          <p:cNvSpPr txBox="1"/>
          <p:nvPr/>
        </p:nvSpPr>
        <p:spPr>
          <a:xfrm rot="0" flipH="0" flipV="0">
            <a:off x="9686925" y="1714500"/>
            <a:ext cx="1762125" cy="2286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75">
                <a:solidFill>
                  <a:srgbClr val="5B6B7A"/>
                </a:solidFill>
                <a:latin typeface="思源黑体"/>
                <a:ea typeface="思源黑体"/>
              </a:rPr>
              <a:t>检索增强，外挂知识库</a:t>
            </a:r>
            <a:endParaRPr/>
          </a:p>
        </p:txBody>
      </p:sp>
      <p:sp>
        <p:nvSpPr>
          <p:cNvPr id="199" name=""/>
          <p:cNvSpPr/>
          <p:nvPr/>
        </p:nvSpPr>
        <p:spPr>
          <a:xfrm rot="0" flipH="0" flipV="0">
            <a:off x="571500" y="2247900"/>
            <a:ext cx="2105025" cy="819150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/>
          <a:effectLst>
            <a:outerShdw blurRad="114300" dist="19050" dir="5400000">
              <a:srgbClr val="16263F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200" name="" descr="{&quot;isTemplate&quot;:true,&quot;type&quot;:&quot;text&quot;}"/>
          <p:cNvSpPr txBox="1"/>
          <p:nvPr/>
        </p:nvSpPr>
        <p:spPr>
          <a:xfrm rot="0" flipH="0" flipV="0">
            <a:off x="742950" y="2419350"/>
            <a:ext cx="17621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16263F"/>
                </a:solidFill>
                <a:latin typeface="思源黑体"/>
                <a:ea typeface="思源黑体"/>
              </a:rPr>
              <a:t>Agent</a:t>
            </a:r>
            <a:endParaRPr/>
          </a:p>
        </p:txBody>
      </p:sp>
      <p:sp>
        <p:nvSpPr>
          <p:cNvPr id="201" name="" descr="{&quot;isTemplate&quot;:true,&quot;type&quot;:&quot;text&quot;}"/>
          <p:cNvSpPr txBox="1"/>
          <p:nvPr/>
        </p:nvSpPr>
        <p:spPr>
          <a:xfrm rot="0" flipH="0" flipV="0">
            <a:off x="742950" y="2667000"/>
            <a:ext cx="1762125" cy="2286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75">
                <a:solidFill>
                  <a:srgbClr val="5B6B7A"/>
                </a:solidFill>
                <a:latin typeface="思源黑体"/>
                <a:ea typeface="思源黑体"/>
              </a:rPr>
              <a:t>自主决策并执行任务的智能体</a:t>
            </a:r>
            <a:endParaRPr/>
          </a:p>
        </p:txBody>
      </p:sp>
      <p:sp>
        <p:nvSpPr>
          <p:cNvPr id="202" name=""/>
          <p:cNvSpPr/>
          <p:nvPr/>
        </p:nvSpPr>
        <p:spPr>
          <a:xfrm rot="0" flipH="0" flipV="0">
            <a:off x="2809875" y="2247900"/>
            <a:ext cx="2105025" cy="819150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/>
          <a:effectLst>
            <a:outerShdw blurRad="114300" dist="19050" dir="5400000">
              <a:srgbClr val="16263F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203" name="" descr="{&quot;isTemplate&quot;:true,&quot;type&quot;:&quot;text&quot;}"/>
          <p:cNvSpPr txBox="1"/>
          <p:nvPr/>
        </p:nvSpPr>
        <p:spPr>
          <a:xfrm rot="0" flipH="0" flipV="0">
            <a:off x="2981325" y="2419350"/>
            <a:ext cx="17621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16263F"/>
                </a:solidFill>
                <a:latin typeface="思源黑体"/>
                <a:ea typeface="思源黑体"/>
              </a:rPr>
              <a:t>Memory</a:t>
            </a:r>
            <a:endParaRPr/>
          </a:p>
        </p:txBody>
      </p:sp>
      <p:sp>
        <p:nvSpPr>
          <p:cNvPr id="204" name="" descr="{&quot;isTemplate&quot;:true,&quot;type&quot;:&quot;text&quot;}"/>
          <p:cNvSpPr txBox="1"/>
          <p:nvPr/>
        </p:nvSpPr>
        <p:spPr>
          <a:xfrm rot="0" flipH="0" flipV="0">
            <a:off x="2981325" y="2667000"/>
            <a:ext cx="1762125" cy="2286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75">
                <a:solidFill>
                  <a:srgbClr val="5B6B7A"/>
                </a:solidFill>
                <a:latin typeface="思源黑体"/>
                <a:ea typeface="思源黑体"/>
              </a:rPr>
              <a:t>对话记忆，跨轮保留上下文</a:t>
            </a:r>
            <a:endParaRPr/>
          </a:p>
        </p:txBody>
      </p:sp>
      <p:sp>
        <p:nvSpPr>
          <p:cNvPr id="205" name=""/>
          <p:cNvSpPr/>
          <p:nvPr/>
        </p:nvSpPr>
        <p:spPr>
          <a:xfrm rot="0" flipH="0" flipV="0">
            <a:off x="5048250" y="2247900"/>
            <a:ext cx="2095500" cy="819150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/>
          <a:effectLst>
            <a:outerShdw blurRad="114300" dist="19050" dir="5400000">
              <a:srgbClr val="16263F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206" name="" descr="{&quot;isTemplate&quot;:true,&quot;type&quot;:&quot;text&quot;}"/>
          <p:cNvSpPr txBox="1"/>
          <p:nvPr/>
        </p:nvSpPr>
        <p:spPr>
          <a:xfrm rot="0" flipH="0" flipV="0">
            <a:off x="5219700" y="2419350"/>
            <a:ext cx="17526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16263F"/>
                </a:solidFill>
                <a:latin typeface="思源黑体"/>
                <a:ea typeface="思源黑体"/>
              </a:rPr>
              <a:t>OutputParser</a:t>
            </a:r>
            <a:endParaRPr/>
          </a:p>
        </p:txBody>
      </p:sp>
      <p:sp>
        <p:nvSpPr>
          <p:cNvPr id="207" name="" descr="{&quot;isTemplate&quot;:true,&quot;type&quot;:&quot;text&quot;}"/>
          <p:cNvSpPr txBox="1"/>
          <p:nvPr/>
        </p:nvSpPr>
        <p:spPr>
          <a:xfrm rot="0" flipH="0" flipV="0">
            <a:off x="5219700" y="2667000"/>
            <a:ext cx="1752600" cy="2286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75">
                <a:solidFill>
                  <a:srgbClr val="5B6B7A"/>
                </a:solidFill>
                <a:latin typeface="思源黑体"/>
                <a:ea typeface="思源黑体"/>
              </a:rPr>
              <a:t>输出解析，把结果格式化</a:t>
            </a:r>
            <a:endParaRPr/>
          </a:p>
        </p:txBody>
      </p:sp>
      <p:sp>
        <p:nvSpPr>
          <p:cNvPr id="208" name=""/>
          <p:cNvSpPr/>
          <p:nvPr/>
        </p:nvSpPr>
        <p:spPr>
          <a:xfrm rot="0" flipH="0" flipV="0">
            <a:off x="7277100" y="2247900"/>
            <a:ext cx="2105025" cy="819150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/>
          <a:effectLst>
            <a:outerShdw blurRad="114300" dist="19050" dir="5400000">
              <a:srgbClr val="16263F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209" name="" descr="{&quot;isTemplate&quot;:true,&quot;type&quot;:&quot;text&quot;}"/>
          <p:cNvSpPr txBox="1"/>
          <p:nvPr/>
        </p:nvSpPr>
        <p:spPr>
          <a:xfrm rot="0" flipH="0" flipV="0">
            <a:off x="7448550" y="2419350"/>
            <a:ext cx="17621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16263F"/>
                </a:solidFill>
                <a:latin typeface="思源黑体"/>
                <a:ea typeface="思源黑体"/>
              </a:rPr>
              <a:t>Vectorstore</a:t>
            </a:r>
            <a:endParaRPr/>
          </a:p>
        </p:txBody>
      </p:sp>
      <p:sp>
        <p:nvSpPr>
          <p:cNvPr id="210" name="" descr="{&quot;isTemplate&quot;:true,&quot;type&quot;:&quot;text&quot;}"/>
          <p:cNvSpPr txBox="1"/>
          <p:nvPr/>
        </p:nvSpPr>
        <p:spPr>
          <a:xfrm rot="0" flipH="0" flipV="0">
            <a:off x="7448550" y="2667000"/>
            <a:ext cx="1762125" cy="2286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75">
                <a:solidFill>
                  <a:srgbClr val="5B6B7A"/>
                </a:solidFill>
                <a:latin typeface="思源黑体"/>
                <a:ea typeface="思源黑体"/>
              </a:rPr>
              <a:t>向量库，存语义向量</a:t>
            </a:r>
            <a:endParaRPr/>
          </a:p>
        </p:txBody>
      </p:sp>
      <p:sp>
        <p:nvSpPr>
          <p:cNvPr id="211" name=""/>
          <p:cNvSpPr/>
          <p:nvPr/>
        </p:nvSpPr>
        <p:spPr>
          <a:xfrm rot="0" flipH="0" flipV="0">
            <a:off x="9515475" y="2247900"/>
            <a:ext cx="2105025" cy="819150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/>
          <a:effectLst>
            <a:outerShdw blurRad="114300" dist="19050" dir="5400000">
              <a:srgbClr val="16263F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212" name="" descr="{&quot;isTemplate&quot;:true,&quot;type&quot;:&quot;text&quot;}"/>
          <p:cNvSpPr txBox="1"/>
          <p:nvPr/>
        </p:nvSpPr>
        <p:spPr>
          <a:xfrm rot="0" flipH="0" flipV="0">
            <a:off x="9686925" y="2419350"/>
            <a:ext cx="17621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16263F"/>
                </a:solidFill>
                <a:latin typeface="思源黑体"/>
                <a:ea typeface="思源黑体"/>
              </a:rPr>
              <a:t>Embedding</a:t>
            </a:r>
            <a:endParaRPr/>
          </a:p>
        </p:txBody>
      </p:sp>
      <p:sp>
        <p:nvSpPr>
          <p:cNvPr id="213" name="" descr="{&quot;isTemplate&quot;:true,&quot;type&quot;:&quot;text&quot;}"/>
          <p:cNvSpPr txBox="1"/>
          <p:nvPr/>
        </p:nvSpPr>
        <p:spPr>
          <a:xfrm rot="0" flipH="0" flipV="0">
            <a:off x="9686925" y="2667000"/>
            <a:ext cx="1762125" cy="2286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75">
                <a:solidFill>
                  <a:srgbClr val="5B6B7A"/>
                </a:solidFill>
                <a:latin typeface="思源黑体"/>
                <a:ea typeface="思源黑体"/>
              </a:rPr>
              <a:t>嵌入，把文本转成向量</a:t>
            </a:r>
            <a:endParaRPr/>
          </a:p>
        </p:txBody>
      </p:sp>
      <p:sp>
        <p:nvSpPr>
          <p:cNvPr id="214" name=""/>
          <p:cNvSpPr/>
          <p:nvPr/>
        </p:nvSpPr>
        <p:spPr>
          <a:xfrm rot="0" flipH="0" flipV="0">
            <a:off x="571500" y="3238500"/>
            <a:ext cx="11049000" cy="457200"/>
          </a:xfrm>
          <a:prstGeom prst="roundRect">
            <a:avLst>
              <a:gd name="adj" fmla="val 20833"/>
            </a:avLst>
          </a:prstGeom>
          <a:solidFill>
            <a:srgbClr val="DCE7F5"/>
          </a:solidFill>
          <a:ln/>
        </p:spPr>
        <p:txBody>
          <a:bodyPr/>
          <a:p/>
        </p:txBody>
      </p:sp>
      <p:sp>
        <p:nvSpPr>
          <p:cNvPr id="215" name="" descr="{&quot;isTemplate&quot;:true,&quot;type&quot;:&quot;text&quot;}"/>
          <p:cNvSpPr txBox="1"/>
          <p:nvPr/>
        </p:nvSpPr>
        <p:spPr>
          <a:xfrm rot="0" flipH="0" flipV="0">
            <a:off x="781050" y="3371850"/>
            <a:ext cx="106299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16263F"/>
                </a:solidFill>
                <a:latin typeface="思源黑体"/>
                <a:ea typeface="思源黑体"/>
              </a:rPr>
              <a:t>这些概念不必今天全懂，用到哪学到哪——先有个地图，后续几讲逐一展开</a:t>
            </a:r>
            <a:endParaRPr/>
          </a:p>
        </p:txBody>
      </p:sp>
      <p:sp>
        <p:nvSpPr>
          <p:cNvPr id="216" name="" descr="{&quot;isTemplate&quot;:true,&quot;type&quot;:&quot;text&quot;}"/>
          <p:cNvSpPr txBox="1"/>
          <p:nvPr/>
        </p:nvSpPr>
        <p:spPr>
          <a:xfrm rot="0" flipH="0" flipV="0">
            <a:off x="571500" y="6562725"/>
            <a:ext cx="12477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AI </a:t>
            </a: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从零开始</a:t>
            </a: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 · </a:t>
            </a: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第</a:t>
            </a: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 4 </a:t>
            </a: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讲</a:t>
            </a:r>
            <a:endParaRPr/>
          </a:p>
        </p:txBody>
      </p:sp>
      <p:sp>
        <p:nvSpPr>
          <p:cNvPr id="217" name="" descr="{&quot;isTemplate&quot;:true,&quot;type&quot;:&quot;text&quot;}"/>
          <p:cNvSpPr txBox="1"/>
          <p:nvPr/>
        </p:nvSpPr>
        <p:spPr>
          <a:xfrm rot="0" flipH="0" flipV="0">
            <a:off x="11210925" y="6562725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04 / 14</a:t>
            </a:r>
            <a:endParaRPr/>
          </a:p>
        </p:txBody>
      </p:sp>
    </p:spTree>
  </p:cSld>
</p:sld>
</file>

<file path=ppt/slides/slide5.xml><?xml version="1.0" encoding="utf-8"?>
<p:sld xmlns:a="http://schemas.openxmlformats.org/drawingml/2006/main" xmlns:p="http://schemas.openxmlformats.org/presentationml/2006/main">
  <p:cSld>
    <p:spTree>
      <p:nvGrpSpPr>
        <p:cNvPr id="218" name="" descr="&lt;Slide&#10;  style={{&#10;    width: '1280px', height: '720px',&#10;    background: '#F5F7FA',&#10;    padding: '20px 60px',&#10;    fontFamily: '&quot;思源黑体&quot;, sans-serif',&#10;  }}&#10;&gt;&#10;  &lt;Box style={{ width: '100%', height: '100%', flexDirection: 'row', gap: 40 }}&gt;&#10;    &lt;Box style={{ width: 320, paddingTop: 16 }}&gt;&#10;      &lt;Text style={{ fontSize: 14, color: '#FF9F1C', fontWeight: 'bold', letterSpacing: 2, marginBottom: 12 }}&gt;FRAMEWORK STRUCTURE&lt;/Text&gt;&#10;      &lt;Text style={{ fontSize: 34, color: '#16263F', fontWeight: 'bold', lineHeight: 1.35, marginBottom: 24 }}&gt;&#10;        框架七层结构&lt;br /&gt;从核心到工具链&#10;      &lt;/Text&gt;&#10;      &lt;Box style={{ width: 56, height: 4, background: '#22D3EE', marginBottom: 24 }} /&gt;&#10;      &lt;Text style={{ fontSize: 16, color: '#5B6B7A', lineHeight: 1.7 }}&gt;&#10;        底部是核心抽象，越往上越面向开发者与运维——&lt;span style={{ fontWeight: 'bold', color: '#16263F' }}&gt;LangChain 已从「库」长成「平台」&lt;/span&gt;。&#10;      &lt;/Text&gt;&#10;    &lt;/Box&gt;&#10;&#10;    &lt;Box style={{ flex: 1, flexDirection: 'column', gap: 8, justifyContent: 'center' }}&gt;&#10;      {[&#10;        { t: 'LangSmith', d: '调试 / 监控 / 评估平台', bg: '#22D3EE' },&#10;        { t: 'LangServe', d: '一键部署为 REST API', bg: '#2A9DB0' },&#10;        { t: 'LangGraph', d: '图工作流：循环 / 状态 / 多智能体', bg: '#3B82A0' },&#10;        { t: 'Community', d: '社区维护的扩展包', bg: '#2E5E8A' },&#10;        { t: 'Integrations', d: '第三方集成：模型 / 向量库', bg: '#274C78' },&#10;        { t: 'LangChain', d: '高级链与智能体编排', bg: '#1E3A5F' },&#10;        { t: 'LangChain-Core', d: '核心抽象：Runnable / 消息 / 工具', bg: '#FF9F1C' },&#10;      ].map((item, idx) =&gt; (&#10;        &lt;Box key={idx} style={{ flexDirection: 'row', alignItems: 'center', background: item.bg, borderRadius: 8, padding: '10px 20px' }}&gt;&#10;          &lt;Text style={{ width: 190, fontSize: 16, fontWeight: 'bold', color: '#FFFFFF' }}&gt;{item.t}&lt;/Text&gt;&#10;          &lt;Text style={{ flex: 1, fontSize: 13, color: '#FFFFFF', opacity: 0.9 }}&gt;{item.d}&lt;/Text&gt;&#10;        &lt;/Box&gt;&#10;      ))}&#10;    &lt;/Box&gt;&#10;  &lt;/Box&gt;&#10;  &lt;Box style={{ position: 'absolute', bottom: 14, left: 60, right: 60, flexDirection: 'row', justifyContent: 'space-between' }}&gt;&#10;    &lt;Text style={{ fontSize: 14, color: '#5B6B7A' }}&gt;AI 从零开始 · 第 4 讲&lt;/Text&gt;&#10;    &lt;Text style={{ fontSize: 14, color: '#5B6B7A' }}&gt;05 / 14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p/>
        </p:txBody>
      </p:sp>
      <p:sp>
        <p:nvSpPr>
          <p:cNvPr id="220" name="" descr="{&quot;isTemplate&quot;:true,&quot;type&quot;:&quot;text&quot;}"/>
          <p:cNvSpPr txBox="1"/>
          <p:nvPr/>
        </p:nvSpPr>
        <p:spPr>
          <a:xfrm rot="0" flipH="0" flipV="0">
            <a:off x="571500" y="342900"/>
            <a:ext cx="3048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 spc="150">
                <a:solidFill>
                  <a:srgbClr val="FF9F1C"/>
                </a:solidFill>
                <a:latin typeface="思源黑体"/>
                <a:ea typeface="思源黑体"/>
              </a:rPr>
              <a:t>FRAMEWORK STRUCTURE</a:t>
            </a:r>
            <a:endParaRPr/>
          </a:p>
        </p:txBody>
      </p:sp>
      <p:sp>
        <p:nvSpPr>
          <p:cNvPr id="221" name="" descr="{&quot;isTemplate&quot;:true,&quot;type&quot;:&quot;text&quot;}"/>
          <p:cNvSpPr txBox="1"/>
          <p:nvPr/>
        </p:nvSpPr>
        <p:spPr>
          <a:xfrm rot="0" flipH="0" flipV="0">
            <a:off x="571500" y="619125"/>
            <a:ext cx="3048000" cy="105727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2550" b="1">
                <a:solidFill>
                  <a:srgbClr val="16263F"/>
                </a:solidFill>
                <a:latin typeface="思源黑体"/>
                <a:ea typeface="思源黑体"/>
              </a:rPr>
              <a:t>框架七层结构</a:t>
            </a:r>
            <a:endParaRPr/>
          </a:p>
          <a:p>
            <a:pPr>
              <a:lnSpc>
                <a:spcPct val="135000"/>
              </a:lnSpc>
            </a:pPr>
            <a:r>
              <a:rPr lang="zh-CN" sz="2550" b="1">
                <a:solidFill>
                  <a:srgbClr val="16263F"/>
                </a:solidFill>
                <a:latin typeface="思源黑体"/>
                <a:ea typeface="思源黑体"/>
              </a:rPr>
              <a:t>从核心到工具链</a:t>
            </a:r>
            <a:endParaRPr/>
          </a:p>
        </p:txBody>
      </p:sp>
      <p:sp>
        <p:nvSpPr>
          <p:cNvPr id="222" name=""/>
          <p:cNvSpPr/>
          <p:nvPr/>
        </p:nvSpPr>
        <p:spPr>
          <a:xfrm rot="0" flipH="0" flipV="0">
            <a:off x="571500" y="1905000"/>
            <a:ext cx="533400" cy="38100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p/>
        </p:txBody>
      </p:sp>
      <p:sp>
        <p:nvSpPr>
          <p:cNvPr id="223" name="" descr="{&quot;isTemplate&quot;:true,&quot;type&quot;:&quot;text&quot;}"/>
          <p:cNvSpPr txBox="1"/>
          <p:nvPr/>
        </p:nvSpPr>
        <p:spPr>
          <a:xfrm rot="0" flipH="0" flipV="0">
            <a:off x="571500" y="2171700"/>
            <a:ext cx="3048000" cy="933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200">
                <a:solidFill>
                  <a:srgbClr val="5B6B7A"/>
                </a:solidFill>
                <a:latin typeface="思源黑体"/>
                <a:ea typeface="思源黑体"/>
              </a:rPr>
              <a:t>底部是核心抽象，越往上越面向开发者与运维——</a:t>
            </a:r>
            <a:r>
              <a:rPr lang="en-US" sz="1200" b="1">
                <a:solidFill>
                  <a:srgbClr val="16263F"/>
                </a:solidFill>
                <a:latin typeface="思源黑体"/>
                <a:ea typeface="思源黑体"/>
              </a:rPr>
              <a:t>LangChain </a:t>
            </a:r>
            <a:r>
              <a:rPr lang="zh-CN" sz="1200" b="1">
                <a:solidFill>
                  <a:srgbClr val="16263F"/>
                </a:solidFill>
                <a:latin typeface="思源黑体"/>
                <a:ea typeface="思源黑体"/>
              </a:rPr>
              <a:t>已从「库」长成「平台」</a:t>
            </a:r>
            <a:r>
              <a:rPr lang="zh-CN" sz="1200">
                <a:solidFill>
                  <a:srgbClr val="5B6B7A"/>
                </a:solidFill>
                <a:latin typeface="思源黑体"/>
                <a:ea typeface="思源黑体"/>
              </a:rPr>
              <a:t>。</a:t>
            </a:r>
            <a:endParaRPr/>
          </a:p>
        </p:txBody>
      </p:sp>
      <p:sp>
        <p:nvSpPr>
          <p:cNvPr id="224" name=""/>
          <p:cNvSpPr/>
          <p:nvPr/>
        </p:nvSpPr>
        <p:spPr>
          <a:xfrm rot="0" flipH="0" flipV="0">
            <a:off x="4000500" y="1866900"/>
            <a:ext cx="7620000" cy="381000"/>
          </a:xfrm>
          <a:prstGeom prst="roundRect">
            <a:avLst>
              <a:gd name="adj" fmla="val 20000"/>
            </a:avLst>
          </a:prstGeom>
          <a:solidFill>
            <a:srgbClr val="22D3EE"/>
          </a:solidFill>
          <a:ln/>
        </p:spPr>
        <p:txBody>
          <a:bodyPr/>
          <a:p/>
        </p:txBody>
      </p:sp>
      <p:sp>
        <p:nvSpPr>
          <p:cNvPr id="225" name="" descr="{&quot;isTemplate&quot;:true,&quot;type&quot;:&quot;text&quot;}"/>
          <p:cNvSpPr txBox="1"/>
          <p:nvPr/>
        </p:nvSpPr>
        <p:spPr>
          <a:xfrm rot="0" flipH="0" flipV="0">
            <a:off x="4191000" y="1962150"/>
            <a:ext cx="18097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思源黑体"/>
                <a:ea typeface="思源黑体"/>
              </a:rPr>
              <a:t>LangSmith</a:t>
            </a:r>
            <a:endParaRPr/>
          </a:p>
        </p:txBody>
      </p:sp>
      <p:sp>
        <p:nvSpPr>
          <p:cNvPr id="226" name=""/>
          <p:cNvSpPr/>
          <p:nvPr/>
        </p:nvSpPr>
        <p:spPr>
          <a:xfrm rot="0" flipH="0" flipV="0">
            <a:off x="4000500" y="2324100"/>
            <a:ext cx="7620000" cy="381000"/>
          </a:xfrm>
          <a:prstGeom prst="roundRect">
            <a:avLst>
              <a:gd name="adj" fmla="val 20000"/>
            </a:avLst>
          </a:prstGeom>
          <a:solidFill>
            <a:srgbClr val="2A9DB0"/>
          </a:solidFill>
          <a:ln/>
        </p:spPr>
        <p:txBody>
          <a:bodyPr/>
          <a:p/>
        </p:txBody>
      </p:sp>
      <p:sp>
        <p:nvSpPr>
          <p:cNvPr id="227" name="" descr="{&quot;isTemplate&quot;:true,&quot;type&quot;:&quot;text&quot;}"/>
          <p:cNvSpPr txBox="1"/>
          <p:nvPr/>
        </p:nvSpPr>
        <p:spPr>
          <a:xfrm rot="0" flipH="0" flipV="0">
            <a:off x="4191000" y="2419350"/>
            <a:ext cx="18097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思源黑体"/>
                <a:ea typeface="思源黑体"/>
              </a:rPr>
              <a:t>LangServe</a:t>
            </a:r>
            <a:endParaRPr/>
          </a:p>
        </p:txBody>
      </p:sp>
      <p:sp>
        <p:nvSpPr>
          <p:cNvPr id="228" name=""/>
          <p:cNvSpPr/>
          <p:nvPr/>
        </p:nvSpPr>
        <p:spPr>
          <a:xfrm rot="0" flipH="0" flipV="0">
            <a:off x="4000500" y="2781300"/>
            <a:ext cx="7620000" cy="381000"/>
          </a:xfrm>
          <a:prstGeom prst="roundRect">
            <a:avLst>
              <a:gd name="adj" fmla="val 20000"/>
            </a:avLst>
          </a:prstGeom>
          <a:solidFill>
            <a:srgbClr val="3B82A0"/>
          </a:solidFill>
          <a:ln/>
        </p:spPr>
        <p:txBody>
          <a:bodyPr/>
          <a:p/>
        </p:txBody>
      </p:sp>
      <p:sp>
        <p:nvSpPr>
          <p:cNvPr id="229" name="" descr="{&quot;isTemplate&quot;:true,&quot;type&quot;:&quot;text&quot;}"/>
          <p:cNvSpPr txBox="1"/>
          <p:nvPr/>
        </p:nvSpPr>
        <p:spPr>
          <a:xfrm rot="0" flipH="0" flipV="0">
            <a:off x="4191000" y="2876550"/>
            <a:ext cx="18097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思源黑体"/>
                <a:ea typeface="思源黑体"/>
              </a:rPr>
              <a:t>LangGraph</a:t>
            </a:r>
            <a:endParaRPr/>
          </a:p>
        </p:txBody>
      </p:sp>
      <p:sp>
        <p:nvSpPr>
          <p:cNvPr id="230" name=""/>
          <p:cNvSpPr/>
          <p:nvPr/>
        </p:nvSpPr>
        <p:spPr>
          <a:xfrm rot="0" flipH="0" flipV="0">
            <a:off x="4000500" y="3238500"/>
            <a:ext cx="7620000" cy="381000"/>
          </a:xfrm>
          <a:prstGeom prst="roundRect">
            <a:avLst>
              <a:gd name="adj" fmla="val 20000"/>
            </a:avLst>
          </a:prstGeom>
          <a:solidFill>
            <a:srgbClr val="2E5E8A"/>
          </a:solidFill>
          <a:ln/>
        </p:spPr>
        <p:txBody>
          <a:bodyPr/>
          <a:p/>
        </p:txBody>
      </p:sp>
      <p:sp>
        <p:nvSpPr>
          <p:cNvPr id="231" name="" descr="{&quot;isTemplate&quot;:true,&quot;type&quot;:&quot;text&quot;}"/>
          <p:cNvSpPr txBox="1"/>
          <p:nvPr/>
        </p:nvSpPr>
        <p:spPr>
          <a:xfrm rot="0" flipH="0" flipV="0">
            <a:off x="4191000" y="3333750"/>
            <a:ext cx="18097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思源黑体"/>
                <a:ea typeface="思源黑体"/>
              </a:rPr>
              <a:t>Community</a:t>
            </a:r>
            <a:endParaRPr/>
          </a:p>
        </p:txBody>
      </p:sp>
      <p:sp>
        <p:nvSpPr>
          <p:cNvPr id="232" name=""/>
          <p:cNvSpPr/>
          <p:nvPr/>
        </p:nvSpPr>
        <p:spPr>
          <a:xfrm rot="0" flipH="0" flipV="0">
            <a:off x="4000500" y="3695700"/>
            <a:ext cx="7620000" cy="381000"/>
          </a:xfrm>
          <a:prstGeom prst="roundRect">
            <a:avLst>
              <a:gd name="adj" fmla="val 20000"/>
            </a:avLst>
          </a:prstGeom>
          <a:solidFill>
            <a:srgbClr val="274C78"/>
          </a:solidFill>
          <a:ln/>
        </p:spPr>
        <p:txBody>
          <a:bodyPr/>
          <a:p/>
        </p:txBody>
      </p:sp>
      <p:sp>
        <p:nvSpPr>
          <p:cNvPr id="233" name="" descr="{&quot;isTemplate&quot;:true,&quot;type&quot;:&quot;text&quot;}"/>
          <p:cNvSpPr txBox="1"/>
          <p:nvPr/>
        </p:nvSpPr>
        <p:spPr>
          <a:xfrm rot="0" flipH="0" flipV="0">
            <a:off x="4191000" y="3790950"/>
            <a:ext cx="18097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思源黑体"/>
                <a:ea typeface="思源黑体"/>
              </a:rPr>
              <a:t>Integrations</a:t>
            </a:r>
            <a:endParaRPr/>
          </a:p>
        </p:txBody>
      </p:sp>
      <p:sp>
        <p:nvSpPr>
          <p:cNvPr id="234" name=""/>
          <p:cNvSpPr/>
          <p:nvPr/>
        </p:nvSpPr>
        <p:spPr>
          <a:xfrm rot="0" flipH="0" flipV="0">
            <a:off x="4000500" y="4152900"/>
            <a:ext cx="7620000" cy="381000"/>
          </a:xfrm>
          <a:prstGeom prst="roundRect">
            <a:avLst>
              <a:gd name="adj" fmla="val 20000"/>
            </a:avLst>
          </a:prstGeom>
          <a:solidFill>
            <a:srgbClr val="1E3A5F"/>
          </a:solidFill>
          <a:ln/>
        </p:spPr>
        <p:txBody>
          <a:bodyPr/>
          <a:p/>
        </p:txBody>
      </p:sp>
      <p:sp>
        <p:nvSpPr>
          <p:cNvPr id="235" name="" descr="{&quot;isTemplate&quot;:true,&quot;type&quot;:&quot;text&quot;}"/>
          <p:cNvSpPr txBox="1"/>
          <p:nvPr/>
        </p:nvSpPr>
        <p:spPr>
          <a:xfrm rot="0" flipH="0" flipV="0">
            <a:off x="4191000" y="4248150"/>
            <a:ext cx="18097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思源黑体"/>
                <a:ea typeface="思源黑体"/>
              </a:rPr>
              <a:t>LangChain</a:t>
            </a:r>
            <a:endParaRPr/>
          </a:p>
        </p:txBody>
      </p:sp>
      <p:sp>
        <p:nvSpPr>
          <p:cNvPr id="236" name=""/>
          <p:cNvSpPr/>
          <p:nvPr/>
        </p:nvSpPr>
        <p:spPr>
          <a:xfrm rot="0" flipH="0" flipV="0">
            <a:off x="4000500" y="4610100"/>
            <a:ext cx="7620000" cy="381000"/>
          </a:xfrm>
          <a:prstGeom prst="roundRect">
            <a:avLst>
              <a:gd name="adj" fmla="val 20000"/>
            </a:avLst>
          </a:prstGeom>
          <a:solidFill>
            <a:srgbClr val="FF9F1C"/>
          </a:solidFill>
          <a:ln/>
        </p:spPr>
        <p:txBody>
          <a:bodyPr/>
          <a:p/>
        </p:txBody>
      </p:sp>
      <p:sp>
        <p:nvSpPr>
          <p:cNvPr id="237" name="" descr="{&quot;isTemplate&quot;:true,&quot;type&quot;:&quot;text&quot;}"/>
          <p:cNvSpPr txBox="1"/>
          <p:nvPr/>
        </p:nvSpPr>
        <p:spPr>
          <a:xfrm rot="0" flipH="0" flipV="0">
            <a:off x="4191000" y="4705350"/>
            <a:ext cx="18097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思源黑体"/>
                <a:ea typeface="思源黑体"/>
              </a:rPr>
              <a:t>LangChain-Core</a:t>
            </a:r>
            <a:endParaRPr/>
          </a:p>
        </p:txBody>
      </p:sp>
      <p:sp>
        <p:nvSpPr>
          <p:cNvPr id="238" name="" descr="{&quot;isTemplate&quot;:true,&quot;type&quot;:&quot;text&quot;}"/>
          <p:cNvSpPr txBox="1"/>
          <p:nvPr/>
        </p:nvSpPr>
        <p:spPr>
          <a:xfrm rot="0" flipH="0" flipV="0">
            <a:off x="6000750" y="1981200"/>
            <a:ext cx="54292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FFFFFF">
                    <a:alpha val="90000"/>
                  </a:srgbClr>
                </a:solidFill>
                <a:latin typeface="思源黑体"/>
                <a:ea typeface="思源黑体"/>
              </a:rPr>
              <a:t>调试</a:t>
            </a:r>
            <a:r>
              <a:rPr lang="en-US" sz="975">
                <a:solidFill>
                  <a:srgbClr val="FFFFFF">
                    <a:alpha val="90000"/>
                  </a:srgbClr>
                </a:solidFill>
                <a:latin typeface="思源黑体"/>
                <a:ea typeface="思源黑体"/>
              </a:rPr>
              <a:t> / </a:t>
            </a:r>
            <a:r>
              <a:rPr lang="zh-CN" sz="975">
                <a:solidFill>
                  <a:srgbClr val="FFFFFF">
                    <a:alpha val="90000"/>
                  </a:srgbClr>
                </a:solidFill>
                <a:latin typeface="思源黑体"/>
                <a:ea typeface="思源黑体"/>
              </a:rPr>
              <a:t>监控</a:t>
            </a:r>
            <a:r>
              <a:rPr lang="en-US" sz="975">
                <a:solidFill>
                  <a:srgbClr val="FFFFFF">
                    <a:alpha val="90000"/>
                  </a:srgbClr>
                </a:solidFill>
                <a:latin typeface="思源黑体"/>
                <a:ea typeface="思源黑体"/>
              </a:rPr>
              <a:t> / </a:t>
            </a:r>
            <a:r>
              <a:rPr lang="zh-CN" sz="975">
                <a:solidFill>
                  <a:srgbClr val="FFFFFF">
                    <a:alpha val="90000"/>
                  </a:srgbClr>
                </a:solidFill>
                <a:latin typeface="思源黑体"/>
                <a:ea typeface="思源黑体"/>
              </a:rPr>
              <a:t>评估平台</a:t>
            </a:r>
            <a:endParaRPr/>
          </a:p>
        </p:txBody>
      </p:sp>
      <p:sp>
        <p:nvSpPr>
          <p:cNvPr id="239" name="" descr="{&quot;isTemplate&quot;:true,&quot;type&quot;:&quot;text&quot;}"/>
          <p:cNvSpPr txBox="1"/>
          <p:nvPr/>
        </p:nvSpPr>
        <p:spPr>
          <a:xfrm rot="0" flipH="0" flipV="0">
            <a:off x="6000750" y="2438400"/>
            <a:ext cx="54292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FFFFFF">
                    <a:alpha val="90000"/>
                  </a:srgbClr>
                </a:solidFill>
                <a:latin typeface="思源黑体"/>
                <a:ea typeface="思源黑体"/>
              </a:rPr>
              <a:t>一键部署为</a:t>
            </a:r>
            <a:r>
              <a:rPr lang="en-US" sz="975">
                <a:solidFill>
                  <a:srgbClr val="FFFFFF">
                    <a:alpha val="90000"/>
                  </a:srgbClr>
                </a:solidFill>
                <a:latin typeface="思源黑体"/>
                <a:ea typeface="思源黑体"/>
              </a:rPr>
              <a:t> REST API</a:t>
            </a:r>
            <a:endParaRPr/>
          </a:p>
        </p:txBody>
      </p:sp>
      <p:sp>
        <p:nvSpPr>
          <p:cNvPr id="240" name="" descr="{&quot;isTemplate&quot;:true,&quot;type&quot;:&quot;text&quot;}"/>
          <p:cNvSpPr txBox="1"/>
          <p:nvPr/>
        </p:nvSpPr>
        <p:spPr>
          <a:xfrm rot="0" flipH="0" flipV="0">
            <a:off x="6000750" y="2895600"/>
            <a:ext cx="54292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FFFFFF">
                    <a:alpha val="90000"/>
                  </a:srgbClr>
                </a:solidFill>
                <a:latin typeface="思源黑体"/>
                <a:ea typeface="思源黑体"/>
              </a:rPr>
              <a:t>图工作流：循环</a:t>
            </a:r>
            <a:r>
              <a:rPr lang="en-US" sz="975">
                <a:solidFill>
                  <a:srgbClr val="FFFFFF">
                    <a:alpha val="90000"/>
                  </a:srgbClr>
                </a:solidFill>
                <a:latin typeface="思源黑体"/>
                <a:ea typeface="思源黑体"/>
              </a:rPr>
              <a:t> / </a:t>
            </a:r>
            <a:r>
              <a:rPr lang="zh-CN" sz="975">
                <a:solidFill>
                  <a:srgbClr val="FFFFFF">
                    <a:alpha val="90000"/>
                  </a:srgbClr>
                </a:solidFill>
                <a:latin typeface="思源黑体"/>
                <a:ea typeface="思源黑体"/>
              </a:rPr>
              <a:t>状态</a:t>
            </a:r>
            <a:r>
              <a:rPr lang="en-US" sz="975">
                <a:solidFill>
                  <a:srgbClr val="FFFFFF">
                    <a:alpha val="90000"/>
                  </a:srgbClr>
                </a:solidFill>
                <a:latin typeface="思源黑体"/>
                <a:ea typeface="思源黑体"/>
              </a:rPr>
              <a:t> / </a:t>
            </a:r>
            <a:r>
              <a:rPr lang="zh-CN" sz="975">
                <a:solidFill>
                  <a:srgbClr val="FFFFFF">
                    <a:alpha val="90000"/>
                  </a:srgbClr>
                </a:solidFill>
                <a:latin typeface="思源黑体"/>
                <a:ea typeface="思源黑体"/>
              </a:rPr>
              <a:t>多智能体</a:t>
            </a:r>
            <a:endParaRPr/>
          </a:p>
        </p:txBody>
      </p:sp>
      <p:sp>
        <p:nvSpPr>
          <p:cNvPr id="241" name="" descr="{&quot;isTemplate&quot;:true,&quot;type&quot;:&quot;text&quot;}"/>
          <p:cNvSpPr txBox="1"/>
          <p:nvPr/>
        </p:nvSpPr>
        <p:spPr>
          <a:xfrm rot="0" flipH="0" flipV="0">
            <a:off x="6000750" y="3352800"/>
            <a:ext cx="54292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FFFFFF">
                    <a:alpha val="90000"/>
                  </a:srgbClr>
                </a:solidFill>
                <a:latin typeface="思源黑体"/>
                <a:ea typeface="思源黑体"/>
              </a:rPr>
              <a:t>社区维护的扩展包</a:t>
            </a:r>
            <a:endParaRPr/>
          </a:p>
        </p:txBody>
      </p:sp>
      <p:sp>
        <p:nvSpPr>
          <p:cNvPr id="242" name="" descr="{&quot;isTemplate&quot;:true,&quot;type&quot;:&quot;text&quot;}"/>
          <p:cNvSpPr txBox="1"/>
          <p:nvPr/>
        </p:nvSpPr>
        <p:spPr>
          <a:xfrm rot="0" flipH="0" flipV="0">
            <a:off x="6000750" y="3810000"/>
            <a:ext cx="54292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FFFFFF">
                    <a:alpha val="90000"/>
                  </a:srgbClr>
                </a:solidFill>
                <a:latin typeface="思源黑体"/>
                <a:ea typeface="思源黑体"/>
              </a:rPr>
              <a:t>第三方集成：模型</a:t>
            </a:r>
            <a:r>
              <a:rPr lang="en-US" sz="975">
                <a:solidFill>
                  <a:srgbClr val="FFFFFF">
                    <a:alpha val="90000"/>
                  </a:srgbClr>
                </a:solidFill>
                <a:latin typeface="思源黑体"/>
                <a:ea typeface="思源黑体"/>
              </a:rPr>
              <a:t> / </a:t>
            </a:r>
            <a:r>
              <a:rPr lang="zh-CN" sz="975">
                <a:solidFill>
                  <a:srgbClr val="FFFFFF">
                    <a:alpha val="90000"/>
                  </a:srgbClr>
                </a:solidFill>
                <a:latin typeface="思源黑体"/>
                <a:ea typeface="思源黑体"/>
              </a:rPr>
              <a:t>向量库</a:t>
            </a:r>
            <a:endParaRPr/>
          </a:p>
        </p:txBody>
      </p:sp>
      <p:sp>
        <p:nvSpPr>
          <p:cNvPr id="243" name="" descr="{&quot;isTemplate&quot;:true,&quot;type&quot;:&quot;text&quot;}"/>
          <p:cNvSpPr txBox="1"/>
          <p:nvPr/>
        </p:nvSpPr>
        <p:spPr>
          <a:xfrm rot="0" flipH="0" flipV="0">
            <a:off x="6000750" y="4267200"/>
            <a:ext cx="54292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FFFFFF">
                    <a:alpha val="90000"/>
                  </a:srgbClr>
                </a:solidFill>
                <a:latin typeface="思源黑体"/>
                <a:ea typeface="思源黑体"/>
              </a:rPr>
              <a:t>高级链与智能体编排</a:t>
            </a:r>
            <a:endParaRPr/>
          </a:p>
        </p:txBody>
      </p:sp>
      <p:sp>
        <p:nvSpPr>
          <p:cNvPr id="244" name="" descr="{&quot;isTemplate&quot;:true,&quot;type&quot;:&quot;text&quot;}"/>
          <p:cNvSpPr txBox="1"/>
          <p:nvPr/>
        </p:nvSpPr>
        <p:spPr>
          <a:xfrm rot="0" flipH="0" flipV="0">
            <a:off x="6000750" y="4724400"/>
            <a:ext cx="54292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FFFFFF">
                    <a:alpha val="90000"/>
                  </a:srgbClr>
                </a:solidFill>
                <a:latin typeface="思源黑体"/>
                <a:ea typeface="思源黑体"/>
              </a:rPr>
              <a:t>核心抽象：</a:t>
            </a:r>
            <a:r>
              <a:rPr lang="en-US" sz="975">
                <a:solidFill>
                  <a:srgbClr val="FFFFFF">
                    <a:alpha val="90000"/>
                  </a:srgbClr>
                </a:solidFill>
                <a:latin typeface="思源黑体"/>
                <a:ea typeface="思源黑体"/>
              </a:rPr>
              <a:t>Runnable / </a:t>
            </a:r>
            <a:r>
              <a:rPr lang="zh-CN" sz="975">
                <a:solidFill>
                  <a:srgbClr val="FFFFFF">
                    <a:alpha val="90000"/>
                  </a:srgbClr>
                </a:solidFill>
                <a:latin typeface="思源黑体"/>
                <a:ea typeface="思源黑体"/>
              </a:rPr>
              <a:t>消息</a:t>
            </a:r>
            <a:r>
              <a:rPr lang="en-US" sz="975">
                <a:solidFill>
                  <a:srgbClr val="FFFFFF">
                    <a:alpha val="90000"/>
                  </a:srgbClr>
                </a:solidFill>
                <a:latin typeface="思源黑体"/>
                <a:ea typeface="思源黑体"/>
              </a:rPr>
              <a:t> / </a:t>
            </a:r>
            <a:r>
              <a:rPr lang="zh-CN" sz="975">
                <a:solidFill>
                  <a:srgbClr val="FFFFFF">
                    <a:alpha val="90000"/>
                  </a:srgbClr>
                </a:solidFill>
                <a:latin typeface="思源黑体"/>
                <a:ea typeface="思源黑体"/>
              </a:rPr>
              <a:t>工具</a:t>
            </a:r>
            <a:endParaRPr/>
          </a:p>
        </p:txBody>
      </p:sp>
      <p:sp>
        <p:nvSpPr>
          <p:cNvPr id="245" name="" descr="{&quot;isTemplate&quot;:true,&quot;type&quot;:&quot;text&quot;}"/>
          <p:cNvSpPr txBox="1"/>
          <p:nvPr/>
        </p:nvSpPr>
        <p:spPr>
          <a:xfrm rot="0" flipH="0" flipV="0">
            <a:off x="571500" y="6562725"/>
            <a:ext cx="12477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AI </a:t>
            </a: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从零开始</a:t>
            </a: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 · </a:t>
            </a: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第</a:t>
            </a: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 4 </a:t>
            </a: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讲</a:t>
            </a:r>
            <a:endParaRPr/>
          </a:p>
        </p:txBody>
      </p:sp>
      <p:sp>
        <p:nvSpPr>
          <p:cNvPr id="246" name="" descr="{&quot;isTemplate&quot;:true,&quot;type&quot;:&quot;text&quot;}"/>
          <p:cNvSpPr txBox="1"/>
          <p:nvPr/>
        </p:nvSpPr>
        <p:spPr>
          <a:xfrm rot="0" flipH="0" flipV="0">
            <a:off x="11210925" y="6562725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05 / 14</a:t>
            </a:r>
            <a:endParaRPr/>
          </a:p>
        </p:txBody>
      </p:sp>
    </p:spTree>
  </p:cSld>
</p:sld>
</file>

<file path=ppt/slides/slide6.xml><?xml version="1.0" encoding="utf-8"?>
<p:sld xmlns:a="http://schemas.openxmlformats.org/drawingml/2006/main" xmlns:p="http://schemas.openxmlformats.org/presentationml/2006/main">
  <p:cSld>
    <p:spTree>
      <p:nvGrpSpPr>
        <p:cNvPr id="247" name="" descr="&lt;Slide&#10;  style={{&#10;    width: '1280px', height: '720px',&#10;    background: '#16263F',&#10;    padding: '20px 60px',&#10;    fontFamily: '&quot;思源黑体&quot;, sans-serif',&#10;  }}&#10;&gt;&#10;  &lt;Box style={{ width: '100%', height: '100%', flexDirection: 'row', gap: 44 }}&gt;&#10;    &lt;Box style={{ flex: 1, flexDirection: 'column', justifyContent: 'center' }}&gt;&#10;      &lt;Text style={{ fontSize: 14, color: '#22D3EE', fontWeight: 'bold', letterSpacing: 3, marginBottom: 14 }}&gt;FIRST CALL · 第一次调用&lt;/Text&gt;&#10;      &lt;Box style={{ flexDirection: 'row', gap: 20, alignItems: 'flex-end', marginBottom: 20 }}&gt;&#10;        &lt;Text style={{ fontSize: 68, color: '#FF9F1C', fontWeight: 'bold', lineHeight: 1 }}&gt;5&lt;/Text&gt;&#10;        &lt;Text style={{ fontSize: 24, color: '#FFFFFF', fontWeight: 'bold', paddingBottom: 10 }}&gt;行代码&lt;br /&gt;跑通对话&lt;/Text&gt;&#10;      &lt;/Box&gt;&#10;      &lt;Text style={{ fontSize: 16, color: '#DCE7F5', lineHeight: 1.8 }}&gt;&#10;        &lt;span style={{ color: '#FF9F1C', fontWeight: 'bold' }}&gt;prompt | llm | StrOutputParser&lt;/span&gt;——用管道符 &lt;span style={{ fontFamily: '&quot;JetBrains Mono&quot;, monospace', color: '#22D3EE' }}&gt;|&lt;/span&gt; 把三个组件串成一条链，输出即干净的字符串。&#10;      &lt;/Text&gt;&#10;      &lt;Box style={{ marginTop: 22, background: 'rgba(255,159,28,0.12)', border: '1px solid rgba(255,159,28,0.3)', borderRadius: 10, padding: '14px 18px' }}&gt;&#10;        &lt;Text style={{ fontSize: 14, color: '#FF9F1C', fontWeight: 'bold' }}&gt;&#10;          这就是 LCEL 的最小闭环：组件化 + 管道串联&#10;        &lt;/Text&gt;&#10;      &lt;/Box&gt;&#10;    &lt;/Box&gt;&#10;&#10;    &lt;Box style={{ flex: 1, justifyContent: 'center' }}&gt;&#10;      &lt;CodeBlock&#10;        code={`from langchain_core.prompts import ChatPromptTemplate&#10;from langchain_core.output_parsers import StrOutputParser&#10;from langchain_openai import ChatOpenAI&#10;&#10;prompt = ChatPromptTemplate.from_template(&quot;{topic} 是什么？&quot;)&#10;llm = ChatOpenAI(model=&quot;deepseek-v4-flash&quot;)&#10;chain = prompt | llm | StrOutputParser()&#10;&#10;print(chain.invoke({&quot;topic&quot;: &quot;LangChain&quot;}))`}&#10;        language='python'&#10;        width={560}&#10;        fontSize={14}&#10;      /&gt;&#10;    &lt;/Box&gt;&#10;  &lt;/Box&gt;&#10;  &lt;Box style={{ position: 'absolute', bottom: 14, left: 60, right: 60, flexDirection: 'row', justifyContent: 'space-between' }}&gt;&#10;    &lt;Text style={{ fontSize: 14, color: '#8FA4B8' }}&gt;AI 从零开始 · 第 4 讲&lt;/Text&gt;&#10;    &lt;Text style={{ fontSize: 14, color: '#8FA4B8' }}&gt;06 / 14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16263F"/>
          </a:solidFill>
          <a:ln/>
        </p:spPr>
        <p:txBody>
          <a:bodyPr/>
          <a:p/>
        </p:txBody>
      </p:sp>
      <p:sp>
        <p:nvSpPr>
          <p:cNvPr id="249" name="" descr="{&quot;isTemplate&quot;:true,&quot;type&quot;:&quot;text&quot;}"/>
          <p:cNvSpPr txBox="1"/>
          <p:nvPr/>
        </p:nvSpPr>
        <p:spPr>
          <a:xfrm rot="0" flipH="0" flipV="0">
            <a:off x="571500" y="2143125"/>
            <a:ext cx="53149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 spc="225">
                <a:solidFill>
                  <a:srgbClr val="22D3EE"/>
                </a:solidFill>
                <a:latin typeface="思源黑体"/>
                <a:ea typeface="思源黑体"/>
              </a:rPr>
              <a:t>FIRST CALL · </a:t>
            </a:r>
            <a:r>
              <a:rPr lang="zh-CN" sz="1050" b="1" spc="225">
                <a:solidFill>
                  <a:srgbClr val="22D3EE"/>
                </a:solidFill>
                <a:latin typeface="思源黑体"/>
                <a:ea typeface="思源黑体"/>
              </a:rPr>
              <a:t>第一次调用</a:t>
            </a:r>
            <a:endParaRPr/>
          </a:p>
        </p:txBody>
      </p:sp>
      <p:sp>
        <p:nvSpPr>
          <p:cNvPr id="250" name="" descr="{&quot;isTemplate&quot;:true,&quot;type&quot;:&quot;text&quot;}"/>
          <p:cNvSpPr txBox="1"/>
          <p:nvPr/>
        </p:nvSpPr>
        <p:spPr>
          <a:xfrm rot="0" flipH="0" flipV="0">
            <a:off x="571500" y="2438400"/>
            <a:ext cx="361950" cy="7810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5100" b="1">
                <a:solidFill>
                  <a:srgbClr val="FF9F1C"/>
                </a:solidFill>
                <a:latin typeface="思源黑体"/>
                <a:ea typeface="思源黑体"/>
              </a:rPr>
              <a:t>5</a:t>
            </a:r>
            <a:endParaRPr/>
          </a:p>
        </p:txBody>
      </p:sp>
      <p:sp>
        <p:nvSpPr>
          <p:cNvPr id="251" name="" descr="{&quot;isTemplate&quot;:true,&quot;type&quot;:&quot;text&quot;}"/>
          <p:cNvSpPr txBox="1"/>
          <p:nvPr/>
        </p:nvSpPr>
        <p:spPr>
          <a:xfrm rot="0" flipH="0" flipV="0">
            <a:off x="1123950" y="2571750"/>
            <a:ext cx="933450" cy="647700"/>
          </a:xfrm>
          <a:prstGeom prst="rect"/>
        </p:spPr>
        <p:txBody>
          <a:bodyPr wrap="none" lIns="0" tIns="0" rIns="0" bIns="71438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FFFFFF"/>
                </a:solidFill>
                <a:latin typeface="思源黑体"/>
                <a:ea typeface="思源黑体"/>
              </a:rPr>
              <a:t>行代码</a:t>
            </a:r>
            <a:endParaRPr/>
          </a:p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FFFFFF"/>
                </a:solidFill>
                <a:latin typeface="思源黑体"/>
                <a:ea typeface="思源黑体"/>
              </a:rPr>
              <a:t>跑通对话</a:t>
            </a:r>
            <a:endParaRPr/>
          </a:p>
        </p:txBody>
      </p:sp>
      <p:sp>
        <p:nvSpPr>
          <p:cNvPr id="252" name="" descr="{&quot;isTemplate&quot;:true,&quot;type&quot;:&quot;text&quot;}"/>
          <p:cNvSpPr txBox="1"/>
          <p:nvPr/>
        </p:nvSpPr>
        <p:spPr>
          <a:xfrm rot="0" flipH="0" flipV="0">
            <a:off x="571500" y="3409950"/>
            <a:ext cx="5314950" cy="6667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en-US" sz="1200" b="1">
                <a:solidFill>
                  <a:srgbClr val="FF9F1C"/>
                </a:solidFill>
                <a:latin typeface="思源黑体"/>
                <a:ea typeface="思源黑体"/>
              </a:rPr>
              <a:t>prompt | llm | StrOutputParser</a:t>
            </a:r>
            <a:r>
              <a:rPr lang="zh-CN" sz="1200">
                <a:solidFill>
                  <a:srgbClr val="DCE7F5"/>
                </a:solidFill>
                <a:latin typeface="思源黑体"/>
                <a:ea typeface="思源黑体"/>
              </a:rPr>
              <a:t>——用管道符</a:t>
            </a:r>
            <a:r>
              <a:rPr lang="en-US" sz="1200">
                <a:solidFill>
                  <a:srgbClr val="DCE7F5"/>
                </a:solidFill>
                <a:latin typeface="思源黑体"/>
                <a:ea typeface="思源黑体"/>
              </a:rPr>
              <a:t> </a:t>
            </a:r>
            <a:r>
              <a:rPr lang="en-US" sz="1200">
                <a:solidFill>
                  <a:srgbClr val="22D3EE"/>
                </a:solidFill>
                <a:latin typeface="思源黑体"/>
                <a:ea typeface="思源黑体"/>
              </a:rPr>
              <a:t>|</a:t>
            </a:r>
            <a:r>
              <a:rPr lang="en-US" sz="1200">
                <a:solidFill>
                  <a:srgbClr val="DCE7F5"/>
                </a:solidFill>
                <a:latin typeface="思源黑体"/>
                <a:ea typeface="思源黑体"/>
              </a:rPr>
              <a:t> </a:t>
            </a:r>
            <a:r>
              <a:rPr lang="zh-CN" sz="1200">
                <a:solidFill>
                  <a:srgbClr val="DCE7F5"/>
                </a:solidFill>
                <a:latin typeface="思源黑体"/>
                <a:ea typeface="思源黑体"/>
              </a:rPr>
              <a:t>把三个组件串成一条链，输出即干净的字符串。</a:t>
            </a:r>
            <a:endParaRPr/>
          </a:p>
        </p:txBody>
      </p:sp>
      <p:sp>
        <p:nvSpPr>
          <p:cNvPr id="253" name=""/>
          <p:cNvSpPr/>
          <p:nvPr/>
        </p:nvSpPr>
        <p:spPr>
          <a:xfrm rot="0" flipH="0" flipV="0">
            <a:off x="571500" y="4286250"/>
            <a:ext cx="5314950" cy="428625"/>
          </a:xfrm>
          <a:prstGeom prst="roundRect">
            <a:avLst>
              <a:gd name="adj" fmla="val 22222"/>
            </a:avLst>
          </a:prstGeom>
          <a:solidFill>
            <a:srgbClr val="FF9F1C">
              <a:alpha val="12000"/>
            </a:srgbClr>
          </a:solidFill>
          <a:ln w="12700">
            <a:solidFill>
              <a:srgbClr val="FF9F1C">
                <a:alpha val="3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54" name="" descr="{&quot;isTemplate&quot;:true,&quot;type&quot;:&quot;text&quot;}"/>
          <p:cNvSpPr txBox="1"/>
          <p:nvPr/>
        </p:nvSpPr>
        <p:spPr>
          <a:xfrm rot="0" flipH="0" flipV="0">
            <a:off x="742950" y="4419600"/>
            <a:ext cx="4972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F9F1C"/>
                </a:solidFill>
                <a:latin typeface="思源黑体"/>
                <a:ea typeface="思源黑体"/>
              </a:rPr>
              <a:t>这就是</a:t>
            </a:r>
            <a:r>
              <a:rPr lang="en-US" sz="1050" b="1">
                <a:solidFill>
                  <a:srgbClr val="FF9F1C"/>
                </a:solidFill>
                <a:latin typeface="思源黑体"/>
                <a:ea typeface="思源黑体"/>
              </a:rPr>
              <a:t> LCEL </a:t>
            </a:r>
            <a:r>
              <a:rPr lang="zh-CN" sz="1050" b="1">
                <a:solidFill>
                  <a:srgbClr val="FF9F1C"/>
                </a:solidFill>
                <a:latin typeface="思源黑体"/>
                <a:ea typeface="思源黑体"/>
              </a:rPr>
              <a:t>的最小闭环：组件化</a:t>
            </a:r>
            <a:r>
              <a:rPr lang="en-US" sz="1050" b="1">
                <a:solidFill>
                  <a:srgbClr val="FF9F1C"/>
                </a:solidFill>
                <a:latin typeface="思源黑体"/>
                <a:ea typeface="思源黑体"/>
              </a:rPr>
              <a:t> + </a:t>
            </a:r>
            <a:r>
              <a:rPr lang="zh-CN" sz="1050" b="1">
                <a:solidFill>
                  <a:srgbClr val="FF9F1C"/>
                </a:solidFill>
                <a:latin typeface="思源黑体"/>
                <a:ea typeface="思源黑体"/>
              </a:rPr>
              <a:t>管道串联</a:t>
            </a:r>
            <a:endParaRPr/>
          </a:p>
        </p:txBody>
      </p:sp>
      <p:sp>
        <p:nvSpPr>
          <p:cNvPr id="255" name=""/>
          <p:cNvSpPr/>
          <p:nvPr/>
        </p:nvSpPr>
        <p:spPr>
          <a:xfrm rot="0" flipH="0" flipV="0">
            <a:off x="6305550" y="2286000"/>
            <a:ext cx="5314950" cy="2286000"/>
          </a:xfrm>
          <a:prstGeom prst="roundRect">
            <a:avLst>
              <a:gd name="adj" fmla="val 3333"/>
            </a:avLst>
          </a:prstGeom>
          <a:solidFill>
            <a:srgbClr val="F6F8FA"/>
          </a:solidFill>
          <a:ln/>
        </p:spPr>
        <p:txBody>
          <a:bodyPr/>
          <a:p/>
        </p:txBody>
      </p:sp>
      <p:sp>
        <p:nvSpPr>
          <p:cNvPr id="256" name=""/>
          <p:cNvSpPr txBox="1"/>
          <p:nvPr/>
        </p:nvSpPr>
        <p:spPr>
          <a:xfrm rot="0" flipH="0" flipV="0">
            <a:off x="6457950" y="2419350"/>
            <a:ext cx="5010150" cy="20193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sz="1050">
                <a:solidFill>
                  <a:srgbClr val="D73A49"/>
                </a:solidFill>
                <a:latin typeface="Menlo"/>
                <a:ea typeface="Menlo"/>
              </a:rPr>
              <a:t>from</a:t>
            </a:r>
            <a:r>
              <a:rPr sz="1050">
                <a:solidFill>
                  <a:srgbClr val="24292E"/>
                </a:solidFill>
                <a:latin typeface="Menlo"/>
                <a:ea typeface="Menlo"/>
              </a:rPr>
              <a:t> langchain_core.prompts </a:t>
            </a:r>
            <a:r>
              <a:rPr sz="1050">
                <a:solidFill>
                  <a:srgbClr val="D73A49"/>
                </a:solidFill>
                <a:latin typeface="Menlo"/>
                <a:ea typeface="Menlo"/>
              </a:rPr>
              <a:t>import</a:t>
            </a:r>
            <a:r>
              <a:rPr sz="1050">
                <a:solidFill>
                  <a:srgbClr val="24292E"/>
                </a:solidFill>
                <a:latin typeface="Menlo"/>
                <a:ea typeface="Menlo"/>
              </a:rPr>
              <a:t> ChatPromptTemplate</a:t>
            </a:r>
            <a:endParaRPr/>
          </a:p>
          <a:p>
            <a:pPr>
              <a:lnSpc>
                <a:spcPct val="140000"/>
              </a:lnSpc>
            </a:pPr>
            <a:r>
              <a:rPr sz="1050">
                <a:solidFill>
                  <a:srgbClr val="D73A49"/>
                </a:solidFill>
                <a:latin typeface="Menlo"/>
                <a:ea typeface="Menlo"/>
              </a:rPr>
              <a:t>from</a:t>
            </a:r>
            <a:r>
              <a:rPr sz="1050">
                <a:solidFill>
                  <a:srgbClr val="24292E"/>
                </a:solidFill>
                <a:latin typeface="Menlo"/>
                <a:ea typeface="Menlo"/>
              </a:rPr>
              <a:t> langchain_core.output_parsers </a:t>
            </a:r>
            <a:r>
              <a:rPr sz="1050">
                <a:solidFill>
                  <a:srgbClr val="D73A49"/>
                </a:solidFill>
                <a:latin typeface="Menlo"/>
                <a:ea typeface="Menlo"/>
              </a:rPr>
              <a:t>import</a:t>
            </a:r>
            <a:r>
              <a:rPr sz="1050">
                <a:solidFill>
                  <a:srgbClr val="24292E"/>
                </a:solidFill>
                <a:latin typeface="Menlo"/>
                <a:ea typeface="Menlo"/>
              </a:rPr>
              <a:t> StrOutputParser</a:t>
            </a:r>
            <a:endParaRPr/>
          </a:p>
          <a:p>
            <a:pPr>
              <a:lnSpc>
                <a:spcPct val="140000"/>
              </a:lnSpc>
            </a:pPr>
            <a:r>
              <a:rPr sz="1050">
                <a:solidFill>
                  <a:srgbClr val="D73A49"/>
                </a:solidFill>
                <a:latin typeface="Menlo"/>
                <a:ea typeface="Menlo"/>
              </a:rPr>
              <a:t>from</a:t>
            </a:r>
            <a:r>
              <a:rPr sz="1050">
                <a:solidFill>
                  <a:srgbClr val="24292E"/>
                </a:solidFill>
                <a:latin typeface="Menlo"/>
                <a:ea typeface="Menlo"/>
              </a:rPr>
              <a:t> langchain_openai </a:t>
            </a:r>
            <a:r>
              <a:rPr sz="1050">
                <a:solidFill>
                  <a:srgbClr val="D73A49"/>
                </a:solidFill>
                <a:latin typeface="Menlo"/>
                <a:ea typeface="Menlo"/>
              </a:rPr>
              <a:t>import</a:t>
            </a:r>
            <a:r>
              <a:rPr sz="1050">
                <a:solidFill>
                  <a:srgbClr val="24292E"/>
                </a:solidFill>
                <a:latin typeface="Menlo"/>
                <a:ea typeface="Menlo"/>
              </a:rPr>
              <a:t> ChatOpenAI</a:t>
            </a:r>
            <a:endParaRPr/>
          </a:p>
          <a:p>
            <a:pPr>
              <a:lnSpc>
                <a:spcPct val="140000"/>
              </a:lnSpc>
            </a:pPr>
            <a:r>
              <a:rPr sz="1050">
                <a:solidFill>
                  <a:srgbClr val="E5E7EB"/>
                </a:solidFill>
                <a:latin typeface="Menlo"/>
                <a:ea typeface="Menlo"/>
              </a:rPr>
              <a:t> </a:t>
            </a:r>
            <a:endParaRPr/>
          </a:p>
          <a:p>
            <a:pPr>
              <a:lnSpc>
                <a:spcPct val="140000"/>
              </a:lnSpc>
            </a:pPr>
            <a:r>
              <a:rPr sz="1050">
                <a:solidFill>
                  <a:srgbClr val="24292E"/>
                </a:solidFill>
                <a:latin typeface="Menlo"/>
                <a:ea typeface="Menlo"/>
              </a:rPr>
              <a:t>prompt </a:t>
            </a:r>
            <a:r>
              <a:rPr sz="1050">
                <a:solidFill>
                  <a:srgbClr val="D73A49"/>
                </a:solidFill>
                <a:latin typeface="Menlo"/>
                <a:ea typeface="Menlo"/>
              </a:rPr>
              <a:t>=</a:t>
            </a:r>
            <a:r>
              <a:rPr sz="1050">
                <a:solidFill>
                  <a:srgbClr val="24292E"/>
                </a:solidFill>
                <a:latin typeface="Menlo"/>
                <a:ea typeface="Menlo"/>
              </a:rPr>
              <a:t> ChatPromptTemplate.from_template(</a:t>
            </a:r>
            <a:r>
              <a:rPr sz="1050">
                <a:solidFill>
                  <a:srgbClr val="032F62"/>
                </a:solidFill>
                <a:latin typeface="Menlo"/>
                <a:ea typeface="Menlo"/>
              </a:rPr>
              <a:t>"</a:t>
            </a:r>
            <a:r>
              <a:rPr sz="1050">
                <a:solidFill>
                  <a:srgbClr val="005CC5"/>
                </a:solidFill>
                <a:latin typeface="Menlo"/>
                <a:ea typeface="Menlo"/>
              </a:rPr>
              <a:t>{topic}</a:t>
            </a:r>
            <a:r>
              <a:rPr sz="1050">
                <a:solidFill>
                  <a:srgbClr val="032F62"/>
                </a:solidFill>
                <a:latin typeface="Menlo"/>
                <a:ea typeface="Menlo"/>
              </a:rPr>
              <a:t> 是什么？"</a:t>
            </a:r>
            <a:r>
              <a:rPr sz="1050">
                <a:solidFill>
                  <a:srgbClr val="24292E"/>
                </a:solidFill>
                <a:latin typeface="Menlo"/>
                <a:ea typeface="Menlo"/>
              </a:rPr>
              <a:t>)</a:t>
            </a:r>
            <a:endParaRPr/>
          </a:p>
          <a:p>
            <a:pPr>
              <a:lnSpc>
                <a:spcPct val="140000"/>
              </a:lnSpc>
            </a:pPr>
            <a:r>
              <a:rPr sz="1050">
                <a:solidFill>
                  <a:srgbClr val="24292E"/>
                </a:solidFill>
                <a:latin typeface="Menlo"/>
                <a:ea typeface="Menlo"/>
              </a:rPr>
              <a:t>llm </a:t>
            </a:r>
            <a:r>
              <a:rPr sz="1050">
                <a:solidFill>
                  <a:srgbClr val="D73A49"/>
                </a:solidFill>
                <a:latin typeface="Menlo"/>
                <a:ea typeface="Menlo"/>
              </a:rPr>
              <a:t>=</a:t>
            </a:r>
            <a:r>
              <a:rPr sz="1050">
                <a:solidFill>
                  <a:srgbClr val="24292E"/>
                </a:solidFill>
                <a:latin typeface="Menlo"/>
                <a:ea typeface="Menlo"/>
              </a:rPr>
              <a:t> ChatOpenAI(</a:t>
            </a:r>
            <a:r>
              <a:rPr sz="1050">
                <a:solidFill>
                  <a:srgbClr val="E36209"/>
                </a:solidFill>
                <a:latin typeface="Menlo"/>
                <a:ea typeface="Menlo"/>
              </a:rPr>
              <a:t>model</a:t>
            </a:r>
            <a:r>
              <a:rPr sz="1050">
                <a:solidFill>
                  <a:srgbClr val="D73A49"/>
                </a:solidFill>
                <a:latin typeface="Menlo"/>
                <a:ea typeface="Menlo"/>
              </a:rPr>
              <a:t>=</a:t>
            </a:r>
            <a:r>
              <a:rPr sz="1050">
                <a:solidFill>
                  <a:srgbClr val="032F62"/>
                </a:solidFill>
                <a:latin typeface="Menlo"/>
                <a:ea typeface="Menlo"/>
              </a:rPr>
              <a:t>"deepseek-v4-flash"</a:t>
            </a:r>
            <a:r>
              <a:rPr sz="1050">
                <a:solidFill>
                  <a:srgbClr val="24292E"/>
                </a:solidFill>
                <a:latin typeface="Menlo"/>
                <a:ea typeface="Menlo"/>
              </a:rPr>
              <a:t>)</a:t>
            </a:r>
            <a:endParaRPr/>
          </a:p>
          <a:p>
            <a:pPr>
              <a:lnSpc>
                <a:spcPct val="140000"/>
              </a:lnSpc>
            </a:pPr>
            <a:r>
              <a:rPr sz="1050">
                <a:solidFill>
                  <a:srgbClr val="24292E"/>
                </a:solidFill>
                <a:latin typeface="Menlo"/>
                <a:ea typeface="Menlo"/>
              </a:rPr>
              <a:t>chain </a:t>
            </a:r>
            <a:r>
              <a:rPr sz="1050">
                <a:solidFill>
                  <a:srgbClr val="D73A49"/>
                </a:solidFill>
                <a:latin typeface="Menlo"/>
                <a:ea typeface="Menlo"/>
              </a:rPr>
              <a:t>=</a:t>
            </a:r>
            <a:r>
              <a:rPr sz="1050">
                <a:solidFill>
                  <a:srgbClr val="24292E"/>
                </a:solidFill>
                <a:latin typeface="Menlo"/>
                <a:ea typeface="Menlo"/>
              </a:rPr>
              <a:t> prompt </a:t>
            </a:r>
            <a:r>
              <a:rPr sz="1050">
                <a:solidFill>
                  <a:srgbClr val="D73A49"/>
                </a:solidFill>
                <a:latin typeface="Menlo"/>
                <a:ea typeface="Menlo"/>
              </a:rPr>
              <a:t>|</a:t>
            </a:r>
            <a:r>
              <a:rPr sz="1050">
                <a:solidFill>
                  <a:srgbClr val="24292E"/>
                </a:solidFill>
                <a:latin typeface="Menlo"/>
                <a:ea typeface="Menlo"/>
              </a:rPr>
              <a:t> llm </a:t>
            </a:r>
            <a:r>
              <a:rPr sz="1050">
                <a:solidFill>
                  <a:srgbClr val="D73A49"/>
                </a:solidFill>
                <a:latin typeface="Menlo"/>
                <a:ea typeface="Menlo"/>
              </a:rPr>
              <a:t>|</a:t>
            </a:r>
            <a:r>
              <a:rPr sz="1050">
                <a:solidFill>
                  <a:srgbClr val="24292E"/>
                </a:solidFill>
                <a:latin typeface="Menlo"/>
                <a:ea typeface="Menlo"/>
              </a:rPr>
              <a:t> StrOutputParser()</a:t>
            </a:r>
            <a:endParaRPr/>
          </a:p>
          <a:p>
            <a:pPr>
              <a:lnSpc>
                <a:spcPct val="140000"/>
              </a:lnSpc>
            </a:pPr>
            <a:r>
              <a:rPr sz="1050">
                <a:solidFill>
                  <a:srgbClr val="E5E7EB"/>
                </a:solidFill>
                <a:latin typeface="Menlo"/>
                <a:ea typeface="Menlo"/>
              </a:rPr>
              <a:t> </a:t>
            </a:r>
            <a:endParaRPr/>
          </a:p>
          <a:p>
            <a:pPr>
              <a:lnSpc>
                <a:spcPct val="140000"/>
              </a:lnSpc>
            </a:pPr>
            <a:r>
              <a:rPr sz="1050">
                <a:solidFill>
                  <a:srgbClr val="005CC5"/>
                </a:solidFill>
                <a:latin typeface="Menlo"/>
                <a:ea typeface="Menlo"/>
              </a:rPr>
              <a:t>print</a:t>
            </a:r>
            <a:r>
              <a:rPr sz="1050">
                <a:solidFill>
                  <a:srgbClr val="24292E"/>
                </a:solidFill>
                <a:latin typeface="Menlo"/>
                <a:ea typeface="Menlo"/>
              </a:rPr>
              <a:t>(chain.invoke({</a:t>
            </a:r>
            <a:r>
              <a:rPr sz="1050">
                <a:solidFill>
                  <a:srgbClr val="032F62"/>
                </a:solidFill>
                <a:latin typeface="Menlo"/>
                <a:ea typeface="Menlo"/>
              </a:rPr>
              <a:t>"topic"</a:t>
            </a:r>
            <a:r>
              <a:rPr sz="1050">
                <a:solidFill>
                  <a:srgbClr val="24292E"/>
                </a:solidFill>
                <a:latin typeface="Menlo"/>
                <a:ea typeface="Menlo"/>
              </a:rPr>
              <a:t>: </a:t>
            </a:r>
            <a:r>
              <a:rPr sz="1050">
                <a:solidFill>
                  <a:srgbClr val="032F62"/>
                </a:solidFill>
                <a:latin typeface="Menlo"/>
                <a:ea typeface="Menlo"/>
              </a:rPr>
              <a:t>"LangChain"</a:t>
            </a:r>
            <a:r>
              <a:rPr sz="1050">
                <a:solidFill>
                  <a:srgbClr val="24292E"/>
                </a:solidFill>
                <a:latin typeface="Menlo"/>
                <a:ea typeface="Menlo"/>
              </a:rPr>
              <a:t>}))</a:t>
            </a:r>
            <a:endParaRPr/>
          </a:p>
        </p:txBody>
      </p:sp>
      <p:sp>
        <p:nvSpPr>
          <p:cNvPr id="257" name="" descr="{&quot;isTemplate&quot;:true,&quot;type&quot;:&quot;text&quot;}"/>
          <p:cNvSpPr txBox="1"/>
          <p:nvPr/>
        </p:nvSpPr>
        <p:spPr>
          <a:xfrm rot="0" flipH="0" flipV="0">
            <a:off x="571500" y="6562725"/>
            <a:ext cx="12477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FA4B8"/>
                </a:solidFill>
                <a:latin typeface="思源黑体"/>
                <a:ea typeface="思源黑体"/>
              </a:rPr>
              <a:t>AI </a:t>
            </a:r>
            <a:r>
              <a:rPr lang="zh-CN" sz="1050">
                <a:solidFill>
                  <a:srgbClr val="8FA4B8"/>
                </a:solidFill>
                <a:latin typeface="思源黑体"/>
                <a:ea typeface="思源黑体"/>
              </a:rPr>
              <a:t>从零开始</a:t>
            </a:r>
            <a:r>
              <a:rPr lang="en-US" sz="1050">
                <a:solidFill>
                  <a:srgbClr val="8FA4B8"/>
                </a:solidFill>
                <a:latin typeface="思源黑体"/>
                <a:ea typeface="思源黑体"/>
              </a:rPr>
              <a:t> · </a:t>
            </a:r>
            <a:r>
              <a:rPr lang="zh-CN" sz="1050">
                <a:solidFill>
                  <a:srgbClr val="8FA4B8"/>
                </a:solidFill>
                <a:latin typeface="思源黑体"/>
                <a:ea typeface="思源黑体"/>
              </a:rPr>
              <a:t>第</a:t>
            </a:r>
            <a:r>
              <a:rPr lang="en-US" sz="1050">
                <a:solidFill>
                  <a:srgbClr val="8FA4B8"/>
                </a:solidFill>
                <a:latin typeface="思源黑体"/>
                <a:ea typeface="思源黑体"/>
              </a:rPr>
              <a:t> 4 </a:t>
            </a:r>
            <a:r>
              <a:rPr lang="zh-CN" sz="1050">
                <a:solidFill>
                  <a:srgbClr val="8FA4B8"/>
                </a:solidFill>
                <a:latin typeface="思源黑体"/>
                <a:ea typeface="思源黑体"/>
              </a:rPr>
              <a:t>讲</a:t>
            </a:r>
            <a:endParaRPr/>
          </a:p>
        </p:txBody>
      </p:sp>
      <p:sp>
        <p:nvSpPr>
          <p:cNvPr id="258" name="" descr="{&quot;isTemplate&quot;:true,&quot;type&quot;:&quot;text&quot;}"/>
          <p:cNvSpPr txBox="1"/>
          <p:nvPr/>
        </p:nvSpPr>
        <p:spPr>
          <a:xfrm rot="0" flipH="0" flipV="0">
            <a:off x="11210925" y="6562725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FA4B8"/>
                </a:solidFill>
                <a:latin typeface="思源黑体"/>
                <a:ea typeface="思源黑体"/>
              </a:rPr>
              <a:t>06 / 14</a:t>
            </a:r>
            <a:endParaRPr/>
          </a:p>
        </p:txBody>
      </p:sp>
    </p:spTree>
  </p:cSld>
</p:sld>
</file>

<file path=ppt/slides/slide7.xml><?xml version="1.0" encoding="utf-8"?>
<p:sld xmlns:a="http://schemas.openxmlformats.org/drawingml/2006/main" xmlns:p="http://schemas.openxmlformats.org/presentationml/2006/main">
  <p:cSld>
    <p:spTree>
      <p:nvGrpSpPr>
        <p:cNvPr id="259" name="" descr="&lt;Slide&#10;  style={{&#10;    width: '1280px', height: '720px',&#10;    background: '#F5F7FA',&#10;    padding: '20px 60px',&#10;    fontFamily: '&quot;思源黑体&quot;, sans-serif',&#10;  }}&#10;&gt;&#10;  &lt;Box style={{ width: '100%', height: '100%' }}&gt;&#10;    &lt;Text style={{ fontSize: 14, color: '#FF9F1C', fontWeight: 'bold', letterSpacing: 2, marginBottom: 8 }}&gt;PROMPT TEMPLATE&lt;/Text&gt;&#10;    &lt;Text style={{ fontSize: 34, color: '#16263F', fontWeight: 'bold', marginBottom: 24 }}&gt;PromptTemplate：用消息角色组织一次对话&lt;/Text&gt;&#10;    &lt;Box style={{ width: 56, height: 4, background: '#22D3EE', marginBottom: 22 }} /&gt;&#10;&#10;    &lt;Box style={{ flexDirection: 'row', gap: 28, flex: 1 }}&gt;&#10;      &lt;Box style={{ flex: 3 }}&gt;&#10;        &lt;CodeBlock&#10;          code={`from langchain_core.prompts import ChatPromptTemplate, MessagesPlaceholder&#10;&#10;prompt = ChatPromptTemplate.from_messages([&#10;    (&quot;system&quot;, &quot;你是资深 AI 讲师，用通俗语言回答。&quot;),&#10;    MessagesPlaceholder(&quot;history&quot;),      # 历史对话占位&#10;    (&quot;human&quot;, &quot;{question}&quot;),&#10;])`}&#10;          language='python'&#10;          width={640}&#10;          fontSize={14}&#10;        /&gt;&#10;      &lt;/Box&gt;&#10;&#10;      &lt;Box style={{ flex: 2, flexDirection: 'column', gap: 14, justifyContent: 'center' }}&gt;&#10;        {[&#10;          { t: 'system', c: '#22D3EE', d: '设定人设与规则，一次定义全程生效' },&#10;          { t: 'human', c: '#FF9F1C', d: '用户的真实输入，每次可变' },&#10;          { t: 'ai', c: '#DCE7F5', d: '模型的回复，常用于多轮上下文' },&#10;        ].map((item, idx) =&gt; (&#10;          &lt;Box key={idx} style={{ flexDirection: 'row', alignItems: 'center', gap: 14, background: '#FFFFFF', borderRadius: 10, padding: '14px 18px', boxShadow: '0 2px 12px rgba(22,38,63,0.06)' }}&gt;&#10;            &lt;Box style={{ width: 14, height: 14, borderRadius: 7, background: item.c }} /&gt;&#10;            &lt;Box style={{ flex: 1 }}&gt;&#10;              &lt;Text style={{ fontSize: 17, fontWeight: 'bold', color: '#16263F' }}&gt;{item.t}&lt;/Text&gt;&#10;              &lt;Text style={{ fontSize: 13, color: '#5B6B7A' }}&gt;{item.d}&lt;/Text&gt;&#10;            &lt;/Box&gt;&#10;          &lt;/Box&gt;&#10;        ))}&#10;        &lt;Box style={{ background: '#16263F', borderRadius: 10, padding: '14px 18px' }}&gt;&#10;          &lt;Text style={{ fontSize: 14, color: '#DCE7F5', lineHeight: 1.6 }}&gt;&#10;            &lt;span style={{ color: '#22D3EE', fontWeight: 'bold' }}&gt;MessagesPlaceholder&lt;/span&gt; 把历史消息「塞进」固定位置——多轮对话的关键。&#10;          &lt;/Text&gt;&#10;        &lt;/Box&gt;&#10;      &lt;/Box&gt;&#10;    &lt;/Box&gt;&#10;  &lt;/Box&gt;&#10;  &lt;Box style={{ position: 'absolute', bottom: 14, left: 60, right: 60, flexDirection: 'row', justifyContent: 'space-between' }}&gt;&#10;    &lt;Text style={{ fontSize: 14, color: '#5B6B7A' }}&gt;AI 从零开始 · 第 4 讲&lt;/Text&gt;&#10;    &lt;Text style={{ fontSize: 14, color: '#5B6B7A' }}&gt;07 / 14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p/>
        </p:txBody>
      </p:sp>
      <p:sp>
        <p:nvSpPr>
          <p:cNvPr id="261" name="" descr="{&quot;isTemplate&quot;:true,&quot;type&quot;:&quot;text&quot;}"/>
          <p:cNvSpPr txBox="1"/>
          <p:nvPr/>
        </p:nvSpPr>
        <p:spPr>
          <a:xfrm rot="0" flipH="0" flipV="0">
            <a:off x="571500" y="190500"/>
            <a:ext cx="11049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 spc="150">
                <a:solidFill>
                  <a:srgbClr val="FF9F1C"/>
                </a:solidFill>
                <a:latin typeface="思源黑体"/>
                <a:ea typeface="思源黑体"/>
              </a:rPr>
              <a:t>PROMPT TEMPLATE</a:t>
            </a:r>
            <a:endParaRPr/>
          </a:p>
        </p:txBody>
      </p:sp>
      <p:sp>
        <p:nvSpPr>
          <p:cNvPr id="262" name="" descr="{&quot;isTemplate&quot;:true,&quot;type&quot;:&quot;text&quot;}"/>
          <p:cNvSpPr txBox="1"/>
          <p:nvPr/>
        </p:nvSpPr>
        <p:spPr>
          <a:xfrm rot="0" flipH="0" flipV="0">
            <a:off x="571500" y="428625"/>
            <a:ext cx="110490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16263F"/>
                </a:solidFill>
                <a:latin typeface="思源黑体"/>
                <a:ea typeface="思源黑体"/>
              </a:rPr>
              <a:t>PromptTemplate</a:t>
            </a:r>
            <a:r>
              <a:rPr lang="zh-CN" sz="2550" b="1">
                <a:solidFill>
                  <a:srgbClr val="16263F"/>
                </a:solidFill>
                <a:latin typeface="思源黑体"/>
                <a:ea typeface="思源黑体"/>
              </a:rPr>
              <a:t>：用消息角色组织一次对话</a:t>
            </a:r>
            <a:endParaRPr/>
          </a:p>
        </p:txBody>
      </p:sp>
      <p:sp>
        <p:nvSpPr>
          <p:cNvPr id="263" name=""/>
          <p:cNvSpPr/>
          <p:nvPr/>
        </p:nvSpPr>
        <p:spPr>
          <a:xfrm rot="0" flipH="0" flipV="0">
            <a:off x="571500" y="1047750"/>
            <a:ext cx="533400" cy="38100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p/>
        </p:txBody>
      </p:sp>
      <p:sp>
        <p:nvSpPr>
          <p:cNvPr id="264" name=""/>
          <p:cNvSpPr/>
          <p:nvPr/>
        </p:nvSpPr>
        <p:spPr>
          <a:xfrm rot="0" flipH="0" flipV="0">
            <a:off x="7305675" y="2466975"/>
            <a:ext cx="4314825" cy="619125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/>
          <a:effectLst>
            <a:outerShdw blurRad="114300" dist="19050" dir="5400000">
              <a:srgbClr val="16263F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265" name=""/>
          <p:cNvSpPr/>
          <p:nvPr/>
        </p:nvSpPr>
        <p:spPr>
          <a:xfrm rot="0" flipH="0" flipV="0">
            <a:off x="7477125" y="2714625"/>
            <a:ext cx="133350" cy="13335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/>
        </p:spPr>
        <p:txBody>
          <a:bodyPr/>
          <a:p/>
        </p:txBody>
      </p:sp>
      <p:sp>
        <p:nvSpPr>
          <p:cNvPr id="266" name="" descr="{&quot;isTemplate&quot;:true,&quot;type&quot;:&quot;text&quot;}"/>
          <p:cNvSpPr txBox="1"/>
          <p:nvPr/>
        </p:nvSpPr>
        <p:spPr>
          <a:xfrm rot="0" flipH="0" flipV="0">
            <a:off x="7743825" y="2600325"/>
            <a:ext cx="37052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16263F"/>
                </a:solidFill>
                <a:latin typeface="思源黑体"/>
                <a:ea typeface="思源黑体"/>
              </a:rPr>
              <a:t>system</a:t>
            </a:r>
            <a:endParaRPr/>
          </a:p>
        </p:txBody>
      </p:sp>
      <p:sp>
        <p:nvSpPr>
          <p:cNvPr id="267" name="" descr="{&quot;isTemplate&quot;:true,&quot;type&quot;:&quot;text&quot;}"/>
          <p:cNvSpPr txBox="1"/>
          <p:nvPr/>
        </p:nvSpPr>
        <p:spPr>
          <a:xfrm rot="0" flipH="0" flipV="0">
            <a:off x="7743825" y="2800350"/>
            <a:ext cx="37052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B6B7A"/>
                </a:solidFill>
                <a:latin typeface="思源黑体"/>
                <a:ea typeface="思源黑体"/>
              </a:rPr>
              <a:t>设定人设与规则，一次定义全程生效</a:t>
            </a:r>
            <a:endParaRPr/>
          </a:p>
        </p:txBody>
      </p:sp>
      <p:sp>
        <p:nvSpPr>
          <p:cNvPr id="268" name=""/>
          <p:cNvSpPr/>
          <p:nvPr/>
        </p:nvSpPr>
        <p:spPr>
          <a:xfrm rot="0" flipH="0" flipV="0">
            <a:off x="7305675" y="3219450"/>
            <a:ext cx="4314825" cy="619125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/>
          <a:effectLst>
            <a:outerShdw blurRad="114300" dist="19050" dir="5400000">
              <a:srgbClr val="16263F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269" name=""/>
          <p:cNvSpPr/>
          <p:nvPr/>
        </p:nvSpPr>
        <p:spPr>
          <a:xfrm rot="0" flipH="0" flipV="0">
            <a:off x="7477125" y="3467100"/>
            <a:ext cx="133350" cy="133350"/>
          </a:xfrm>
          <a:prstGeom prst="roundRect">
            <a:avLst>
              <a:gd name="adj" fmla="val 50000"/>
            </a:avLst>
          </a:prstGeom>
          <a:solidFill>
            <a:srgbClr val="FF9F1C"/>
          </a:solidFill>
          <a:ln/>
        </p:spPr>
        <p:txBody>
          <a:bodyPr/>
          <a:p/>
        </p:txBody>
      </p:sp>
      <p:sp>
        <p:nvSpPr>
          <p:cNvPr id="270" name="" descr="{&quot;isTemplate&quot;:true,&quot;type&quot;:&quot;text&quot;}"/>
          <p:cNvSpPr txBox="1"/>
          <p:nvPr/>
        </p:nvSpPr>
        <p:spPr>
          <a:xfrm rot="0" flipH="0" flipV="0">
            <a:off x="7743825" y="3352800"/>
            <a:ext cx="37052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16263F"/>
                </a:solidFill>
                <a:latin typeface="思源黑体"/>
                <a:ea typeface="思源黑体"/>
              </a:rPr>
              <a:t>human</a:t>
            </a:r>
            <a:endParaRPr/>
          </a:p>
        </p:txBody>
      </p:sp>
      <p:sp>
        <p:nvSpPr>
          <p:cNvPr id="271" name="" descr="{&quot;isTemplate&quot;:true,&quot;type&quot;:&quot;text&quot;}"/>
          <p:cNvSpPr txBox="1"/>
          <p:nvPr/>
        </p:nvSpPr>
        <p:spPr>
          <a:xfrm rot="0" flipH="0" flipV="0">
            <a:off x="7743825" y="3552825"/>
            <a:ext cx="37052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B6B7A"/>
                </a:solidFill>
                <a:latin typeface="思源黑体"/>
                <a:ea typeface="思源黑体"/>
              </a:rPr>
              <a:t>用户的真实输入，每次可变</a:t>
            </a:r>
            <a:endParaRPr/>
          </a:p>
        </p:txBody>
      </p:sp>
      <p:sp>
        <p:nvSpPr>
          <p:cNvPr id="272" name=""/>
          <p:cNvSpPr/>
          <p:nvPr/>
        </p:nvSpPr>
        <p:spPr>
          <a:xfrm rot="0" flipH="0" flipV="0">
            <a:off x="7305675" y="3971925"/>
            <a:ext cx="4314825" cy="619125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/>
          <a:effectLst>
            <a:outerShdw blurRad="114300" dist="19050" dir="5400000">
              <a:srgbClr val="16263F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273" name=""/>
          <p:cNvSpPr/>
          <p:nvPr/>
        </p:nvSpPr>
        <p:spPr>
          <a:xfrm rot="0" flipH="0" flipV="0">
            <a:off x="7477125" y="4219575"/>
            <a:ext cx="133350" cy="133350"/>
          </a:xfrm>
          <a:prstGeom prst="roundRect">
            <a:avLst>
              <a:gd name="adj" fmla="val 50000"/>
            </a:avLst>
          </a:prstGeom>
          <a:solidFill>
            <a:srgbClr val="DCE7F5"/>
          </a:solidFill>
          <a:ln/>
        </p:spPr>
        <p:txBody>
          <a:bodyPr/>
          <a:p/>
        </p:txBody>
      </p:sp>
      <p:sp>
        <p:nvSpPr>
          <p:cNvPr id="274" name="" descr="{&quot;isTemplate&quot;:true,&quot;type&quot;:&quot;text&quot;}"/>
          <p:cNvSpPr txBox="1"/>
          <p:nvPr/>
        </p:nvSpPr>
        <p:spPr>
          <a:xfrm rot="0" flipH="0" flipV="0">
            <a:off x="7743825" y="4105275"/>
            <a:ext cx="37052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16263F"/>
                </a:solidFill>
                <a:latin typeface="思源黑体"/>
                <a:ea typeface="思源黑体"/>
              </a:rPr>
              <a:t>ai</a:t>
            </a:r>
            <a:endParaRPr/>
          </a:p>
        </p:txBody>
      </p:sp>
      <p:sp>
        <p:nvSpPr>
          <p:cNvPr id="275" name="" descr="{&quot;isTemplate&quot;:true,&quot;type&quot;:&quot;text&quot;}"/>
          <p:cNvSpPr txBox="1"/>
          <p:nvPr/>
        </p:nvSpPr>
        <p:spPr>
          <a:xfrm rot="0" flipH="0" flipV="0">
            <a:off x="7743825" y="4305300"/>
            <a:ext cx="37052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B6B7A"/>
                </a:solidFill>
                <a:latin typeface="思源黑体"/>
                <a:ea typeface="思源黑体"/>
              </a:rPr>
              <a:t>模型的回复，常用于多轮上下文</a:t>
            </a:r>
            <a:endParaRPr/>
          </a:p>
        </p:txBody>
      </p:sp>
      <p:sp>
        <p:nvSpPr>
          <p:cNvPr id="276" name=""/>
          <p:cNvSpPr/>
          <p:nvPr/>
        </p:nvSpPr>
        <p:spPr>
          <a:xfrm rot="0" flipH="0" flipV="0">
            <a:off x="7305675" y="4724400"/>
            <a:ext cx="4314825" cy="781050"/>
          </a:xfrm>
          <a:prstGeom prst="roundRect">
            <a:avLst>
              <a:gd name="adj" fmla="val 12195"/>
            </a:avLst>
          </a:prstGeom>
          <a:solidFill>
            <a:srgbClr val="16263F"/>
          </a:solidFill>
          <a:ln/>
        </p:spPr>
        <p:txBody>
          <a:bodyPr/>
          <a:p/>
        </p:txBody>
      </p:sp>
      <p:sp>
        <p:nvSpPr>
          <p:cNvPr id="277" name="" descr="{&quot;isTemplate&quot;:true,&quot;type&quot;:&quot;text&quot;}"/>
          <p:cNvSpPr txBox="1"/>
          <p:nvPr/>
        </p:nvSpPr>
        <p:spPr>
          <a:xfrm rot="0" flipH="0" flipV="0">
            <a:off x="7477125" y="4857750"/>
            <a:ext cx="3971925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1050" b="1">
                <a:solidFill>
                  <a:srgbClr val="22D3EE"/>
                </a:solidFill>
                <a:latin typeface="思源黑体"/>
                <a:ea typeface="思源黑体"/>
              </a:rPr>
              <a:t>MessagesPlaceholder</a:t>
            </a:r>
            <a:r>
              <a:rPr lang="en-US" sz="1050">
                <a:solidFill>
                  <a:srgbClr val="DCE7F5"/>
                </a:solidFill>
                <a:latin typeface="思源黑体"/>
                <a:ea typeface="思源黑体"/>
              </a:rPr>
              <a:t> </a:t>
            </a:r>
            <a:r>
              <a:rPr lang="zh-CN" sz="1050">
                <a:solidFill>
                  <a:srgbClr val="DCE7F5"/>
                </a:solidFill>
                <a:latin typeface="思源黑体"/>
                <a:ea typeface="思源黑体"/>
              </a:rPr>
              <a:t>把历史消息「塞进」固定位置——多轮对话的关键。</a:t>
            </a:r>
            <a:endParaRPr/>
          </a:p>
        </p:txBody>
      </p:sp>
      <p:sp>
        <p:nvSpPr>
          <p:cNvPr id="278" name=""/>
          <p:cNvSpPr/>
          <p:nvPr/>
        </p:nvSpPr>
        <p:spPr>
          <a:xfrm rot="0" flipH="0" flipV="0">
            <a:off x="571500" y="1295400"/>
            <a:ext cx="6467475" cy="1838325"/>
          </a:xfrm>
          <a:prstGeom prst="roundRect">
            <a:avLst>
              <a:gd name="adj" fmla="val 4145"/>
            </a:avLst>
          </a:prstGeom>
          <a:solidFill>
            <a:srgbClr val="F6F8FA"/>
          </a:solidFill>
          <a:ln/>
        </p:spPr>
        <p:txBody>
          <a:bodyPr/>
          <a:p/>
        </p:txBody>
      </p:sp>
      <p:sp>
        <p:nvSpPr>
          <p:cNvPr id="279" name=""/>
          <p:cNvSpPr txBox="1"/>
          <p:nvPr/>
        </p:nvSpPr>
        <p:spPr>
          <a:xfrm rot="0" flipH="0" flipV="0">
            <a:off x="723900" y="1428750"/>
            <a:ext cx="6162675" cy="15716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sz="1050">
                <a:solidFill>
                  <a:srgbClr val="D73A49"/>
                </a:solidFill>
                <a:latin typeface="Menlo"/>
                <a:ea typeface="Menlo"/>
              </a:rPr>
              <a:t>from</a:t>
            </a:r>
            <a:r>
              <a:rPr sz="1050">
                <a:solidFill>
                  <a:srgbClr val="24292E"/>
                </a:solidFill>
                <a:latin typeface="Menlo"/>
                <a:ea typeface="Menlo"/>
              </a:rPr>
              <a:t> langchain_core.prompts </a:t>
            </a:r>
            <a:r>
              <a:rPr sz="1050">
                <a:solidFill>
                  <a:srgbClr val="D73A49"/>
                </a:solidFill>
                <a:latin typeface="Menlo"/>
                <a:ea typeface="Menlo"/>
              </a:rPr>
              <a:t>import</a:t>
            </a:r>
            <a:r>
              <a:rPr sz="1050">
                <a:solidFill>
                  <a:srgbClr val="24292E"/>
                </a:solidFill>
                <a:latin typeface="Menlo"/>
                <a:ea typeface="Menlo"/>
              </a:rPr>
              <a:t> ChatPromptTemplate, MessagesPlaceholder</a:t>
            </a:r>
            <a:endParaRPr/>
          </a:p>
          <a:p>
            <a:pPr>
              <a:lnSpc>
                <a:spcPct val="140000"/>
              </a:lnSpc>
            </a:pPr>
            <a:r>
              <a:rPr sz="1050">
                <a:solidFill>
                  <a:srgbClr val="E5E7EB"/>
                </a:solidFill>
                <a:latin typeface="Menlo"/>
                <a:ea typeface="Menlo"/>
              </a:rPr>
              <a:t> </a:t>
            </a:r>
            <a:endParaRPr/>
          </a:p>
          <a:p>
            <a:pPr>
              <a:lnSpc>
                <a:spcPct val="140000"/>
              </a:lnSpc>
            </a:pPr>
            <a:r>
              <a:rPr sz="1050">
                <a:solidFill>
                  <a:srgbClr val="24292E"/>
                </a:solidFill>
                <a:latin typeface="Menlo"/>
                <a:ea typeface="Menlo"/>
              </a:rPr>
              <a:t>prompt </a:t>
            </a:r>
            <a:r>
              <a:rPr sz="1050">
                <a:solidFill>
                  <a:srgbClr val="D73A49"/>
                </a:solidFill>
                <a:latin typeface="Menlo"/>
                <a:ea typeface="Menlo"/>
              </a:rPr>
              <a:t>=</a:t>
            </a:r>
            <a:r>
              <a:rPr sz="1050">
                <a:solidFill>
                  <a:srgbClr val="24292E"/>
                </a:solidFill>
                <a:latin typeface="Menlo"/>
                <a:ea typeface="Menlo"/>
              </a:rPr>
              <a:t> ChatPromptTemplate.from_messages([</a:t>
            </a:r>
            <a:endParaRPr/>
          </a:p>
          <a:p>
            <a:pPr>
              <a:lnSpc>
                <a:spcPct val="140000"/>
              </a:lnSpc>
            </a:pPr>
            <a:r>
              <a:rPr sz="1050">
                <a:solidFill>
                  <a:srgbClr val="24292E"/>
                </a:solidFill>
                <a:latin typeface="Menlo"/>
                <a:ea typeface="Menlo"/>
              </a:rPr>
              <a:t>    (</a:t>
            </a:r>
            <a:r>
              <a:rPr sz="1050">
                <a:solidFill>
                  <a:srgbClr val="032F62"/>
                </a:solidFill>
                <a:latin typeface="Menlo"/>
                <a:ea typeface="Menlo"/>
              </a:rPr>
              <a:t>"system"</a:t>
            </a:r>
            <a:r>
              <a:rPr sz="1050">
                <a:solidFill>
                  <a:srgbClr val="24292E"/>
                </a:solidFill>
                <a:latin typeface="Menlo"/>
                <a:ea typeface="Menlo"/>
              </a:rPr>
              <a:t>, </a:t>
            </a:r>
            <a:r>
              <a:rPr sz="1050">
                <a:solidFill>
                  <a:srgbClr val="032F62"/>
                </a:solidFill>
                <a:latin typeface="Menlo"/>
                <a:ea typeface="Menlo"/>
              </a:rPr>
              <a:t>"你是资深 AI 讲师，用通俗语言回答。"</a:t>
            </a:r>
            <a:r>
              <a:rPr sz="1050">
                <a:solidFill>
                  <a:srgbClr val="24292E"/>
                </a:solidFill>
                <a:latin typeface="Menlo"/>
                <a:ea typeface="Menlo"/>
              </a:rPr>
              <a:t>),</a:t>
            </a:r>
            <a:endParaRPr/>
          </a:p>
          <a:p>
            <a:pPr>
              <a:lnSpc>
                <a:spcPct val="140000"/>
              </a:lnSpc>
            </a:pPr>
            <a:r>
              <a:rPr sz="1050">
                <a:solidFill>
                  <a:srgbClr val="24292E"/>
                </a:solidFill>
                <a:latin typeface="Menlo"/>
                <a:ea typeface="Menlo"/>
              </a:rPr>
              <a:t>    MessagesPlaceholder(</a:t>
            </a:r>
            <a:r>
              <a:rPr sz="1050">
                <a:solidFill>
                  <a:srgbClr val="032F62"/>
                </a:solidFill>
                <a:latin typeface="Menlo"/>
                <a:ea typeface="Menlo"/>
              </a:rPr>
              <a:t>"history"</a:t>
            </a:r>
            <a:r>
              <a:rPr sz="1050">
                <a:solidFill>
                  <a:srgbClr val="24292E"/>
                </a:solidFill>
                <a:latin typeface="Menlo"/>
                <a:ea typeface="Menlo"/>
              </a:rPr>
              <a:t>),      </a:t>
            </a:r>
            <a:r>
              <a:rPr sz="1050">
                <a:solidFill>
                  <a:srgbClr val="6A737D"/>
                </a:solidFill>
                <a:latin typeface="Menlo"/>
                <a:ea typeface="Menlo"/>
              </a:rPr>
              <a:t># 历史对话占位</a:t>
            </a:r>
            <a:endParaRPr/>
          </a:p>
          <a:p>
            <a:pPr>
              <a:lnSpc>
                <a:spcPct val="140000"/>
              </a:lnSpc>
            </a:pPr>
            <a:r>
              <a:rPr sz="1050">
                <a:solidFill>
                  <a:srgbClr val="24292E"/>
                </a:solidFill>
                <a:latin typeface="Menlo"/>
                <a:ea typeface="Menlo"/>
              </a:rPr>
              <a:t>    (</a:t>
            </a:r>
            <a:r>
              <a:rPr sz="1050">
                <a:solidFill>
                  <a:srgbClr val="032F62"/>
                </a:solidFill>
                <a:latin typeface="Menlo"/>
                <a:ea typeface="Menlo"/>
              </a:rPr>
              <a:t>"human"</a:t>
            </a:r>
            <a:r>
              <a:rPr sz="1050">
                <a:solidFill>
                  <a:srgbClr val="24292E"/>
                </a:solidFill>
                <a:latin typeface="Menlo"/>
                <a:ea typeface="Menlo"/>
              </a:rPr>
              <a:t>, </a:t>
            </a:r>
            <a:r>
              <a:rPr sz="1050">
                <a:solidFill>
                  <a:srgbClr val="032F62"/>
                </a:solidFill>
                <a:latin typeface="Menlo"/>
                <a:ea typeface="Menlo"/>
              </a:rPr>
              <a:t>"</a:t>
            </a:r>
            <a:r>
              <a:rPr sz="1050">
                <a:solidFill>
                  <a:srgbClr val="005CC5"/>
                </a:solidFill>
                <a:latin typeface="Menlo"/>
                <a:ea typeface="Menlo"/>
              </a:rPr>
              <a:t>{question}</a:t>
            </a:r>
            <a:r>
              <a:rPr sz="1050">
                <a:solidFill>
                  <a:srgbClr val="032F62"/>
                </a:solidFill>
                <a:latin typeface="Menlo"/>
                <a:ea typeface="Menlo"/>
              </a:rPr>
              <a:t>"</a:t>
            </a:r>
            <a:r>
              <a:rPr sz="1050">
                <a:solidFill>
                  <a:srgbClr val="24292E"/>
                </a:solidFill>
                <a:latin typeface="Menlo"/>
                <a:ea typeface="Menlo"/>
              </a:rPr>
              <a:t>),</a:t>
            </a:r>
            <a:endParaRPr/>
          </a:p>
          <a:p>
            <a:pPr>
              <a:lnSpc>
                <a:spcPct val="140000"/>
              </a:lnSpc>
            </a:pPr>
            <a:r>
              <a:rPr sz="1050">
                <a:solidFill>
                  <a:srgbClr val="24292E"/>
                </a:solidFill>
                <a:latin typeface="Menlo"/>
                <a:ea typeface="Menlo"/>
              </a:rPr>
              <a:t>])</a:t>
            </a:r>
            <a:endParaRPr/>
          </a:p>
        </p:txBody>
      </p:sp>
      <p:sp>
        <p:nvSpPr>
          <p:cNvPr id="280" name="" descr="{&quot;isTemplate&quot;:true,&quot;type&quot;:&quot;text&quot;}"/>
          <p:cNvSpPr txBox="1"/>
          <p:nvPr/>
        </p:nvSpPr>
        <p:spPr>
          <a:xfrm rot="0" flipH="0" flipV="0">
            <a:off x="571500" y="6562725"/>
            <a:ext cx="12477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AI </a:t>
            </a: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从零开始</a:t>
            </a: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 · </a:t>
            </a: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第</a:t>
            </a: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 4 </a:t>
            </a: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讲</a:t>
            </a:r>
            <a:endParaRPr/>
          </a:p>
        </p:txBody>
      </p:sp>
      <p:sp>
        <p:nvSpPr>
          <p:cNvPr id="281" name="" descr="{&quot;isTemplate&quot;:true,&quot;type&quot;:&quot;text&quot;}"/>
          <p:cNvSpPr txBox="1"/>
          <p:nvPr/>
        </p:nvSpPr>
        <p:spPr>
          <a:xfrm rot="0" flipH="0" flipV="0">
            <a:off x="11210925" y="6562725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07 / 14</a:t>
            </a:r>
            <a:endParaRPr/>
          </a:p>
        </p:txBody>
      </p:sp>
    </p:spTree>
  </p:cSld>
</p:sld>
</file>

<file path=ppt/slides/slide8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282" name="" descr="&lt;Slide&#10;  style={{&#10;    width: '1280px', height: '720px',&#10;    background: '#F5F7FA',&#10;    padding: '20px 60px',&#10;    fontFamily: '&quot;思源黑体&quot;, sans-serif',&#10;  }}&#10;&gt;&#10;  &lt;Box style={{ width: '100%', height: '100%' }}&gt;&#10;    &lt;Text style={{ fontSize: 14, color: '#FF9F1C', fontWeight: 'bold', letterSpacing: 2, marginBottom: 8 }}&gt;FEW-SHOT LEARNING&lt;/Text&gt;&#10;    &lt;Text style={{ fontSize: 34, color: '#16263F', fontWeight: 'bold', marginBottom: 24 }}&gt;FewShot：示例集 = 微型知识库&lt;/Text&gt;&#10;    &lt;Box style={{ width: 56, height: 4, background: '#22D3EE', marginBottom: 26 }} /&gt;&#10;&#10;    &lt;Box style={{ flexDirection: 'row', gap: 28, flex: 1 }}&gt;&#10;      &lt;Box style={{ flex: 1, background: '#FFFFFF', borderRadius: 14, padding: '26px 26px', boxShadow: '0 2px 12px rgba(22,38,63,0.06)' }}&gt;&#10;        &lt;Box style={{ flexDirection: 'row', alignItems: 'center', gap: 12, marginBottom: 14 }}&gt;&#10;          &lt;FAIcon name='copy' style={{ fill: '#22D3EE', width: 26, height: 26 }} /&gt;&#10;          &lt;Text style={{ fontSize: 20, fontWeight: 'bold', color: '#16263F' }}&gt;传统做法：全部塞进去&lt;/Text&gt;&#10;        &lt;/Box&gt;&#10;        &lt;Text style={{ fontSize: 15, color: '#5B6B7A', lineHeight: 1.9 }}&gt;&#10;          把几十个示例一股脑拼进 prompt——&lt;br /&gt;&lt;br /&gt;&#10;          浪费 token、挤占窗口、示例越多越臃肿。&#10;        &lt;/Text&gt;&#10;        &lt;Box style={{ marginTop: 16, background: '#F5F7FA', borderRadius: 8, padding: '12px 16px' }}&gt;&#10;          &lt;Text style={{ fontSize: 14, color: '#5B6B7A', fontFamily: '&quot;JetBrains Mono&quot;, monospace' }}&gt;&#10;            prompt = &quot;示例1... 示例2... 示例50...&quot;&#10;          &lt;/Text&gt;&#10;        &lt;/Box&gt;&#10;      &lt;/Box&gt;&#10;&#10;      &lt;Box style={{ flex: 1, background: '#16263F', borderRadius: 14, padding: '26px 26px' }}&gt;&#10;        &lt;Box style={{ flexDirection: 'row', alignItems: 'center', gap: 12, marginBottom: 14 }}&gt;&#10;          &lt;FAIcon name='filter' style={{ fill: '#FF9F1C', width: 26, height: 26 }} /&gt;&#10;          &lt;Text style={{ fontSize: 20, fontWeight: 'bold', color: '#FFFFFF' }}&gt;框架做法：语义选示例&lt;/Text&gt;&#10;        &lt;/Box&gt;&#10;        &lt;Text style={{ fontSize: 15, color: '#DCE7F5', lineHeight: 1.9 }}&gt;&#10;          &lt;span style={{ color: '#22D3EE', fontWeight: 'bold' }}&gt;SemanticSimilarityExampleSelector&lt;/span&gt; 按语义相似度，只挑与当前问题最相关的几个示例——&#10;        &lt;/Text&gt;&#10;        &lt;Box style={{ marginTop: 16, background: 'rgba(255,159,28,0.12)', borderRadius: 8, padding: '12px 16px' }}&gt;&#10;          &lt;Text style={{ fontSize: 14, color: '#FF9F1C', fontWeight: 'bold' }}&gt;&#10;            示例集 = 微型知识库，动态检索而非全量堆砌&#10;          &lt;/Text&gt;&#10;        &lt;/Box&gt;&#10;      &lt;/Box&gt;&#10;    &lt;/Box&gt;&#10;  &lt;/Box&gt;&#10;  &lt;Box style={{ position: 'absolute', bottom: 14, left: 60, right: 60, flexDirection: 'row', justifyContent: 'space-between' }}&gt;&#10;    &lt;Text style={{ fontSize: 14, color: '#5B6B7A' }}&gt;AI 从零开始 · 第 4 讲&lt;/Text&gt;&#10;    &lt;Text style={{ fontSize: 14, color: '#5B6B7A' }}&gt;08 / 14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p/>
        </p:txBody>
      </p:sp>
      <p:sp>
        <p:nvSpPr>
          <p:cNvPr id="284" name="" descr="{&quot;isTemplate&quot;:true,&quot;type&quot;:&quot;text&quot;}"/>
          <p:cNvSpPr txBox="1"/>
          <p:nvPr/>
        </p:nvSpPr>
        <p:spPr>
          <a:xfrm rot="0" flipH="0" flipV="0">
            <a:off x="571500" y="190500"/>
            <a:ext cx="11049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 spc="150">
                <a:solidFill>
                  <a:srgbClr val="FF9F1C"/>
                </a:solidFill>
                <a:latin typeface="思源黑体"/>
                <a:ea typeface="思源黑体"/>
              </a:rPr>
              <a:t>FEW-SHOT LEARNING</a:t>
            </a:r>
            <a:endParaRPr/>
          </a:p>
        </p:txBody>
      </p:sp>
      <p:sp>
        <p:nvSpPr>
          <p:cNvPr id="285" name="" descr="{&quot;isTemplate&quot;:true,&quot;type&quot;:&quot;text&quot;}"/>
          <p:cNvSpPr txBox="1"/>
          <p:nvPr/>
        </p:nvSpPr>
        <p:spPr>
          <a:xfrm rot="0" flipH="0" flipV="0">
            <a:off x="571500" y="428625"/>
            <a:ext cx="110490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16263F"/>
                </a:solidFill>
                <a:latin typeface="思源黑体"/>
                <a:ea typeface="思源黑体"/>
              </a:rPr>
              <a:t>FewShot</a:t>
            </a:r>
            <a:r>
              <a:rPr lang="zh-CN" sz="2550" b="1">
                <a:solidFill>
                  <a:srgbClr val="16263F"/>
                </a:solidFill>
                <a:latin typeface="思源黑体"/>
                <a:ea typeface="思源黑体"/>
              </a:rPr>
              <a:t>：示例集</a:t>
            </a:r>
            <a:r>
              <a:rPr lang="en-US" sz="2550" b="1">
                <a:solidFill>
                  <a:srgbClr val="16263F"/>
                </a:solidFill>
                <a:latin typeface="思源黑体"/>
                <a:ea typeface="思源黑体"/>
              </a:rPr>
              <a:t> = </a:t>
            </a:r>
            <a:r>
              <a:rPr lang="zh-CN" sz="2550" b="1">
                <a:solidFill>
                  <a:srgbClr val="16263F"/>
                </a:solidFill>
                <a:latin typeface="思源黑体"/>
                <a:ea typeface="思源黑体"/>
              </a:rPr>
              <a:t>微型知识库</a:t>
            </a:r>
            <a:endParaRPr/>
          </a:p>
        </p:txBody>
      </p:sp>
      <p:sp>
        <p:nvSpPr>
          <p:cNvPr id="286" name=""/>
          <p:cNvSpPr/>
          <p:nvPr/>
        </p:nvSpPr>
        <p:spPr>
          <a:xfrm rot="0" flipH="0" flipV="0">
            <a:off x="571500" y="1047750"/>
            <a:ext cx="533400" cy="38100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p/>
        </p:txBody>
      </p:sp>
      <p:sp>
        <p:nvSpPr>
          <p:cNvPr id="287" name=""/>
          <p:cNvSpPr/>
          <p:nvPr/>
        </p:nvSpPr>
        <p:spPr>
          <a:xfrm rot="0" flipH="0" flipV="0">
            <a:off x="571500" y="1333500"/>
            <a:ext cx="5391150" cy="53340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/>
          <a:effectLst>
            <a:outerShdw blurRad="114300" dist="19050" dir="5400000">
              <a:srgbClr val="16263F">
                <a:alpha val="6000"/>
              </a:srgbClr>
            </a:outerShdw>
          </a:effectLst>
        </p:spPr>
        <p:txBody>
          <a:bodyPr/>
          <a:p/>
        </p:txBody>
      </p:sp>
      <p:pic>
        <p:nvPicPr>
          <p:cNvPr id="28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819150" y="1581150"/>
            <a:ext cx="247650" cy="247650"/>
          </a:xfrm>
          <a:prstGeom prst="rect">
            <a:avLst/>
          </a:prstGeom>
          <a:ln/>
        </p:spPr>
      </p:pic>
      <p:sp>
        <p:nvSpPr>
          <p:cNvPr id="289" name="" descr="{&quot;isTemplate&quot;:true,&quot;type&quot;:&quot;text&quot;}"/>
          <p:cNvSpPr txBox="1"/>
          <p:nvPr/>
        </p:nvSpPr>
        <p:spPr>
          <a:xfrm rot="0" flipH="0" flipV="0">
            <a:off x="1181100" y="1590675"/>
            <a:ext cx="19431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6263F"/>
                </a:solidFill>
                <a:latin typeface="思源黑体"/>
                <a:ea typeface="思源黑体"/>
              </a:rPr>
              <a:t>传统做法：全部塞进去</a:t>
            </a:r>
            <a:endParaRPr/>
          </a:p>
        </p:txBody>
      </p:sp>
      <p:sp>
        <p:nvSpPr>
          <p:cNvPr id="290" name="" descr="{&quot;isTemplate&quot;:true,&quot;type&quot;:&quot;text&quot;}"/>
          <p:cNvSpPr txBox="1"/>
          <p:nvPr/>
        </p:nvSpPr>
        <p:spPr>
          <a:xfrm rot="0" flipH="0" flipV="0">
            <a:off x="819150" y="1962150"/>
            <a:ext cx="4895850" cy="981075"/>
          </a:xfrm>
          <a:prstGeom prst="rect"/>
        </p:spPr>
        <p:txBody>
          <a:bodyPr wrap="none" lIns="0" tIns="0" rIns="0" bIns="0"/>
          <a:p>
            <a:pPr>
              <a:lnSpc>
                <a:spcPct val="190000"/>
              </a:lnSpc>
            </a:pPr>
            <a:r>
              <a:rPr lang="zh-CN" sz="1125">
                <a:solidFill>
                  <a:srgbClr val="5B6B7A"/>
                </a:solidFill>
                <a:latin typeface="思源黑体"/>
                <a:ea typeface="思源黑体"/>
              </a:rPr>
              <a:t>把几十个示例一股脑拼进</a:t>
            </a:r>
            <a:r>
              <a:rPr lang="en-US" sz="1125">
                <a:solidFill>
                  <a:srgbClr val="5B6B7A"/>
                </a:solidFill>
                <a:latin typeface="思源黑体"/>
                <a:ea typeface="思源黑体"/>
              </a:rPr>
              <a:t> prompt——</a:t>
            </a:r>
            <a:endParaRPr/>
          </a:p>
          <a:p>
            <a:pPr>
              <a:lnSpc>
                <a:spcPct val="190000"/>
              </a:lnSpc>
            </a:pPr>
            <a:r>
              <a:rPr sz="1125">
                <a:solidFill>
                  <a:srgbClr val="5B6B7A"/>
                </a:solidFill>
                <a:latin typeface="思源黑体"/>
                <a:ea typeface="思源黑体"/>
              </a:rPr>
              <a:t> </a:t>
            </a:r>
            <a:endParaRPr/>
          </a:p>
          <a:p>
            <a:pPr>
              <a:lnSpc>
                <a:spcPct val="190000"/>
              </a:lnSpc>
            </a:pPr>
            <a:r>
              <a:rPr lang="zh-CN" sz="1125">
                <a:solidFill>
                  <a:srgbClr val="5B6B7A"/>
                </a:solidFill>
                <a:latin typeface="思源黑体"/>
                <a:ea typeface="思源黑体"/>
              </a:rPr>
              <a:t>浪费</a:t>
            </a:r>
            <a:r>
              <a:rPr lang="en-US" sz="1125">
                <a:solidFill>
                  <a:srgbClr val="5B6B7A"/>
                </a:solidFill>
                <a:latin typeface="思源黑体"/>
                <a:ea typeface="思源黑体"/>
              </a:rPr>
              <a:t> token</a:t>
            </a:r>
            <a:r>
              <a:rPr lang="zh-CN" sz="1125">
                <a:solidFill>
                  <a:srgbClr val="5B6B7A"/>
                </a:solidFill>
                <a:latin typeface="思源黑体"/>
                <a:ea typeface="思源黑体"/>
              </a:rPr>
              <a:t>、挤占窗口、示例越多越臃肿。</a:t>
            </a:r>
            <a:endParaRPr/>
          </a:p>
        </p:txBody>
      </p:sp>
      <p:sp>
        <p:nvSpPr>
          <p:cNvPr id="291" name=""/>
          <p:cNvSpPr/>
          <p:nvPr/>
        </p:nvSpPr>
        <p:spPr>
          <a:xfrm rot="0" flipH="0" flipV="0">
            <a:off x="819150" y="3095625"/>
            <a:ext cx="4895850" cy="390525"/>
          </a:xfrm>
          <a:prstGeom prst="roundRect">
            <a:avLst>
              <a:gd name="adj" fmla="val 19512"/>
            </a:avLst>
          </a:prstGeom>
          <a:solidFill>
            <a:srgbClr val="F5F7FA"/>
          </a:solidFill>
          <a:ln/>
        </p:spPr>
        <p:txBody>
          <a:bodyPr/>
          <a:p/>
        </p:txBody>
      </p:sp>
      <p:sp>
        <p:nvSpPr>
          <p:cNvPr id="292" name="" descr="{&quot;isTemplate&quot;:true,&quot;type&quot;:&quot;text&quot;}"/>
          <p:cNvSpPr txBox="1"/>
          <p:nvPr/>
        </p:nvSpPr>
        <p:spPr>
          <a:xfrm rot="0" flipH="0" flipV="0">
            <a:off x="971550" y="3209925"/>
            <a:ext cx="4591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B6B7A"/>
                </a:solidFill>
                <a:latin typeface="JetBrains Mono"/>
                <a:ea typeface="JetBrains Mono"/>
              </a:rPr>
              <a:t>prompt = "</a:t>
            </a:r>
            <a:r>
              <a:rPr lang="zh-CN" sz="1050">
                <a:solidFill>
                  <a:srgbClr val="5B6B7A"/>
                </a:solidFill>
                <a:latin typeface="JetBrains Mono"/>
                <a:ea typeface="JetBrains Mono"/>
              </a:rPr>
              <a:t>示例</a:t>
            </a:r>
            <a:r>
              <a:rPr lang="en-US" sz="1050">
                <a:solidFill>
                  <a:srgbClr val="5B6B7A"/>
                </a:solidFill>
                <a:latin typeface="JetBrains Mono"/>
                <a:ea typeface="JetBrains Mono"/>
              </a:rPr>
              <a:t>1... </a:t>
            </a:r>
            <a:r>
              <a:rPr lang="zh-CN" sz="1050">
                <a:solidFill>
                  <a:srgbClr val="5B6B7A"/>
                </a:solidFill>
                <a:latin typeface="JetBrains Mono"/>
                <a:ea typeface="JetBrains Mono"/>
              </a:rPr>
              <a:t>示例</a:t>
            </a:r>
            <a:r>
              <a:rPr lang="en-US" sz="1050">
                <a:solidFill>
                  <a:srgbClr val="5B6B7A"/>
                </a:solidFill>
                <a:latin typeface="JetBrains Mono"/>
                <a:ea typeface="JetBrains Mono"/>
              </a:rPr>
              <a:t>2... </a:t>
            </a:r>
            <a:r>
              <a:rPr lang="zh-CN" sz="1050">
                <a:solidFill>
                  <a:srgbClr val="5B6B7A"/>
                </a:solidFill>
                <a:latin typeface="JetBrains Mono"/>
                <a:ea typeface="JetBrains Mono"/>
              </a:rPr>
              <a:t>示例</a:t>
            </a:r>
            <a:r>
              <a:rPr lang="en-US" sz="1050">
                <a:solidFill>
                  <a:srgbClr val="5B6B7A"/>
                </a:solidFill>
                <a:latin typeface="JetBrains Mono"/>
                <a:ea typeface="JetBrains Mono"/>
              </a:rPr>
              <a:t>50..."</a:t>
            </a:r>
            <a:endParaRPr/>
          </a:p>
        </p:txBody>
      </p:sp>
      <p:sp>
        <p:nvSpPr>
          <p:cNvPr id="293" name=""/>
          <p:cNvSpPr/>
          <p:nvPr/>
        </p:nvSpPr>
        <p:spPr>
          <a:xfrm rot="0" flipH="0" flipV="0">
            <a:off x="6229350" y="1333500"/>
            <a:ext cx="5391150" cy="5334000"/>
          </a:xfrm>
          <a:prstGeom prst="roundRect">
            <a:avLst>
              <a:gd name="adj" fmla="val 2500"/>
            </a:avLst>
          </a:prstGeom>
          <a:solidFill>
            <a:srgbClr val="16263F"/>
          </a:solidFill>
          <a:ln/>
        </p:spPr>
        <p:txBody>
          <a:bodyPr/>
          <a:p/>
        </p:txBody>
      </p:sp>
      <p:pic>
        <p:nvPicPr>
          <p:cNvPr id="29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6477000" y="1581150"/>
            <a:ext cx="247650" cy="247650"/>
          </a:xfrm>
          <a:prstGeom prst="rect">
            <a:avLst/>
          </a:prstGeom>
          <a:ln/>
        </p:spPr>
      </p:pic>
      <p:sp>
        <p:nvSpPr>
          <p:cNvPr id="295" name="" descr="{&quot;isTemplate&quot;:true,&quot;type&quot;:&quot;text&quot;}"/>
          <p:cNvSpPr txBox="1"/>
          <p:nvPr/>
        </p:nvSpPr>
        <p:spPr>
          <a:xfrm rot="0" flipH="0" flipV="0">
            <a:off x="6838950" y="1590675"/>
            <a:ext cx="19431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FFFFF"/>
                </a:solidFill>
                <a:latin typeface="思源黑体"/>
                <a:ea typeface="思源黑体"/>
              </a:rPr>
              <a:t>框架做法：语义选示例</a:t>
            </a:r>
            <a:endParaRPr/>
          </a:p>
        </p:txBody>
      </p:sp>
      <p:sp>
        <p:nvSpPr>
          <p:cNvPr id="296" name="" descr="{&quot;isTemplate&quot;:true,&quot;type&quot;:&quot;text&quot;}"/>
          <p:cNvSpPr txBox="1"/>
          <p:nvPr/>
        </p:nvSpPr>
        <p:spPr>
          <a:xfrm rot="0" flipH="0" flipV="0">
            <a:off x="6477000" y="1962150"/>
            <a:ext cx="4895850" cy="6572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90000"/>
              </a:lnSpc>
            </a:pPr>
            <a:r>
              <a:rPr lang="en-US" sz="1125" b="1">
                <a:solidFill>
                  <a:srgbClr val="22D3EE"/>
                </a:solidFill>
                <a:latin typeface="思源黑体"/>
                <a:ea typeface="思源黑体"/>
              </a:rPr>
              <a:t>SemanticSimilarityExampleSelector</a:t>
            </a:r>
            <a:r>
              <a:rPr lang="en-US" sz="1125">
                <a:solidFill>
                  <a:srgbClr val="DCE7F5"/>
                </a:solidFill>
                <a:latin typeface="思源黑体"/>
                <a:ea typeface="思源黑体"/>
              </a:rPr>
              <a:t> </a:t>
            </a:r>
            <a:r>
              <a:rPr lang="zh-CN" sz="1125">
                <a:solidFill>
                  <a:srgbClr val="DCE7F5"/>
                </a:solidFill>
                <a:latin typeface="思源黑体"/>
                <a:ea typeface="思源黑体"/>
              </a:rPr>
              <a:t>按语义相似度，只挑与当前问题最相关的几个示例——</a:t>
            </a:r>
            <a:endParaRPr/>
          </a:p>
        </p:txBody>
      </p:sp>
      <p:sp>
        <p:nvSpPr>
          <p:cNvPr id="297" name=""/>
          <p:cNvSpPr/>
          <p:nvPr/>
        </p:nvSpPr>
        <p:spPr>
          <a:xfrm rot="0" flipH="0" flipV="0">
            <a:off x="6477000" y="2771775"/>
            <a:ext cx="4895850" cy="390525"/>
          </a:xfrm>
          <a:prstGeom prst="roundRect">
            <a:avLst>
              <a:gd name="adj" fmla="val 19512"/>
            </a:avLst>
          </a:prstGeom>
          <a:solidFill>
            <a:srgbClr val="FF9F1C">
              <a:alpha val="12000"/>
            </a:srgbClr>
          </a:solidFill>
          <a:ln/>
        </p:spPr>
        <p:txBody>
          <a:bodyPr/>
          <a:p/>
        </p:txBody>
      </p:sp>
      <p:sp>
        <p:nvSpPr>
          <p:cNvPr id="298" name="" descr="{&quot;isTemplate&quot;:true,&quot;type&quot;:&quot;text&quot;}"/>
          <p:cNvSpPr txBox="1"/>
          <p:nvPr/>
        </p:nvSpPr>
        <p:spPr>
          <a:xfrm rot="0" flipH="0" flipV="0">
            <a:off x="6629400" y="2886075"/>
            <a:ext cx="4591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F9F1C"/>
                </a:solidFill>
                <a:latin typeface="思源黑体"/>
                <a:ea typeface="思源黑体"/>
              </a:rPr>
              <a:t>示例集</a:t>
            </a:r>
            <a:r>
              <a:rPr lang="en-US" sz="1050" b="1">
                <a:solidFill>
                  <a:srgbClr val="FF9F1C"/>
                </a:solidFill>
                <a:latin typeface="思源黑体"/>
                <a:ea typeface="思源黑体"/>
              </a:rPr>
              <a:t> = </a:t>
            </a:r>
            <a:r>
              <a:rPr lang="zh-CN" sz="1050" b="1">
                <a:solidFill>
                  <a:srgbClr val="FF9F1C"/>
                </a:solidFill>
                <a:latin typeface="思源黑体"/>
                <a:ea typeface="思源黑体"/>
              </a:rPr>
              <a:t>微型知识库，动态检索而非全量堆砌</a:t>
            </a:r>
            <a:endParaRPr/>
          </a:p>
        </p:txBody>
      </p:sp>
      <p:sp>
        <p:nvSpPr>
          <p:cNvPr id="299" name="" descr="{&quot;isTemplate&quot;:true,&quot;type&quot;:&quot;text&quot;}"/>
          <p:cNvSpPr txBox="1"/>
          <p:nvPr/>
        </p:nvSpPr>
        <p:spPr>
          <a:xfrm rot="0" flipH="0" flipV="0">
            <a:off x="571500" y="6562725"/>
            <a:ext cx="12477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AI </a:t>
            </a: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从零开始</a:t>
            </a: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 · </a:t>
            </a: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第</a:t>
            </a: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 4 </a:t>
            </a: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讲</a:t>
            </a:r>
            <a:endParaRPr/>
          </a:p>
        </p:txBody>
      </p:sp>
      <p:sp>
        <p:nvSpPr>
          <p:cNvPr id="300" name="" descr="{&quot;isTemplate&quot;:true,&quot;type&quot;:&quot;text&quot;}"/>
          <p:cNvSpPr txBox="1"/>
          <p:nvPr/>
        </p:nvSpPr>
        <p:spPr>
          <a:xfrm rot="0" flipH="0" flipV="0">
            <a:off x="11210925" y="6562725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08 / 14</a:t>
            </a:r>
            <a:endParaRPr/>
          </a:p>
        </p:txBody>
      </p:sp>
    </p:spTree>
  </p:cSld>
</p:sld>
</file>

<file path=ppt/slides/slide9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301" name="" descr="&lt;Slide&#10;  style={{&#10;    width: '1280px', height: '720px',&#10;    background: '#16263F',&#10;    padding: '20px 60px',&#10;    fontFamily: '&quot;思源黑体&quot;, sans-serif',&#10;  }}&#10;&gt;&#10;  &lt;Box style={{ flexDirection: 'column', height: '100%', justifyContent: 'center' }}&gt;&#10;    &lt;Text style={{ fontSize: 14, color: '#22D3EE', fontWeight: 'bold', letterSpacing: 3, marginBottom: 14 }}&gt;CHAPTER 02 · 编排&lt;/Text&gt;&#10;    &lt;Text style={{ fontSize: 44, color: '#FFFFFF', fontWeight: 'bold', marginBottom: 16 }}&gt;LCEL：一条管道表达一切&lt;/Text&gt;&#10;    &lt;Text style={{ fontSize: 18, color: '#DCE7F5', lineHeight: 1.7, marginBottom: 40 }}&gt;&#10;      所有组件都实现 &lt;span style={{ color: '#FF9F1C', fontWeight: 'bold' }}&gt;Runnable Interface&lt;/span&gt;，因此都能用 &lt;span style={{ fontFamily: '&quot;JetBrains Mono&quot;, monospace', color: '#22D3EE' }}&gt;|&lt;/span&gt; 无缝串联——一套接口，多种调用方式。&#10;    &lt;/Text&gt;&#10;&#10;    &lt;Box style={{ flexDirection: 'row', gap: 24 }}&gt;&#10;      {[&#10;        { t: 'stream', d: '流式逐 token 返回\n打字机效果' },&#10;        { t: 'invoke', d: '单次同步调用\n拿到完整结果' },&#10;        { t: 'batch', d: '批量并行处理\n一组输入' },&#10;        { t: 'ainvoke / abatch / astream', d: '异步家族\n高并发不阻塞' },&#10;      ].map((item, idx) =&gt; (&#10;        &lt;Box key={idx} style={{ flex: 1, background: 'rgba(255,255,255,0.06)', border: '1px solid rgba(220,231,245,0.15)', borderRadius: 12, padding: '24px 22px' }}&gt;&#10;          &lt;Text style={{ fontSize: 20, color: '#22D3EE', fontWeight: 'bold', fontFamily: '&quot;JetBrains Mono&quot;, monospace', marginBottom: 10 }}&gt;{item.t}&lt;/Text&gt;&#10;          &lt;Text style={{ fontSize: 14, color: '#DCE7F5', lineHeight: 1.7, whiteSpace: 'pre-line' }}&gt;{item.d}&lt;/Text&gt;&#10;        &lt;/Box&gt;&#10;      ))}&#10;    &lt;/Box&gt;&#10;&#10;    &lt;Box style={{ marginTop: 36, flexDirection: 'row', alignItems: 'center', gap: 12 }}&gt;&#10;      &lt;FAIcon name='lightbulb' style={{ fill: '#FF9F1C', width: 20, height: 20 }} /&gt;&#10;      &lt;Text style={{ fontSize: 16, color: '#DCE7F5' }}&gt;&#10;        一个 chain 写一次，stream / invoke / batch 随心切换——这就是声明式的好处&#10;      &lt;/Text&gt;&#10;    &lt;/Box&gt;&#10;  &lt;/Box&gt;&#10;  &lt;Box style={{ position: 'absolute', bottom: 14, left: 60, right: 60, flexDirection: 'row', justifyContent: 'space-between' }}&gt;&#10;    &lt;Text style={{ fontSize: 14, color: '#8FA4B8' }}&gt;AI 从零开始 · 第 4 讲&lt;/Text&gt;&#10;    &lt;Text style={{ fontSize: 14, color: '#8FA4B8' }}&gt;09 / 14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16263F"/>
          </a:solidFill>
          <a:ln/>
        </p:spPr>
        <p:txBody>
          <a:bodyPr/>
          <a:p/>
        </p:txBody>
      </p:sp>
      <p:sp>
        <p:nvSpPr>
          <p:cNvPr id="303" name="" descr="{&quot;isTemplate&quot;:true,&quot;type&quot;:&quot;text&quot;}"/>
          <p:cNvSpPr txBox="1"/>
          <p:nvPr/>
        </p:nvSpPr>
        <p:spPr>
          <a:xfrm rot="0" flipH="0" flipV="0">
            <a:off x="571500" y="1543050"/>
            <a:ext cx="11049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 spc="225">
                <a:solidFill>
                  <a:srgbClr val="22D3EE"/>
                </a:solidFill>
                <a:latin typeface="思源黑体"/>
                <a:ea typeface="思源黑体"/>
              </a:rPr>
              <a:t>CHAPTER 02 · </a:t>
            </a:r>
            <a:r>
              <a:rPr lang="zh-CN" sz="1050" b="1" spc="225">
                <a:solidFill>
                  <a:srgbClr val="22D3EE"/>
                </a:solidFill>
                <a:latin typeface="思源黑体"/>
                <a:ea typeface="思源黑体"/>
              </a:rPr>
              <a:t>编排</a:t>
            </a:r>
            <a:endParaRPr/>
          </a:p>
        </p:txBody>
      </p:sp>
      <p:sp>
        <p:nvSpPr>
          <p:cNvPr id="304" name="" descr="{&quot;isTemplate&quot;:true,&quot;type&quot;:&quot;text&quot;}"/>
          <p:cNvSpPr txBox="1"/>
          <p:nvPr/>
        </p:nvSpPr>
        <p:spPr>
          <a:xfrm rot="0" flipH="0" flipV="0">
            <a:off x="571500" y="1838325"/>
            <a:ext cx="11049000" cy="504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300" b="1">
                <a:solidFill>
                  <a:srgbClr val="FFFFFF"/>
                </a:solidFill>
                <a:latin typeface="思源黑体"/>
                <a:ea typeface="思源黑体"/>
              </a:rPr>
              <a:t>LCEL</a:t>
            </a:r>
            <a:r>
              <a:rPr lang="zh-CN" sz="3300" b="1">
                <a:solidFill>
                  <a:srgbClr val="FFFFFF"/>
                </a:solidFill>
                <a:latin typeface="思源黑体"/>
                <a:ea typeface="思源黑体"/>
              </a:rPr>
              <a:t>：一条管道表达一切</a:t>
            </a:r>
            <a:endParaRPr/>
          </a:p>
        </p:txBody>
      </p:sp>
      <p:sp>
        <p:nvSpPr>
          <p:cNvPr id="305" name="" descr="{&quot;isTemplate&quot;:true,&quot;type&quot;:&quot;text&quot;}"/>
          <p:cNvSpPr txBox="1"/>
          <p:nvPr/>
        </p:nvSpPr>
        <p:spPr>
          <a:xfrm rot="0" flipH="0" flipV="0">
            <a:off x="571500" y="2495550"/>
            <a:ext cx="11049000" cy="3524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350">
                <a:solidFill>
                  <a:srgbClr val="DCE7F5"/>
                </a:solidFill>
                <a:latin typeface="思源黑体"/>
                <a:ea typeface="思源黑体"/>
              </a:rPr>
              <a:t>所有组件都实现</a:t>
            </a:r>
            <a:r>
              <a:rPr lang="en-US" sz="1350">
                <a:solidFill>
                  <a:srgbClr val="DCE7F5"/>
                </a:solidFill>
                <a:latin typeface="思源黑体"/>
                <a:ea typeface="思源黑体"/>
              </a:rPr>
              <a:t> </a:t>
            </a:r>
            <a:r>
              <a:rPr lang="en-US" sz="1350" b="1">
                <a:solidFill>
                  <a:srgbClr val="FF9F1C"/>
                </a:solidFill>
                <a:latin typeface="思源黑体"/>
                <a:ea typeface="思源黑体"/>
              </a:rPr>
              <a:t>Runnable Interface</a:t>
            </a:r>
            <a:r>
              <a:rPr lang="zh-CN" sz="1350">
                <a:solidFill>
                  <a:srgbClr val="DCE7F5"/>
                </a:solidFill>
                <a:latin typeface="思源黑体"/>
                <a:ea typeface="思源黑体"/>
              </a:rPr>
              <a:t>，因此都能用</a:t>
            </a:r>
            <a:r>
              <a:rPr lang="en-US" sz="1350">
                <a:solidFill>
                  <a:srgbClr val="DCE7F5"/>
                </a:solidFill>
                <a:latin typeface="思源黑体"/>
                <a:ea typeface="思源黑体"/>
              </a:rPr>
              <a:t> </a:t>
            </a:r>
            <a:r>
              <a:rPr lang="en-US" sz="1350">
                <a:solidFill>
                  <a:srgbClr val="22D3EE"/>
                </a:solidFill>
                <a:latin typeface="思源黑体"/>
                <a:ea typeface="思源黑体"/>
              </a:rPr>
              <a:t>|</a:t>
            </a:r>
            <a:r>
              <a:rPr lang="en-US" sz="1350">
                <a:solidFill>
                  <a:srgbClr val="DCE7F5"/>
                </a:solidFill>
                <a:latin typeface="思源黑体"/>
                <a:ea typeface="思源黑体"/>
              </a:rPr>
              <a:t> </a:t>
            </a:r>
            <a:r>
              <a:rPr lang="zh-CN" sz="1350">
                <a:solidFill>
                  <a:srgbClr val="DCE7F5"/>
                </a:solidFill>
                <a:latin typeface="思源黑体"/>
                <a:ea typeface="思源黑体"/>
              </a:rPr>
              <a:t>无缝串联——一套接口，多种调用方式。</a:t>
            </a:r>
            <a:endParaRPr/>
          </a:p>
        </p:txBody>
      </p:sp>
      <p:sp>
        <p:nvSpPr>
          <p:cNvPr id="306" name=""/>
          <p:cNvSpPr/>
          <p:nvPr/>
        </p:nvSpPr>
        <p:spPr>
          <a:xfrm rot="0" flipH="0" flipV="0">
            <a:off x="571500" y="3228975"/>
            <a:ext cx="2590800" cy="1562100"/>
          </a:xfrm>
          <a:prstGeom prst="roundRect">
            <a:avLst>
              <a:gd name="adj" fmla="val 7317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DCE7F5">
                <a:alpha val="1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07" name="" descr="{&quot;isTemplate&quot;:true,&quot;type&quot;:&quot;text&quot;}"/>
          <p:cNvSpPr txBox="1"/>
          <p:nvPr/>
        </p:nvSpPr>
        <p:spPr>
          <a:xfrm rot="0" flipH="0" flipV="0">
            <a:off x="781050" y="3457575"/>
            <a:ext cx="21717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22D3EE"/>
                </a:solidFill>
                <a:latin typeface="JetBrains Mono"/>
                <a:ea typeface="JetBrains Mono"/>
              </a:rPr>
              <a:t>stream</a:t>
            </a:r>
            <a:endParaRPr/>
          </a:p>
        </p:txBody>
      </p:sp>
      <p:sp>
        <p:nvSpPr>
          <p:cNvPr id="308" name="" descr="{&quot;isTemplate&quot;:true,&quot;type&quot;:&quot;text&quot;}"/>
          <p:cNvSpPr txBox="1"/>
          <p:nvPr/>
        </p:nvSpPr>
        <p:spPr>
          <a:xfrm rot="0" flipH="0" flipV="0">
            <a:off x="781050" y="3781425"/>
            <a:ext cx="2171700" cy="552450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050">
                <a:solidFill>
                  <a:srgbClr val="DCE7F5"/>
                </a:solidFill>
                <a:latin typeface="思源黑体"/>
                <a:ea typeface="思源黑体"/>
              </a:rPr>
              <a:t>流式逐</a:t>
            </a:r>
            <a:r>
              <a:rPr lang="en-US" sz="1050">
                <a:solidFill>
                  <a:srgbClr val="DCE7F5"/>
                </a:solidFill>
                <a:latin typeface="思源黑体"/>
                <a:ea typeface="思源黑体"/>
              </a:rPr>
              <a:t> token </a:t>
            </a:r>
            <a:r>
              <a:rPr lang="zh-CN" sz="1050">
                <a:solidFill>
                  <a:srgbClr val="DCE7F5"/>
                </a:solidFill>
                <a:latin typeface="思源黑体"/>
                <a:ea typeface="思源黑体"/>
              </a:rPr>
              <a:t>返回
打字机效果</a:t>
            </a:r>
            <a:endParaRPr/>
          </a:p>
        </p:txBody>
      </p:sp>
      <p:sp>
        <p:nvSpPr>
          <p:cNvPr id="309" name=""/>
          <p:cNvSpPr/>
          <p:nvPr/>
        </p:nvSpPr>
        <p:spPr>
          <a:xfrm rot="0" flipH="0" flipV="0">
            <a:off x="3390900" y="3228975"/>
            <a:ext cx="2590800" cy="1562100"/>
          </a:xfrm>
          <a:prstGeom prst="roundRect">
            <a:avLst>
              <a:gd name="adj" fmla="val 7317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DCE7F5">
                <a:alpha val="1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10" name="" descr="{&quot;isTemplate&quot;:true,&quot;type&quot;:&quot;text&quot;}"/>
          <p:cNvSpPr txBox="1"/>
          <p:nvPr/>
        </p:nvSpPr>
        <p:spPr>
          <a:xfrm rot="0" flipH="0" flipV="0">
            <a:off x="3600450" y="3457575"/>
            <a:ext cx="21717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22D3EE"/>
                </a:solidFill>
                <a:latin typeface="JetBrains Mono"/>
                <a:ea typeface="JetBrains Mono"/>
              </a:rPr>
              <a:t>invoke</a:t>
            </a:r>
            <a:endParaRPr/>
          </a:p>
        </p:txBody>
      </p:sp>
      <p:sp>
        <p:nvSpPr>
          <p:cNvPr id="311" name="" descr="{&quot;isTemplate&quot;:true,&quot;type&quot;:&quot;text&quot;}"/>
          <p:cNvSpPr txBox="1"/>
          <p:nvPr/>
        </p:nvSpPr>
        <p:spPr>
          <a:xfrm rot="0" flipH="0" flipV="0">
            <a:off x="3600450" y="3781425"/>
            <a:ext cx="2171700" cy="552450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050">
                <a:solidFill>
                  <a:srgbClr val="DCE7F5"/>
                </a:solidFill>
                <a:latin typeface="思源黑体"/>
                <a:ea typeface="思源黑体"/>
              </a:rPr>
              <a:t>单次同步调用
拿到完整结果</a:t>
            </a:r>
            <a:endParaRPr/>
          </a:p>
        </p:txBody>
      </p:sp>
      <p:sp>
        <p:nvSpPr>
          <p:cNvPr id="312" name=""/>
          <p:cNvSpPr/>
          <p:nvPr/>
        </p:nvSpPr>
        <p:spPr>
          <a:xfrm rot="0" flipH="0" flipV="0">
            <a:off x="6210300" y="3228975"/>
            <a:ext cx="2590800" cy="1562100"/>
          </a:xfrm>
          <a:prstGeom prst="roundRect">
            <a:avLst>
              <a:gd name="adj" fmla="val 7317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DCE7F5">
                <a:alpha val="1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13" name="" descr="{&quot;isTemplate&quot;:true,&quot;type&quot;:&quot;text&quot;}"/>
          <p:cNvSpPr txBox="1"/>
          <p:nvPr/>
        </p:nvSpPr>
        <p:spPr>
          <a:xfrm rot="0" flipH="0" flipV="0">
            <a:off x="6419850" y="3457575"/>
            <a:ext cx="21717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22D3EE"/>
                </a:solidFill>
                <a:latin typeface="JetBrains Mono"/>
                <a:ea typeface="JetBrains Mono"/>
              </a:rPr>
              <a:t>batch</a:t>
            </a:r>
            <a:endParaRPr/>
          </a:p>
        </p:txBody>
      </p:sp>
      <p:sp>
        <p:nvSpPr>
          <p:cNvPr id="314" name="" descr="{&quot;isTemplate&quot;:true,&quot;type&quot;:&quot;text&quot;}"/>
          <p:cNvSpPr txBox="1"/>
          <p:nvPr/>
        </p:nvSpPr>
        <p:spPr>
          <a:xfrm rot="0" flipH="0" flipV="0">
            <a:off x="6419850" y="3781425"/>
            <a:ext cx="2171700" cy="552450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050">
                <a:solidFill>
                  <a:srgbClr val="DCE7F5"/>
                </a:solidFill>
                <a:latin typeface="思源黑体"/>
                <a:ea typeface="思源黑体"/>
              </a:rPr>
              <a:t>批量并行处理
一组输入</a:t>
            </a:r>
            <a:endParaRPr/>
          </a:p>
        </p:txBody>
      </p:sp>
      <p:sp>
        <p:nvSpPr>
          <p:cNvPr id="315" name=""/>
          <p:cNvSpPr/>
          <p:nvPr/>
        </p:nvSpPr>
        <p:spPr>
          <a:xfrm rot="0" flipH="0" flipV="0">
            <a:off x="9029700" y="3228975"/>
            <a:ext cx="2590800" cy="1562100"/>
          </a:xfrm>
          <a:prstGeom prst="roundRect">
            <a:avLst>
              <a:gd name="adj" fmla="val 7317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DCE7F5">
                <a:alpha val="1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16" name="" descr="{&quot;isTemplate&quot;:true,&quot;type&quot;:&quot;text&quot;}"/>
          <p:cNvSpPr txBox="1"/>
          <p:nvPr/>
        </p:nvSpPr>
        <p:spPr>
          <a:xfrm rot="0" flipH="0" flipV="0">
            <a:off x="9239250" y="3457575"/>
            <a:ext cx="2171700" cy="4572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22D3EE"/>
                </a:solidFill>
                <a:latin typeface="JetBrains Mono"/>
                <a:ea typeface="JetBrains Mono"/>
              </a:rPr>
              <a:t>ainvoke / abatch / astream</a:t>
            </a:r>
            <a:endParaRPr/>
          </a:p>
        </p:txBody>
      </p:sp>
      <p:sp>
        <p:nvSpPr>
          <p:cNvPr id="317" name="" descr="{&quot;isTemplate&quot;:true,&quot;type&quot;:&quot;text&quot;}"/>
          <p:cNvSpPr txBox="1"/>
          <p:nvPr/>
        </p:nvSpPr>
        <p:spPr>
          <a:xfrm rot="0" flipH="0" flipV="0">
            <a:off x="9239250" y="4010025"/>
            <a:ext cx="2171700" cy="552450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050">
                <a:solidFill>
                  <a:srgbClr val="DCE7F5"/>
                </a:solidFill>
                <a:latin typeface="思源黑体"/>
                <a:ea typeface="思源黑体"/>
              </a:rPr>
              <a:t>异步家族
高并发不阻塞</a:t>
            </a:r>
            <a:endParaRPr/>
          </a:p>
        </p:txBody>
      </p:sp>
      <p:pic>
        <p:nvPicPr>
          <p:cNvPr id="31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571500" y="5133975"/>
            <a:ext cx="190500" cy="190500"/>
          </a:xfrm>
          <a:prstGeom prst="rect">
            <a:avLst/>
          </a:prstGeom>
          <a:ln/>
        </p:spPr>
      </p:pic>
      <p:sp>
        <p:nvSpPr>
          <p:cNvPr id="319" name="" descr="{&quot;isTemplate&quot;:true,&quot;type&quot;:&quot;text&quot;}"/>
          <p:cNvSpPr txBox="1"/>
          <p:nvPr/>
        </p:nvSpPr>
        <p:spPr>
          <a:xfrm rot="0" flipH="0" flipV="0">
            <a:off x="876300" y="5133975"/>
            <a:ext cx="52863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DCE7F5"/>
                </a:solidFill>
                <a:latin typeface="思源黑体"/>
                <a:ea typeface="思源黑体"/>
              </a:rPr>
              <a:t>一个</a:t>
            </a:r>
            <a:r>
              <a:rPr lang="en-US" sz="1200">
                <a:solidFill>
                  <a:srgbClr val="DCE7F5"/>
                </a:solidFill>
                <a:latin typeface="思源黑体"/>
                <a:ea typeface="思源黑体"/>
              </a:rPr>
              <a:t> chain </a:t>
            </a:r>
            <a:r>
              <a:rPr lang="zh-CN" sz="1200">
                <a:solidFill>
                  <a:srgbClr val="DCE7F5"/>
                </a:solidFill>
                <a:latin typeface="思源黑体"/>
                <a:ea typeface="思源黑体"/>
              </a:rPr>
              <a:t>写一次，</a:t>
            </a:r>
            <a:r>
              <a:rPr lang="en-US" sz="1200">
                <a:solidFill>
                  <a:srgbClr val="DCE7F5"/>
                </a:solidFill>
                <a:latin typeface="思源黑体"/>
                <a:ea typeface="思源黑体"/>
              </a:rPr>
              <a:t>stream / invoke / batch </a:t>
            </a:r>
            <a:r>
              <a:rPr lang="zh-CN" sz="1200">
                <a:solidFill>
                  <a:srgbClr val="DCE7F5"/>
                </a:solidFill>
                <a:latin typeface="思源黑体"/>
                <a:ea typeface="思源黑体"/>
              </a:rPr>
              <a:t>随心切换——这就是声明式的好处</a:t>
            </a:r>
            <a:endParaRPr/>
          </a:p>
        </p:txBody>
      </p:sp>
      <p:sp>
        <p:nvSpPr>
          <p:cNvPr id="320" name="" descr="{&quot;isTemplate&quot;:true,&quot;type&quot;:&quot;text&quot;}"/>
          <p:cNvSpPr txBox="1"/>
          <p:nvPr/>
        </p:nvSpPr>
        <p:spPr>
          <a:xfrm rot="0" flipH="0" flipV="0">
            <a:off x="571500" y="6562725"/>
            <a:ext cx="12477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FA4B8"/>
                </a:solidFill>
                <a:latin typeface="思源黑体"/>
                <a:ea typeface="思源黑体"/>
              </a:rPr>
              <a:t>AI </a:t>
            </a:r>
            <a:r>
              <a:rPr lang="zh-CN" sz="1050">
                <a:solidFill>
                  <a:srgbClr val="8FA4B8"/>
                </a:solidFill>
                <a:latin typeface="思源黑体"/>
                <a:ea typeface="思源黑体"/>
              </a:rPr>
              <a:t>从零开始</a:t>
            </a:r>
            <a:r>
              <a:rPr lang="en-US" sz="1050">
                <a:solidFill>
                  <a:srgbClr val="8FA4B8"/>
                </a:solidFill>
                <a:latin typeface="思源黑体"/>
                <a:ea typeface="思源黑体"/>
              </a:rPr>
              <a:t> · </a:t>
            </a:r>
            <a:r>
              <a:rPr lang="zh-CN" sz="1050">
                <a:solidFill>
                  <a:srgbClr val="8FA4B8"/>
                </a:solidFill>
                <a:latin typeface="思源黑体"/>
                <a:ea typeface="思源黑体"/>
              </a:rPr>
              <a:t>第</a:t>
            </a:r>
            <a:r>
              <a:rPr lang="en-US" sz="1050">
                <a:solidFill>
                  <a:srgbClr val="8FA4B8"/>
                </a:solidFill>
                <a:latin typeface="思源黑体"/>
                <a:ea typeface="思源黑体"/>
              </a:rPr>
              <a:t> 4 </a:t>
            </a:r>
            <a:r>
              <a:rPr lang="zh-CN" sz="1050">
                <a:solidFill>
                  <a:srgbClr val="8FA4B8"/>
                </a:solidFill>
                <a:latin typeface="思源黑体"/>
                <a:ea typeface="思源黑体"/>
              </a:rPr>
              <a:t>讲</a:t>
            </a:r>
            <a:endParaRPr/>
          </a:p>
        </p:txBody>
      </p:sp>
      <p:sp>
        <p:nvSpPr>
          <p:cNvPr id="321" name="" descr="{&quot;isTemplate&quot;:true,&quot;type&quot;:&quot;text&quot;}"/>
          <p:cNvSpPr txBox="1"/>
          <p:nvPr/>
        </p:nvSpPr>
        <p:spPr>
          <a:xfrm rot="0" flipH="0" flipV="0">
            <a:off x="11210925" y="6562725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FA4B8"/>
                </a:solidFill>
                <a:latin typeface="思源黑体"/>
                <a:ea typeface="思源黑体"/>
              </a:rPr>
              <a:t>09 / 14</a:t>
            </a:r>
            <a:endParaRPr/>
          </a:p>
        </p:txBody>
      </p:sp>
    </p:spTree>
  </p:cSld>
</p:sld>
</file>

<file path=ppt/slides/slide10.xml><?xml version="1.0" encoding="utf-8"?>
<p:sld xmlns:a="http://schemas.openxmlformats.org/drawingml/2006/main" xmlns:p="http://schemas.openxmlformats.org/presentationml/2006/main">
  <p:cSld>
    <p:spTree>
      <p:nvGrpSpPr>
        <p:cNvPr id="12" name="" descr="&lt;Slide&#10;  style={{&#10;    width: '1280px', height: '720px',&#10;    background: '#F5F7FA',&#10;    padding: '20px 60px',&#10;    fontFamily: '&quot;思源黑体&quot;, sans-serif',&#10;  }}&#10;&gt;&#10;  &lt;Box style={{ width: '100%', height: '100%', flexDirection: 'row', gap: 36 }}&gt;&#10;    &lt;Box style={{ flex: 3, flexDirection: 'column' }}&gt;&#10;      &lt;Text style={{ fontSize: 14, color: '#FF9F1C', fontWeight: 'bold', letterSpacing: 2, marginBottom: 8 }}&gt;LCEL PRACTICE&lt;/Text&gt;&#10;      &lt;Text style={{ fontSize: 34, color: '#16263F', fontWeight: 'bold', marginBottom: 16 }}&gt;LCEL 实战：流式 / 异步 / 结构化输出&lt;/Text&gt;&#10;      &lt;Box style={{ width: 56, height: 4, background: '#22D3EE', marginBottom: 18 }} /&gt;&#10;      &lt;CodeBlock&#10;        code={`# 流式输出：逐 token 打印&#10;for chunk in chain.stream({&quot;topic&quot;: &quot;RAG&quot;}):&#10;    print(chunk, end=&quot;&quot;)&#10;&#10;# 异步：并发场景不阻塞&#10;result = await chain.ainvoke({&quot;topic&quot;: &quot;Agent&quot;})&#10;&#10;# 结构化输出：解析为 JSON&#10;parser = JsonOutputParser()&#10;chain = prompt | llm | parser`}&#10;        language='python'&#10;        width={620}&#10;        fontSize={13}&#10;      /&gt;&#10;    &lt;/Box&gt;&#10;&#10;    &lt;Box style={{ flex: 2, flexDirection: 'column', gap: 14, justifyContent: 'center' }}&gt;&#10;      {[&#10;        { t: 'stream', d: '长回答边生成边显示，体验像在打字' },&#10;        { t: 'ainvoke', d: 'await 异步，适合 FastAPI 等高并发服务' },&#10;        { t: 'JsonOutputParser', d: '把自由文本变成可编程的 JSON 结构' },&#10;        { t: 'astream_events', d: '监听链上每一步事件，精细排查' },&#10;      ].map((item, idx) =&gt; (&#10;        &lt;Box key={idx} style={{ background: '#FFFFFF', borderRadius: 12, padding: '16px 20px', boxShadow: '0 2px 12px rgba(22,38,63,0.06)' }}&gt;&#10;          &lt;Text style={{ fontSize: 17, fontWeight: 'bold', color: '#16263F', marginBottom: 4 }}&gt;{item.t}&lt;/Text&gt;&#10;          &lt;Text style={{ fontSize: 13, color: '#5B6B7A', lineHeight: 1.6 }}&gt;{item.d}&lt;/Text&gt;&#10;        &lt;/Box&gt;&#10;      ))}&#10;      &lt;Box style={{ background: '#DCE7F5', borderRadius: 10, padding: '14px 18px' }}&gt;&#10;        &lt;Text style={{ fontSize: 14, color: '#16263F', fontWeight: 'bold' }}&gt;&#10;          关键：同一套 Runnable 接口，切换调用方式零改动&#10;        &lt;/Text&gt;&#10;      &lt;/Box&gt;&#10;    &lt;/Box&gt;&#10;  &lt;/Box&gt;&#10;  &lt;Box style={{ position: 'absolute', bottom: 14, left: 60, right: 60, flexDirection: 'row', justifyContent: 'space-between' }}&gt;&#10;    &lt;Text style={{ fontSize: 14, color: '#5B6B7A' }}&gt;AI 从零开始 · 第 4 讲&lt;/Text&gt;&#10;    &lt;Text style={{ fontSize: 14, color: '#5B6B7A' }}&gt;10 / 14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p/>
        </p:txBody>
      </p:sp>
      <p:sp>
        <p:nvSpPr>
          <p:cNvPr id="14" name="" descr="{&quot;isTemplate&quot;:true,&quot;type&quot;:&quot;text&quot;}"/>
          <p:cNvSpPr txBox="1"/>
          <p:nvPr/>
        </p:nvSpPr>
        <p:spPr>
          <a:xfrm rot="0" flipH="0" flipV="0">
            <a:off x="571500" y="190500"/>
            <a:ext cx="64198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 spc="150">
                <a:solidFill>
                  <a:srgbClr val="FF9F1C"/>
                </a:solidFill>
                <a:latin typeface="思源黑体"/>
                <a:ea typeface="思源黑体"/>
              </a:rPr>
              <a:t>LCEL PRACTICE</a:t>
            </a:r>
            <a:endParaRPr/>
          </a:p>
        </p:txBody>
      </p:sp>
      <p:sp>
        <p:nvSpPr>
          <p:cNvPr id="15" name="" descr="{&quot;isTemplate&quot;:true,&quot;type&quot;:&quot;text&quot;}"/>
          <p:cNvSpPr txBox="1"/>
          <p:nvPr/>
        </p:nvSpPr>
        <p:spPr>
          <a:xfrm rot="0" flipH="0" flipV="0">
            <a:off x="571500" y="428625"/>
            <a:ext cx="64198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16263F"/>
                </a:solidFill>
                <a:latin typeface="思源黑体"/>
                <a:ea typeface="思源黑体"/>
              </a:rPr>
              <a:t>LCEL </a:t>
            </a:r>
            <a:r>
              <a:rPr lang="zh-CN" sz="2550" b="1">
                <a:solidFill>
                  <a:srgbClr val="16263F"/>
                </a:solidFill>
                <a:latin typeface="思源黑体"/>
                <a:ea typeface="思源黑体"/>
              </a:rPr>
              <a:t>实战：流式</a:t>
            </a:r>
            <a:r>
              <a:rPr lang="en-US" sz="2550" b="1">
                <a:solidFill>
                  <a:srgbClr val="16263F"/>
                </a:solidFill>
                <a:latin typeface="思源黑体"/>
                <a:ea typeface="思源黑体"/>
              </a:rPr>
              <a:t> / </a:t>
            </a:r>
            <a:r>
              <a:rPr lang="zh-CN" sz="2550" b="1">
                <a:solidFill>
                  <a:srgbClr val="16263F"/>
                </a:solidFill>
                <a:latin typeface="思源黑体"/>
                <a:ea typeface="思源黑体"/>
              </a:rPr>
              <a:t>异步</a:t>
            </a:r>
            <a:r>
              <a:rPr lang="en-US" sz="2550" b="1">
                <a:solidFill>
                  <a:srgbClr val="16263F"/>
                </a:solidFill>
                <a:latin typeface="思源黑体"/>
                <a:ea typeface="思源黑体"/>
              </a:rPr>
              <a:t> / </a:t>
            </a:r>
            <a:r>
              <a:rPr lang="zh-CN" sz="2550" b="1">
                <a:solidFill>
                  <a:srgbClr val="16263F"/>
                </a:solidFill>
                <a:latin typeface="思源黑体"/>
                <a:ea typeface="思源黑体"/>
              </a:rPr>
              <a:t>结构化输出</a:t>
            </a:r>
            <a:endParaRPr/>
          </a:p>
        </p:txBody>
      </p:sp>
      <p:sp>
        <p:nvSpPr>
          <p:cNvPr id="16" name=""/>
          <p:cNvSpPr/>
          <p:nvPr/>
        </p:nvSpPr>
        <p:spPr>
          <a:xfrm rot="0" flipH="0" flipV="0">
            <a:off x="571500" y="971550"/>
            <a:ext cx="533400" cy="38100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p/>
        </p:txBody>
      </p:sp>
      <p:sp>
        <p:nvSpPr>
          <p:cNvPr id="17" name=""/>
          <p:cNvSpPr/>
          <p:nvPr/>
        </p:nvSpPr>
        <p:spPr>
          <a:xfrm rot="0" flipH="0" flipV="0">
            <a:off x="7334250" y="1390650"/>
            <a:ext cx="4286250" cy="781050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/>
          <a:effectLst>
            <a:outerShdw blurRad="114300" dist="19050" dir="5400000">
              <a:srgbClr val="16263F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18" name="" descr="{&quot;isTemplate&quot;:true,&quot;type&quot;:&quot;text&quot;}"/>
          <p:cNvSpPr txBox="1"/>
          <p:nvPr/>
        </p:nvSpPr>
        <p:spPr>
          <a:xfrm rot="0" flipH="0" flipV="0">
            <a:off x="7524750" y="1543050"/>
            <a:ext cx="39052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16263F"/>
                </a:solidFill>
                <a:latin typeface="思源黑体"/>
                <a:ea typeface="思源黑体"/>
              </a:rPr>
              <a:t>stream</a:t>
            </a:r>
            <a:endParaRPr/>
          </a:p>
        </p:txBody>
      </p:sp>
      <p:sp>
        <p:nvSpPr>
          <p:cNvPr id="19" name="" descr="{&quot;isTemplate&quot;:true,&quot;type&quot;:&quot;text&quot;}"/>
          <p:cNvSpPr txBox="1"/>
          <p:nvPr/>
        </p:nvSpPr>
        <p:spPr>
          <a:xfrm rot="0" flipH="0" flipV="0">
            <a:off x="7524750" y="1781175"/>
            <a:ext cx="3905250" cy="2381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975">
                <a:solidFill>
                  <a:srgbClr val="5B6B7A"/>
                </a:solidFill>
                <a:latin typeface="思源黑体"/>
                <a:ea typeface="思源黑体"/>
              </a:rPr>
              <a:t>长回答边生成边显示，体验像在打字</a:t>
            </a:r>
            <a:endParaRPr/>
          </a:p>
        </p:txBody>
      </p:sp>
      <p:sp>
        <p:nvSpPr>
          <p:cNvPr id="20" name=""/>
          <p:cNvSpPr/>
          <p:nvPr/>
        </p:nvSpPr>
        <p:spPr>
          <a:xfrm rot="0" flipH="0" flipV="0">
            <a:off x="7334250" y="2305050"/>
            <a:ext cx="4286250" cy="781050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/>
          <a:effectLst>
            <a:outerShdw blurRad="114300" dist="19050" dir="5400000">
              <a:srgbClr val="16263F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21" name="" descr="{&quot;isTemplate&quot;:true,&quot;type&quot;:&quot;text&quot;}"/>
          <p:cNvSpPr txBox="1"/>
          <p:nvPr/>
        </p:nvSpPr>
        <p:spPr>
          <a:xfrm rot="0" flipH="0" flipV="0">
            <a:off x="7524750" y="2457450"/>
            <a:ext cx="39052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16263F"/>
                </a:solidFill>
                <a:latin typeface="思源黑体"/>
                <a:ea typeface="思源黑体"/>
              </a:rPr>
              <a:t>ainvoke</a:t>
            </a:r>
            <a:endParaRPr/>
          </a:p>
        </p:txBody>
      </p:sp>
      <p:sp>
        <p:nvSpPr>
          <p:cNvPr id="22" name="" descr="{&quot;isTemplate&quot;:true,&quot;type&quot;:&quot;text&quot;}"/>
          <p:cNvSpPr txBox="1"/>
          <p:nvPr/>
        </p:nvSpPr>
        <p:spPr>
          <a:xfrm rot="0" flipH="0" flipV="0">
            <a:off x="7524750" y="2695575"/>
            <a:ext cx="3905250" cy="2381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975">
                <a:solidFill>
                  <a:srgbClr val="5B6B7A"/>
                </a:solidFill>
                <a:latin typeface="思源黑体"/>
                <a:ea typeface="思源黑体"/>
              </a:rPr>
              <a:t>await </a:t>
            </a:r>
            <a:r>
              <a:rPr lang="zh-CN" sz="975">
                <a:solidFill>
                  <a:srgbClr val="5B6B7A"/>
                </a:solidFill>
                <a:latin typeface="思源黑体"/>
                <a:ea typeface="思源黑体"/>
              </a:rPr>
              <a:t>异步，适合</a:t>
            </a:r>
            <a:r>
              <a:rPr lang="en-US" sz="975">
                <a:solidFill>
                  <a:srgbClr val="5B6B7A"/>
                </a:solidFill>
                <a:latin typeface="思源黑体"/>
                <a:ea typeface="思源黑体"/>
              </a:rPr>
              <a:t> FastAPI </a:t>
            </a:r>
            <a:r>
              <a:rPr lang="zh-CN" sz="975">
                <a:solidFill>
                  <a:srgbClr val="5B6B7A"/>
                </a:solidFill>
                <a:latin typeface="思源黑体"/>
                <a:ea typeface="思源黑体"/>
              </a:rPr>
              <a:t>等高并发服务</a:t>
            </a:r>
            <a:endParaRPr/>
          </a:p>
        </p:txBody>
      </p:sp>
      <p:sp>
        <p:nvSpPr>
          <p:cNvPr id="23" name=""/>
          <p:cNvSpPr/>
          <p:nvPr/>
        </p:nvSpPr>
        <p:spPr>
          <a:xfrm rot="0" flipH="0" flipV="0">
            <a:off x="7334250" y="3219450"/>
            <a:ext cx="4286250" cy="781050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/>
          <a:effectLst>
            <a:outerShdw blurRad="114300" dist="19050" dir="5400000">
              <a:srgbClr val="16263F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24" name="" descr="{&quot;isTemplate&quot;:true,&quot;type&quot;:&quot;text&quot;}"/>
          <p:cNvSpPr txBox="1"/>
          <p:nvPr/>
        </p:nvSpPr>
        <p:spPr>
          <a:xfrm rot="0" flipH="0" flipV="0">
            <a:off x="7524750" y="3371850"/>
            <a:ext cx="39052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16263F"/>
                </a:solidFill>
                <a:latin typeface="思源黑体"/>
                <a:ea typeface="思源黑体"/>
              </a:rPr>
              <a:t>JsonOutputParser</a:t>
            </a:r>
            <a:endParaRPr/>
          </a:p>
        </p:txBody>
      </p:sp>
      <p:sp>
        <p:nvSpPr>
          <p:cNvPr id="25" name="" descr="{&quot;isTemplate&quot;:true,&quot;type&quot;:&quot;text&quot;}"/>
          <p:cNvSpPr txBox="1"/>
          <p:nvPr/>
        </p:nvSpPr>
        <p:spPr>
          <a:xfrm rot="0" flipH="0" flipV="0">
            <a:off x="7524750" y="3609975"/>
            <a:ext cx="3905250" cy="2381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975">
                <a:solidFill>
                  <a:srgbClr val="5B6B7A"/>
                </a:solidFill>
                <a:latin typeface="思源黑体"/>
                <a:ea typeface="思源黑体"/>
              </a:rPr>
              <a:t>把自由文本变成可编程的</a:t>
            </a:r>
            <a:r>
              <a:rPr lang="en-US" sz="975">
                <a:solidFill>
                  <a:srgbClr val="5B6B7A"/>
                </a:solidFill>
                <a:latin typeface="思源黑体"/>
                <a:ea typeface="思源黑体"/>
              </a:rPr>
              <a:t> JSON </a:t>
            </a:r>
            <a:r>
              <a:rPr lang="zh-CN" sz="975">
                <a:solidFill>
                  <a:srgbClr val="5B6B7A"/>
                </a:solidFill>
                <a:latin typeface="思源黑体"/>
                <a:ea typeface="思源黑体"/>
              </a:rPr>
              <a:t>结构</a:t>
            </a:r>
            <a:endParaRPr/>
          </a:p>
        </p:txBody>
      </p:sp>
      <p:sp>
        <p:nvSpPr>
          <p:cNvPr id="26" name=""/>
          <p:cNvSpPr/>
          <p:nvPr/>
        </p:nvSpPr>
        <p:spPr>
          <a:xfrm rot="0" flipH="0" flipV="0">
            <a:off x="7334250" y="4133850"/>
            <a:ext cx="4286250" cy="781050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/>
          <a:effectLst>
            <a:outerShdw blurRad="114300" dist="19050" dir="5400000">
              <a:srgbClr val="16263F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27" name="" descr="{&quot;isTemplate&quot;:true,&quot;type&quot;:&quot;text&quot;}"/>
          <p:cNvSpPr txBox="1"/>
          <p:nvPr/>
        </p:nvSpPr>
        <p:spPr>
          <a:xfrm rot="0" flipH="0" flipV="0">
            <a:off x="7524750" y="4286250"/>
            <a:ext cx="39052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16263F"/>
                </a:solidFill>
                <a:latin typeface="思源黑体"/>
                <a:ea typeface="思源黑体"/>
              </a:rPr>
              <a:t>astream_events</a:t>
            </a:r>
            <a:endParaRPr/>
          </a:p>
        </p:txBody>
      </p:sp>
      <p:sp>
        <p:nvSpPr>
          <p:cNvPr id="28" name="" descr="{&quot;isTemplate&quot;:true,&quot;type&quot;:&quot;text&quot;}"/>
          <p:cNvSpPr txBox="1"/>
          <p:nvPr/>
        </p:nvSpPr>
        <p:spPr>
          <a:xfrm rot="0" flipH="0" flipV="0">
            <a:off x="7524750" y="4524375"/>
            <a:ext cx="3905250" cy="2381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975">
                <a:solidFill>
                  <a:srgbClr val="5B6B7A"/>
                </a:solidFill>
                <a:latin typeface="思源黑体"/>
                <a:ea typeface="思源黑体"/>
              </a:rPr>
              <a:t>监听链上每一步事件，精细排查</a:t>
            </a:r>
            <a:endParaRPr/>
          </a:p>
        </p:txBody>
      </p:sp>
      <p:sp>
        <p:nvSpPr>
          <p:cNvPr id="29" name=""/>
          <p:cNvSpPr/>
          <p:nvPr/>
        </p:nvSpPr>
        <p:spPr>
          <a:xfrm rot="0" flipH="0" flipV="0">
            <a:off x="7334250" y="5048250"/>
            <a:ext cx="4286250" cy="428625"/>
          </a:xfrm>
          <a:prstGeom prst="roundRect">
            <a:avLst>
              <a:gd name="adj" fmla="val 22222"/>
            </a:avLst>
          </a:prstGeom>
          <a:solidFill>
            <a:srgbClr val="DCE7F5"/>
          </a:solidFill>
          <a:ln/>
        </p:spPr>
        <p:txBody>
          <a:bodyPr/>
          <a:p/>
        </p:txBody>
      </p:sp>
      <p:sp>
        <p:nvSpPr>
          <p:cNvPr id="30" name="" descr="{&quot;isTemplate&quot;:true,&quot;type&quot;:&quot;text&quot;}"/>
          <p:cNvSpPr txBox="1"/>
          <p:nvPr/>
        </p:nvSpPr>
        <p:spPr>
          <a:xfrm rot="0" flipH="0" flipV="0">
            <a:off x="7505700" y="5181600"/>
            <a:ext cx="3943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16263F"/>
                </a:solidFill>
                <a:latin typeface="思源黑体"/>
                <a:ea typeface="思源黑体"/>
              </a:rPr>
              <a:t>关键：同一套</a:t>
            </a:r>
            <a:r>
              <a:rPr lang="en-US" sz="1050" b="1">
                <a:solidFill>
                  <a:srgbClr val="16263F"/>
                </a:solidFill>
                <a:latin typeface="思源黑体"/>
                <a:ea typeface="思源黑体"/>
              </a:rPr>
              <a:t> Runnable </a:t>
            </a:r>
            <a:r>
              <a:rPr lang="zh-CN" sz="1050" b="1">
                <a:solidFill>
                  <a:srgbClr val="16263F"/>
                </a:solidFill>
                <a:latin typeface="思源黑体"/>
                <a:ea typeface="思源黑体"/>
              </a:rPr>
              <a:t>接口，切换调用方式零改动</a:t>
            </a:r>
            <a:endParaRPr/>
          </a:p>
        </p:txBody>
      </p:sp>
      <p:sp>
        <p:nvSpPr>
          <p:cNvPr id="31" name=""/>
          <p:cNvSpPr/>
          <p:nvPr/>
        </p:nvSpPr>
        <p:spPr>
          <a:xfrm rot="0" flipH="0" flipV="0">
            <a:off x="571500" y="1181100"/>
            <a:ext cx="6419850" cy="2352675"/>
          </a:xfrm>
          <a:prstGeom prst="roundRect">
            <a:avLst>
              <a:gd name="adj" fmla="val 3239"/>
            </a:avLst>
          </a:prstGeom>
          <a:solidFill>
            <a:srgbClr val="F6F8FA"/>
          </a:solidFill>
          <a:ln/>
        </p:spPr>
        <p:txBody>
          <a:bodyPr/>
          <a:p/>
        </p:txBody>
      </p:sp>
      <p:sp>
        <p:nvSpPr>
          <p:cNvPr id="32" name=""/>
          <p:cNvSpPr txBox="1"/>
          <p:nvPr/>
        </p:nvSpPr>
        <p:spPr>
          <a:xfrm rot="0" flipH="0" flipV="0">
            <a:off x="723900" y="1314450"/>
            <a:ext cx="6115050" cy="20859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sz="975">
                <a:solidFill>
                  <a:srgbClr val="6A737D"/>
                </a:solidFill>
                <a:latin typeface="Menlo"/>
                <a:ea typeface="Menlo"/>
              </a:rPr>
              <a:t># 流式输出：逐 token 打印</a:t>
            </a:r>
            <a:endParaRPr/>
          </a:p>
          <a:p>
            <a:pPr>
              <a:lnSpc>
                <a:spcPct val="140000"/>
              </a:lnSpc>
            </a:pPr>
            <a:r>
              <a:rPr sz="975">
                <a:solidFill>
                  <a:srgbClr val="D73A49"/>
                </a:solidFill>
                <a:latin typeface="Menlo"/>
                <a:ea typeface="Menlo"/>
              </a:rPr>
              <a:t>for</a:t>
            </a: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 chunk </a:t>
            </a:r>
            <a:r>
              <a:rPr sz="975">
                <a:solidFill>
                  <a:srgbClr val="D73A49"/>
                </a:solidFill>
                <a:latin typeface="Menlo"/>
                <a:ea typeface="Menlo"/>
              </a:rPr>
              <a:t>in</a:t>
            </a: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 chain.stream({</a:t>
            </a:r>
            <a:r>
              <a:rPr sz="975">
                <a:solidFill>
                  <a:srgbClr val="032F62"/>
                </a:solidFill>
                <a:latin typeface="Menlo"/>
                <a:ea typeface="Menlo"/>
              </a:rPr>
              <a:t>"topic"</a:t>
            </a: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: </a:t>
            </a:r>
            <a:r>
              <a:rPr sz="975">
                <a:solidFill>
                  <a:srgbClr val="032F62"/>
                </a:solidFill>
                <a:latin typeface="Menlo"/>
                <a:ea typeface="Menlo"/>
              </a:rPr>
              <a:t>"RAG"</a:t>
            </a: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}):</a:t>
            </a:r>
            <a:endParaRPr/>
          </a:p>
          <a:p>
            <a:pPr>
              <a:lnSpc>
                <a:spcPct val="140000"/>
              </a:lnSpc>
            </a:pP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    </a:t>
            </a:r>
            <a:r>
              <a:rPr sz="975">
                <a:solidFill>
                  <a:srgbClr val="005CC5"/>
                </a:solidFill>
                <a:latin typeface="Menlo"/>
                <a:ea typeface="Menlo"/>
              </a:rPr>
              <a:t>print</a:t>
            </a: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(chunk, </a:t>
            </a:r>
            <a:r>
              <a:rPr sz="975">
                <a:solidFill>
                  <a:srgbClr val="E36209"/>
                </a:solidFill>
                <a:latin typeface="Menlo"/>
                <a:ea typeface="Menlo"/>
              </a:rPr>
              <a:t>end</a:t>
            </a:r>
            <a:r>
              <a:rPr sz="975">
                <a:solidFill>
                  <a:srgbClr val="D73A49"/>
                </a:solidFill>
                <a:latin typeface="Menlo"/>
                <a:ea typeface="Menlo"/>
              </a:rPr>
              <a:t>=</a:t>
            </a:r>
            <a:r>
              <a:rPr sz="975">
                <a:solidFill>
                  <a:srgbClr val="032F62"/>
                </a:solidFill>
                <a:latin typeface="Menlo"/>
                <a:ea typeface="Menlo"/>
              </a:rPr>
              <a:t>""</a:t>
            </a: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)</a:t>
            </a:r>
            <a:endParaRPr/>
          </a:p>
          <a:p>
            <a:pPr>
              <a:lnSpc>
                <a:spcPct val="140000"/>
              </a:lnSpc>
            </a:pPr>
            <a:r>
              <a:rPr sz="975">
                <a:solidFill>
                  <a:srgbClr val="E5E7EB"/>
                </a:solidFill>
                <a:latin typeface="Menlo"/>
                <a:ea typeface="Menlo"/>
              </a:rPr>
              <a:t> </a:t>
            </a:r>
            <a:endParaRPr/>
          </a:p>
          <a:p>
            <a:pPr>
              <a:lnSpc>
                <a:spcPct val="140000"/>
              </a:lnSpc>
            </a:pPr>
            <a:r>
              <a:rPr sz="975">
                <a:solidFill>
                  <a:srgbClr val="6A737D"/>
                </a:solidFill>
                <a:latin typeface="Menlo"/>
                <a:ea typeface="Menlo"/>
              </a:rPr>
              <a:t># 异步：并发场景不阻塞</a:t>
            </a:r>
            <a:endParaRPr/>
          </a:p>
          <a:p>
            <a:pPr>
              <a:lnSpc>
                <a:spcPct val="140000"/>
              </a:lnSpc>
            </a:pP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result </a:t>
            </a:r>
            <a:r>
              <a:rPr sz="975">
                <a:solidFill>
                  <a:srgbClr val="D73A49"/>
                </a:solidFill>
                <a:latin typeface="Menlo"/>
                <a:ea typeface="Menlo"/>
              </a:rPr>
              <a:t>=</a:t>
            </a: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 </a:t>
            </a:r>
            <a:r>
              <a:rPr sz="975">
                <a:solidFill>
                  <a:srgbClr val="D73A49"/>
                </a:solidFill>
                <a:latin typeface="Menlo"/>
                <a:ea typeface="Menlo"/>
              </a:rPr>
              <a:t>await</a:t>
            </a: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 chain.ainvoke({</a:t>
            </a:r>
            <a:r>
              <a:rPr sz="975">
                <a:solidFill>
                  <a:srgbClr val="032F62"/>
                </a:solidFill>
                <a:latin typeface="Menlo"/>
                <a:ea typeface="Menlo"/>
              </a:rPr>
              <a:t>"topic"</a:t>
            </a: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: </a:t>
            </a:r>
            <a:r>
              <a:rPr sz="975">
                <a:solidFill>
                  <a:srgbClr val="032F62"/>
                </a:solidFill>
                <a:latin typeface="Menlo"/>
                <a:ea typeface="Menlo"/>
              </a:rPr>
              <a:t>"Agent"</a:t>
            </a: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})</a:t>
            </a:r>
            <a:endParaRPr/>
          </a:p>
          <a:p>
            <a:pPr>
              <a:lnSpc>
                <a:spcPct val="140000"/>
              </a:lnSpc>
            </a:pPr>
            <a:r>
              <a:rPr sz="975">
                <a:solidFill>
                  <a:srgbClr val="E5E7EB"/>
                </a:solidFill>
                <a:latin typeface="Menlo"/>
                <a:ea typeface="Menlo"/>
              </a:rPr>
              <a:t> </a:t>
            </a:r>
            <a:endParaRPr/>
          </a:p>
          <a:p>
            <a:pPr>
              <a:lnSpc>
                <a:spcPct val="140000"/>
              </a:lnSpc>
            </a:pPr>
            <a:r>
              <a:rPr sz="975">
                <a:solidFill>
                  <a:srgbClr val="6A737D"/>
                </a:solidFill>
                <a:latin typeface="Menlo"/>
                <a:ea typeface="Menlo"/>
              </a:rPr>
              <a:t># 结构化输出：解析为 JSON</a:t>
            </a:r>
            <a:endParaRPr/>
          </a:p>
          <a:p>
            <a:pPr>
              <a:lnSpc>
                <a:spcPct val="140000"/>
              </a:lnSpc>
            </a:pP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parser </a:t>
            </a:r>
            <a:r>
              <a:rPr sz="975">
                <a:solidFill>
                  <a:srgbClr val="D73A49"/>
                </a:solidFill>
                <a:latin typeface="Menlo"/>
                <a:ea typeface="Menlo"/>
              </a:rPr>
              <a:t>=</a:t>
            </a: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 JsonOutputParser()</a:t>
            </a:r>
            <a:endParaRPr/>
          </a:p>
          <a:p>
            <a:pPr>
              <a:lnSpc>
                <a:spcPct val="140000"/>
              </a:lnSpc>
            </a:pP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chain </a:t>
            </a:r>
            <a:r>
              <a:rPr sz="975">
                <a:solidFill>
                  <a:srgbClr val="D73A49"/>
                </a:solidFill>
                <a:latin typeface="Menlo"/>
                <a:ea typeface="Menlo"/>
              </a:rPr>
              <a:t>=</a:t>
            </a: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 prompt </a:t>
            </a:r>
            <a:r>
              <a:rPr sz="975">
                <a:solidFill>
                  <a:srgbClr val="D73A49"/>
                </a:solidFill>
                <a:latin typeface="Menlo"/>
                <a:ea typeface="Menlo"/>
              </a:rPr>
              <a:t>|</a:t>
            </a: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 llm </a:t>
            </a:r>
            <a:r>
              <a:rPr sz="975">
                <a:solidFill>
                  <a:srgbClr val="D73A49"/>
                </a:solidFill>
                <a:latin typeface="Menlo"/>
                <a:ea typeface="Menlo"/>
              </a:rPr>
              <a:t>|</a:t>
            </a: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 parser</a:t>
            </a:r>
            <a:endParaRPr/>
          </a:p>
        </p:txBody>
      </p:sp>
      <p:sp>
        <p:nvSpPr>
          <p:cNvPr id="33" name="" descr="{&quot;isTemplate&quot;:true,&quot;type&quot;:&quot;text&quot;}"/>
          <p:cNvSpPr txBox="1"/>
          <p:nvPr/>
        </p:nvSpPr>
        <p:spPr>
          <a:xfrm rot="0" flipH="0" flipV="0">
            <a:off x="571500" y="6562725"/>
            <a:ext cx="12477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AI </a:t>
            </a: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从零开始</a:t>
            </a: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 · </a:t>
            </a: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第</a:t>
            </a: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 4 </a:t>
            </a: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讲</a:t>
            </a:r>
            <a:endParaRPr/>
          </a:p>
        </p:txBody>
      </p:sp>
      <p:sp>
        <p:nvSpPr>
          <p:cNvPr id="34" name="" descr="{&quot;isTemplate&quot;:true,&quot;type&quot;:&quot;text&quot;}"/>
          <p:cNvSpPr txBox="1"/>
          <p:nvPr/>
        </p:nvSpPr>
        <p:spPr>
          <a:xfrm rot="0" flipH="0" flipV="0">
            <a:off x="11210925" y="6562725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10 / 14</a:t>
            </a:r>
            <a:endParaRPr/>
          </a:p>
        </p:txBody>
      </p:sp>
    </p:spTree>
  </p:cSld>
</p:sld>
</file>

<file path=ppt/slides/slide11.xml><?xml version="1.0" encoding="utf-8"?>
<p:sld xmlns:a="http://schemas.openxmlformats.org/drawingml/2006/main" xmlns:p="http://schemas.openxmlformats.org/presentationml/2006/main">
  <p:cSld>
    <p:spTree>
      <p:nvGrpSpPr>
        <p:cNvPr id="35" name="" descr="&lt;Slide&#10;  style={{&#10;    width: '1280px', height: '720px',&#10;    background: '#F5F7FA',&#10;    padding: '20px 60px',&#10;    fontFamily: '&quot;思源黑体&quot;, sans-serif',&#10;  }}&#10;&gt;&#10;  &lt;Box style={{ width: '100%', height: '100%', flexDirection: 'row', gap: 36 }}&gt;&#10;    &lt;Box style={{ flex: 3, flexDirection: 'column' }}&gt;&#10;      &lt;Text style={{ fontSize: 14, color: '#FF9F1C', fontWeight: 'bold', letterSpacing: 2, marginBottom: 8 }}&gt;DEPLOY&lt;/Text&gt;&#10;      &lt;Text style={{ fontSize: 34, color: '#16263F', fontWeight: 'bold', marginBottom: 16 }}&gt;LangServe：链 → RESTful API 一键部署&lt;/Text&gt;&#10;      &lt;Box style={{ width: 56, height: 4, background: '#22D3EE', marginBottom: 18 }} /&gt;&#10;      &lt;CodeBlock&#10;        code={`# 1. 脚手架生成项目&#10;pip install &quot;langserve[all]&quot;&#10;langchain app new my-app --package rag-demo&#10;&#10;# 2. 一行挂载为 RESTful 接口&#10;from langserve import add_routes&#10;add_routes(app, chain, path=&quot;/chain&quot;)&#10;&#10;# 3. 启动，自动生成 Swagger 文档&#10;langchain serve   # http://localhost:8000/chain`}&#10;        language='python'&#10;        width={620}&#10;        fontSize={13}&#10;      /&gt;&#10;    &lt;/Box&gt;&#10;&#10;    &lt;Box style={{ flex: 2, flexDirection: 'column', gap: 14, justifyContent: 'center' }}&gt;&#10;      {[&#10;        { t: '脚手架', d: 'langchain-cli 生成标准项目结构，开箱即用' },&#10;        { t: 'add_routes', d: '把 chain 挂到路径上，自动暴露 REST 端点' },&#10;        { t: 'Swagger', d: '自带 API 文档页，前端可直接对接' },&#10;      ].map((item, idx) =&gt; (&#10;        &lt;Box key={idx} style={{ background: '#FFFFFF', borderRadius: 12, padding: '16px 20px', boxShadow: '0 2px 12px rgba(22,38,63,0.06)' }}&gt;&#10;          &lt;Text style={{ fontSize: 17, fontWeight: 'bold', color: '#16263F', marginBottom: 4 }}&gt;{item.t}&lt;/Text&gt;&#10;          &lt;Text style={{ fontSize: 13, color: '#5B6B7A', lineHeight: 1.6 }}&gt;{item.d}&lt;/Text&gt;&#10;        &lt;/Box&gt;&#10;      ))}&#10;      &lt;Box style={{ background: '#16263F', borderRadius: 10, padding: '14px 18px' }}&gt;&#10;        &lt;Text style={{ fontSize: 14, color: '#DCE7F5', lineHeight: 1.6 }}&gt;&#10;          部署不再是「写 Flask + 接模型」的苦活，&lt;span style={{ color: '#22D3EE', fontWeight: 'bold' }}&gt;写好的链直接上线&lt;/span&gt;。&#10;        &lt;/Text&gt;&#10;      &lt;/Box&gt;&#10;    &lt;/Box&gt;&#10;  &lt;/Box&gt;&#10;  &lt;Box style={{ position: 'absolute', bottom: 14, left: 60, right: 60, flexDirection: 'row', justifyContent: 'space-between' }}&gt;&#10;    &lt;Text style={{ fontSize: 14, color: '#5B6B7A' }}&gt;AI 从零开始 · 第 4 讲&lt;/Text&gt;&#10;    &lt;Text style={{ fontSize: 14, color: '#5B6B7A' }}&gt;11 / 14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p/>
        </p:txBody>
      </p:sp>
      <p:sp>
        <p:nvSpPr>
          <p:cNvPr id="37" name="" descr="{&quot;isTemplate&quot;:true,&quot;type&quot;:&quot;text&quot;}"/>
          <p:cNvSpPr txBox="1"/>
          <p:nvPr/>
        </p:nvSpPr>
        <p:spPr>
          <a:xfrm rot="0" flipH="0" flipV="0">
            <a:off x="571500" y="190500"/>
            <a:ext cx="64198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 spc="150">
                <a:solidFill>
                  <a:srgbClr val="FF9F1C"/>
                </a:solidFill>
                <a:latin typeface="思源黑体"/>
                <a:ea typeface="思源黑体"/>
              </a:rPr>
              <a:t>DEPLOY</a:t>
            </a:r>
            <a:endParaRPr/>
          </a:p>
        </p:txBody>
      </p:sp>
      <p:sp>
        <p:nvSpPr>
          <p:cNvPr id="38" name="" descr="{&quot;isTemplate&quot;:true,&quot;type&quot;:&quot;text&quot;}"/>
          <p:cNvSpPr txBox="1"/>
          <p:nvPr/>
        </p:nvSpPr>
        <p:spPr>
          <a:xfrm rot="0" flipH="0" flipV="0">
            <a:off x="571500" y="428625"/>
            <a:ext cx="64198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16263F"/>
                </a:solidFill>
                <a:latin typeface="思源黑体"/>
                <a:ea typeface="思源黑体"/>
              </a:rPr>
              <a:t>LangServe</a:t>
            </a:r>
            <a:r>
              <a:rPr lang="zh-CN" sz="2550" b="1">
                <a:solidFill>
                  <a:srgbClr val="16263F"/>
                </a:solidFill>
                <a:latin typeface="思源黑体"/>
                <a:ea typeface="思源黑体"/>
              </a:rPr>
              <a:t>：链</a:t>
            </a:r>
            <a:r>
              <a:rPr lang="en-US" sz="2550" b="1">
                <a:solidFill>
                  <a:srgbClr val="16263F"/>
                </a:solidFill>
                <a:latin typeface="思源黑体"/>
                <a:ea typeface="思源黑体"/>
              </a:rPr>
              <a:t> → RESTful API </a:t>
            </a:r>
            <a:r>
              <a:rPr lang="zh-CN" sz="2550" b="1">
                <a:solidFill>
                  <a:srgbClr val="16263F"/>
                </a:solidFill>
                <a:latin typeface="思源黑体"/>
                <a:ea typeface="思源黑体"/>
              </a:rPr>
              <a:t>一键部署</a:t>
            </a:r>
            <a:endParaRPr/>
          </a:p>
        </p:txBody>
      </p:sp>
      <p:sp>
        <p:nvSpPr>
          <p:cNvPr id="39" name=""/>
          <p:cNvSpPr/>
          <p:nvPr/>
        </p:nvSpPr>
        <p:spPr>
          <a:xfrm rot="0" flipH="0" flipV="0">
            <a:off x="571500" y="971550"/>
            <a:ext cx="533400" cy="38100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p/>
        </p:txBody>
      </p:sp>
      <p:sp>
        <p:nvSpPr>
          <p:cNvPr id="40" name=""/>
          <p:cNvSpPr/>
          <p:nvPr/>
        </p:nvSpPr>
        <p:spPr>
          <a:xfrm rot="0" flipH="0" flipV="0">
            <a:off x="7334250" y="1800225"/>
            <a:ext cx="4286250" cy="781050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/>
          <a:effectLst>
            <a:outerShdw blurRad="114300" dist="19050" dir="5400000">
              <a:srgbClr val="16263F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41" name="" descr="{&quot;isTemplate&quot;:true,&quot;type&quot;:&quot;text&quot;}"/>
          <p:cNvSpPr txBox="1"/>
          <p:nvPr/>
        </p:nvSpPr>
        <p:spPr>
          <a:xfrm rot="0" flipH="0" flipV="0">
            <a:off x="7524750" y="1952625"/>
            <a:ext cx="39052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16263F"/>
                </a:solidFill>
                <a:latin typeface="思源黑体"/>
                <a:ea typeface="思源黑体"/>
              </a:rPr>
              <a:t>脚手架</a:t>
            </a:r>
            <a:endParaRPr/>
          </a:p>
        </p:txBody>
      </p:sp>
      <p:sp>
        <p:nvSpPr>
          <p:cNvPr id="42" name="" descr="{&quot;isTemplate&quot;:true,&quot;type&quot;:&quot;text&quot;}"/>
          <p:cNvSpPr txBox="1"/>
          <p:nvPr/>
        </p:nvSpPr>
        <p:spPr>
          <a:xfrm rot="0" flipH="0" flipV="0">
            <a:off x="7524750" y="2190750"/>
            <a:ext cx="3905250" cy="2381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975">
                <a:solidFill>
                  <a:srgbClr val="5B6B7A"/>
                </a:solidFill>
                <a:latin typeface="思源黑体"/>
                <a:ea typeface="思源黑体"/>
              </a:rPr>
              <a:t>langchain-cli </a:t>
            </a:r>
            <a:r>
              <a:rPr lang="zh-CN" sz="975">
                <a:solidFill>
                  <a:srgbClr val="5B6B7A"/>
                </a:solidFill>
                <a:latin typeface="思源黑体"/>
                <a:ea typeface="思源黑体"/>
              </a:rPr>
              <a:t>生成标准项目结构，开箱即用</a:t>
            </a:r>
            <a:endParaRPr/>
          </a:p>
        </p:txBody>
      </p:sp>
      <p:sp>
        <p:nvSpPr>
          <p:cNvPr id="43" name=""/>
          <p:cNvSpPr/>
          <p:nvPr/>
        </p:nvSpPr>
        <p:spPr>
          <a:xfrm rot="0" flipH="0" flipV="0">
            <a:off x="7334250" y="2714625"/>
            <a:ext cx="4286250" cy="781050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/>
          <a:effectLst>
            <a:outerShdw blurRad="114300" dist="19050" dir="5400000">
              <a:srgbClr val="16263F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44" name="" descr="{&quot;isTemplate&quot;:true,&quot;type&quot;:&quot;text&quot;}"/>
          <p:cNvSpPr txBox="1"/>
          <p:nvPr/>
        </p:nvSpPr>
        <p:spPr>
          <a:xfrm rot="0" flipH="0" flipV="0">
            <a:off x="7524750" y="2867025"/>
            <a:ext cx="39052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16263F"/>
                </a:solidFill>
                <a:latin typeface="思源黑体"/>
                <a:ea typeface="思源黑体"/>
              </a:rPr>
              <a:t>add_routes</a:t>
            </a:r>
            <a:endParaRPr/>
          </a:p>
        </p:txBody>
      </p:sp>
      <p:sp>
        <p:nvSpPr>
          <p:cNvPr id="45" name="" descr="{&quot;isTemplate&quot;:true,&quot;type&quot;:&quot;text&quot;}"/>
          <p:cNvSpPr txBox="1"/>
          <p:nvPr/>
        </p:nvSpPr>
        <p:spPr>
          <a:xfrm rot="0" flipH="0" flipV="0">
            <a:off x="7524750" y="3105150"/>
            <a:ext cx="3905250" cy="2381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975">
                <a:solidFill>
                  <a:srgbClr val="5B6B7A"/>
                </a:solidFill>
                <a:latin typeface="思源黑体"/>
                <a:ea typeface="思源黑体"/>
              </a:rPr>
              <a:t>把</a:t>
            </a:r>
            <a:r>
              <a:rPr lang="en-US" sz="975">
                <a:solidFill>
                  <a:srgbClr val="5B6B7A"/>
                </a:solidFill>
                <a:latin typeface="思源黑体"/>
                <a:ea typeface="思源黑体"/>
              </a:rPr>
              <a:t> chain </a:t>
            </a:r>
            <a:r>
              <a:rPr lang="zh-CN" sz="975">
                <a:solidFill>
                  <a:srgbClr val="5B6B7A"/>
                </a:solidFill>
                <a:latin typeface="思源黑体"/>
                <a:ea typeface="思源黑体"/>
              </a:rPr>
              <a:t>挂到路径上，自动暴露</a:t>
            </a:r>
            <a:r>
              <a:rPr lang="en-US" sz="975">
                <a:solidFill>
                  <a:srgbClr val="5B6B7A"/>
                </a:solidFill>
                <a:latin typeface="思源黑体"/>
                <a:ea typeface="思源黑体"/>
              </a:rPr>
              <a:t> REST </a:t>
            </a:r>
            <a:r>
              <a:rPr lang="zh-CN" sz="975">
                <a:solidFill>
                  <a:srgbClr val="5B6B7A"/>
                </a:solidFill>
                <a:latin typeface="思源黑体"/>
                <a:ea typeface="思源黑体"/>
              </a:rPr>
              <a:t>端点</a:t>
            </a:r>
            <a:endParaRPr/>
          </a:p>
        </p:txBody>
      </p:sp>
      <p:sp>
        <p:nvSpPr>
          <p:cNvPr id="46" name=""/>
          <p:cNvSpPr/>
          <p:nvPr/>
        </p:nvSpPr>
        <p:spPr>
          <a:xfrm rot="0" flipH="0" flipV="0">
            <a:off x="7334250" y="3629025"/>
            <a:ext cx="4286250" cy="781050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/>
          <a:effectLst>
            <a:outerShdw blurRad="114300" dist="19050" dir="5400000">
              <a:srgbClr val="16263F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47" name="" descr="{&quot;isTemplate&quot;:true,&quot;type&quot;:&quot;text&quot;}"/>
          <p:cNvSpPr txBox="1"/>
          <p:nvPr/>
        </p:nvSpPr>
        <p:spPr>
          <a:xfrm rot="0" flipH="0" flipV="0">
            <a:off x="7524750" y="3781425"/>
            <a:ext cx="39052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16263F"/>
                </a:solidFill>
                <a:latin typeface="思源黑体"/>
                <a:ea typeface="思源黑体"/>
              </a:rPr>
              <a:t>Swagger</a:t>
            </a:r>
            <a:endParaRPr/>
          </a:p>
        </p:txBody>
      </p:sp>
      <p:sp>
        <p:nvSpPr>
          <p:cNvPr id="48" name="" descr="{&quot;isTemplate&quot;:true,&quot;type&quot;:&quot;text&quot;}"/>
          <p:cNvSpPr txBox="1"/>
          <p:nvPr/>
        </p:nvSpPr>
        <p:spPr>
          <a:xfrm rot="0" flipH="0" flipV="0">
            <a:off x="7524750" y="4019550"/>
            <a:ext cx="3905250" cy="2381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975">
                <a:solidFill>
                  <a:srgbClr val="5B6B7A"/>
                </a:solidFill>
                <a:latin typeface="思源黑体"/>
                <a:ea typeface="思源黑体"/>
              </a:rPr>
              <a:t>自带</a:t>
            </a:r>
            <a:r>
              <a:rPr lang="en-US" sz="975">
                <a:solidFill>
                  <a:srgbClr val="5B6B7A"/>
                </a:solidFill>
                <a:latin typeface="思源黑体"/>
                <a:ea typeface="思源黑体"/>
              </a:rPr>
              <a:t> API </a:t>
            </a:r>
            <a:r>
              <a:rPr lang="zh-CN" sz="975">
                <a:solidFill>
                  <a:srgbClr val="5B6B7A"/>
                </a:solidFill>
                <a:latin typeface="思源黑体"/>
                <a:ea typeface="思源黑体"/>
              </a:rPr>
              <a:t>文档页，前端可直接对接</a:t>
            </a:r>
            <a:endParaRPr/>
          </a:p>
        </p:txBody>
      </p:sp>
      <p:sp>
        <p:nvSpPr>
          <p:cNvPr id="49" name=""/>
          <p:cNvSpPr/>
          <p:nvPr/>
        </p:nvSpPr>
        <p:spPr>
          <a:xfrm rot="0" flipH="0" flipV="0">
            <a:off x="7334250" y="4543425"/>
            <a:ext cx="4286250" cy="523875"/>
          </a:xfrm>
          <a:prstGeom prst="roundRect">
            <a:avLst>
              <a:gd name="adj" fmla="val 18182"/>
            </a:avLst>
          </a:prstGeom>
          <a:solidFill>
            <a:srgbClr val="16263F"/>
          </a:solidFill>
          <a:ln/>
        </p:spPr>
        <p:txBody>
          <a:bodyPr/>
          <a:p/>
        </p:txBody>
      </p:sp>
      <p:sp>
        <p:nvSpPr>
          <p:cNvPr id="50" name="" descr="{&quot;isTemplate&quot;:true,&quot;type&quot;:&quot;text&quot;}"/>
          <p:cNvSpPr txBox="1"/>
          <p:nvPr/>
        </p:nvSpPr>
        <p:spPr>
          <a:xfrm rot="0" flipH="0" flipV="0">
            <a:off x="7505700" y="4676775"/>
            <a:ext cx="3943350" cy="2571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>
                <a:solidFill>
                  <a:srgbClr val="DCE7F5"/>
                </a:solidFill>
                <a:latin typeface="思源黑体"/>
                <a:ea typeface="思源黑体"/>
              </a:rPr>
              <a:t>部署不再是「写</a:t>
            </a:r>
            <a:r>
              <a:rPr lang="en-US" sz="1050">
                <a:solidFill>
                  <a:srgbClr val="DCE7F5"/>
                </a:solidFill>
                <a:latin typeface="思源黑体"/>
                <a:ea typeface="思源黑体"/>
              </a:rPr>
              <a:t> Flask + </a:t>
            </a:r>
            <a:r>
              <a:rPr lang="zh-CN" sz="1050">
                <a:solidFill>
                  <a:srgbClr val="DCE7F5"/>
                </a:solidFill>
                <a:latin typeface="思源黑体"/>
                <a:ea typeface="思源黑体"/>
              </a:rPr>
              <a:t>接模型」的苦活，</a:t>
            </a:r>
            <a:r>
              <a:rPr lang="zh-CN" sz="1050" b="1">
                <a:solidFill>
                  <a:srgbClr val="22D3EE"/>
                </a:solidFill>
                <a:latin typeface="思源黑体"/>
                <a:ea typeface="思源黑体"/>
              </a:rPr>
              <a:t>写好的链直接上线</a:t>
            </a:r>
            <a:r>
              <a:rPr lang="zh-CN" sz="1050">
                <a:solidFill>
                  <a:srgbClr val="DCE7F5"/>
                </a:solidFill>
                <a:latin typeface="思源黑体"/>
                <a:ea typeface="思源黑体"/>
              </a:rPr>
              <a:t>。</a:t>
            </a:r>
            <a:endParaRPr/>
          </a:p>
        </p:txBody>
      </p:sp>
      <p:sp>
        <p:nvSpPr>
          <p:cNvPr id="51" name=""/>
          <p:cNvSpPr/>
          <p:nvPr/>
        </p:nvSpPr>
        <p:spPr>
          <a:xfrm rot="0" flipH="0" flipV="0">
            <a:off x="571500" y="1181100"/>
            <a:ext cx="6419850" cy="2352675"/>
          </a:xfrm>
          <a:prstGeom prst="roundRect">
            <a:avLst>
              <a:gd name="adj" fmla="val 3239"/>
            </a:avLst>
          </a:prstGeom>
          <a:solidFill>
            <a:srgbClr val="F6F8FA"/>
          </a:solidFill>
          <a:ln/>
        </p:spPr>
        <p:txBody>
          <a:bodyPr/>
          <a:p/>
        </p:txBody>
      </p:sp>
      <p:sp>
        <p:nvSpPr>
          <p:cNvPr id="52" name=""/>
          <p:cNvSpPr txBox="1"/>
          <p:nvPr/>
        </p:nvSpPr>
        <p:spPr>
          <a:xfrm rot="0" flipH="0" flipV="0">
            <a:off x="723900" y="1314450"/>
            <a:ext cx="6115050" cy="20859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sz="975">
                <a:solidFill>
                  <a:srgbClr val="6A737D"/>
                </a:solidFill>
                <a:latin typeface="Menlo"/>
                <a:ea typeface="Menlo"/>
              </a:rPr>
              <a:t># 1. 脚手架生成项目</a:t>
            </a:r>
            <a:endParaRPr/>
          </a:p>
          <a:p>
            <a:pPr>
              <a:lnSpc>
                <a:spcPct val="140000"/>
              </a:lnSpc>
            </a:pP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pip install </a:t>
            </a:r>
            <a:r>
              <a:rPr sz="975">
                <a:solidFill>
                  <a:srgbClr val="032F62"/>
                </a:solidFill>
                <a:latin typeface="Menlo"/>
                <a:ea typeface="Menlo"/>
              </a:rPr>
              <a:t>"langserve[all]"</a:t>
            </a:r>
            <a:endParaRPr/>
          </a:p>
          <a:p>
            <a:pPr>
              <a:lnSpc>
                <a:spcPct val="140000"/>
              </a:lnSpc>
            </a:pP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langchain app new my</a:t>
            </a:r>
            <a:r>
              <a:rPr sz="975">
                <a:solidFill>
                  <a:srgbClr val="D73A49"/>
                </a:solidFill>
                <a:latin typeface="Menlo"/>
                <a:ea typeface="Menlo"/>
              </a:rPr>
              <a:t>-</a:t>
            </a: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app </a:t>
            </a:r>
            <a:r>
              <a:rPr sz="975" i="1">
                <a:solidFill>
                  <a:srgbClr val="B31D28"/>
                </a:solidFill>
                <a:latin typeface="Menlo"/>
                <a:ea typeface="Menlo"/>
              </a:rPr>
              <a:t>--</a:t>
            </a: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package rag</a:t>
            </a:r>
            <a:r>
              <a:rPr sz="975">
                <a:solidFill>
                  <a:srgbClr val="D73A49"/>
                </a:solidFill>
                <a:latin typeface="Menlo"/>
                <a:ea typeface="Menlo"/>
              </a:rPr>
              <a:t>-</a:t>
            </a: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demo</a:t>
            </a:r>
            <a:endParaRPr/>
          </a:p>
          <a:p>
            <a:pPr>
              <a:lnSpc>
                <a:spcPct val="140000"/>
              </a:lnSpc>
            </a:pPr>
            <a:r>
              <a:rPr sz="975">
                <a:solidFill>
                  <a:srgbClr val="E5E7EB"/>
                </a:solidFill>
                <a:latin typeface="Menlo"/>
                <a:ea typeface="Menlo"/>
              </a:rPr>
              <a:t> </a:t>
            </a:r>
            <a:endParaRPr/>
          </a:p>
          <a:p>
            <a:pPr>
              <a:lnSpc>
                <a:spcPct val="140000"/>
              </a:lnSpc>
            </a:pPr>
            <a:r>
              <a:rPr sz="975">
                <a:solidFill>
                  <a:srgbClr val="6A737D"/>
                </a:solidFill>
                <a:latin typeface="Menlo"/>
                <a:ea typeface="Menlo"/>
              </a:rPr>
              <a:t># 2. 一行挂载为 RESTful 接口</a:t>
            </a:r>
            <a:endParaRPr/>
          </a:p>
          <a:p>
            <a:pPr>
              <a:lnSpc>
                <a:spcPct val="140000"/>
              </a:lnSpc>
            </a:pPr>
            <a:r>
              <a:rPr sz="975">
                <a:solidFill>
                  <a:srgbClr val="D73A49"/>
                </a:solidFill>
                <a:latin typeface="Menlo"/>
                <a:ea typeface="Menlo"/>
              </a:rPr>
              <a:t>from</a:t>
            </a: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 langserve </a:t>
            </a:r>
            <a:r>
              <a:rPr sz="975">
                <a:solidFill>
                  <a:srgbClr val="D73A49"/>
                </a:solidFill>
                <a:latin typeface="Menlo"/>
                <a:ea typeface="Menlo"/>
              </a:rPr>
              <a:t>import</a:t>
            </a: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 add_routes</a:t>
            </a:r>
            <a:endParaRPr/>
          </a:p>
          <a:p>
            <a:pPr>
              <a:lnSpc>
                <a:spcPct val="140000"/>
              </a:lnSpc>
            </a:pP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add_routes(app, chain, </a:t>
            </a:r>
            <a:r>
              <a:rPr sz="975">
                <a:solidFill>
                  <a:srgbClr val="E36209"/>
                </a:solidFill>
                <a:latin typeface="Menlo"/>
                <a:ea typeface="Menlo"/>
              </a:rPr>
              <a:t>path</a:t>
            </a:r>
            <a:r>
              <a:rPr sz="975">
                <a:solidFill>
                  <a:srgbClr val="D73A49"/>
                </a:solidFill>
                <a:latin typeface="Menlo"/>
                <a:ea typeface="Menlo"/>
              </a:rPr>
              <a:t>=</a:t>
            </a:r>
            <a:r>
              <a:rPr sz="975">
                <a:solidFill>
                  <a:srgbClr val="032F62"/>
                </a:solidFill>
                <a:latin typeface="Menlo"/>
                <a:ea typeface="Menlo"/>
              </a:rPr>
              <a:t>"/chain"</a:t>
            </a: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)</a:t>
            </a:r>
            <a:endParaRPr/>
          </a:p>
          <a:p>
            <a:pPr>
              <a:lnSpc>
                <a:spcPct val="140000"/>
              </a:lnSpc>
            </a:pPr>
            <a:r>
              <a:rPr sz="975">
                <a:solidFill>
                  <a:srgbClr val="E5E7EB"/>
                </a:solidFill>
                <a:latin typeface="Menlo"/>
                <a:ea typeface="Menlo"/>
              </a:rPr>
              <a:t> </a:t>
            </a:r>
            <a:endParaRPr/>
          </a:p>
          <a:p>
            <a:pPr>
              <a:lnSpc>
                <a:spcPct val="140000"/>
              </a:lnSpc>
            </a:pPr>
            <a:r>
              <a:rPr sz="975">
                <a:solidFill>
                  <a:srgbClr val="6A737D"/>
                </a:solidFill>
                <a:latin typeface="Menlo"/>
                <a:ea typeface="Menlo"/>
              </a:rPr>
              <a:t># 3. 启动，自动生成 Swagger 文档</a:t>
            </a:r>
            <a:endParaRPr/>
          </a:p>
          <a:p>
            <a:pPr>
              <a:lnSpc>
                <a:spcPct val="140000"/>
              </a:lnSpc>
            </a:pP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langchain serve   </a:t>
            </a:r>
            <a:r>
              <a:rPr sz="975">
                <a:solidFill>
                  <a:srgbClr val="6A737D"/>
                </a:solidFill>
                <a:latin typeface="Menlo"/>
                <a:ea typeface="Menlo"/>
              </a:rPr>
              <a:t># http://localhost:8000/chain</a:t>
            </a:r>
            <a:endParaRPr/>
          </a:p>
        </p:txBody>
      </p:sp>
      <p:sp>
        <p:nvSpPr>
          <p:cNvPr id="53" name="" descr="{&quot;isTemplate&quot;:true,&quot;type&quot;:&quot;text&quot;}"/>
          <p:cNvSpPr txBox="1"/>
          <p:nvPr/>
        </p:nvSpPr>
        <p:spPr>
          <a:xfrm rot="0" flipH="0" flipV="0">
            <a:off x="571500" y="6562725"/>
            <a:ext cx="12477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AI </a:t>
            </a: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从零开始</a:t>
            </a: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 · </a:t>
            </a: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第</a:t>
            </a: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 4 </a:t>
            </a: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讲</a:t>
            </a:r>
            <a:endParaRPr/>
          </a:p>
        </p:txBody>
      </p:sp>
      <p:sp>
        <p:nvSpPr>
          <p:cNvPr id="54" name="" descr="{&quot;isTemplate&quot;:true,&quot;type&quot;:&quot;text&quot;}"/>
          <p:cNvSpPr txBox="1"/>
          <p:nvPr/>
        </p:nvSpPr>
        <p:spPr>
          <a:xfrm rot="0" flipH="0" flipV="0">
            <a:off x="11220450" y="6562725"/>
            <a:ext cx="400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11 / 14</a:t>
            </a:r>
            <a:endParaRPr/>
          </a:p>
        </p:txBody>
      </p:sp>
    </p:spTree>
  </p:cSld>
</p:sld>
</file>

<file path=ppt/slides/slide12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55" name="" descr="&lt;Slide&#10;  style={{&#10;    width: '1280px', height: '720px',&#10;    background: '#F5F7FA',&#10;    padding: '20px 60px',&#10;    fontFamily: '&quot;思源黑体&quot;, sans-serif',&#10;  }}&#10;&gt;&#10;  &lt;Box style={{ width: '100%', height: '100%' }}&gt;&#10;    &lt;Text style={{ fontSize: 14, color: '#FF9F1C', fontWeight: 'bold', letterSpacing: 2, marginBottom: 8 }}&gt;MONITOR &amp; DEBUG&lt;/Text&gt;&#10;    &lt;Text style={{ fontSize: 34, color: '#16263F', fontWeight: 'bold', marginBottom: 24 }}&gt;监控与日志：看得见，才调得动&lt;/Text&gt;&#10;    &lt;Box style={{ width: 56, height: 4, background: '#22D3EE', marginBottom: 26 }} /&gt;&#10;&#10;    &lt;Box style={{ flexDirection: 'row', gap: 24, flex: 1 }}&gt;&#10;      &lt;Box style={{ flex: 1, background: '#FFFFFF', borderRadius: 14, padding: '26px 24px', boxShadow: '0 2px 12px rgba(22,38,63,0.06)' }}&gt;&#10;        &lt;Box style={{ width: 56, height: 56, borderRadius: 14, background: '#EAF2FB', justifyContent: 'center', alignItems: 'center', marginBottom: 16 }}&gt;&#10;          &lt;FAIcon name='chart-line' style={{ fill: '#22D3EE', width: 28, height: 28 }} /&gt;&#10;        &lt;/Box&gt;&#10;        &lt;Text style={{ fontSize: 20, fontWeight: 'bold', color: '#16263F', marginBottom: 8 }}&gt;LangSmith 链路可视化&lt;/Text&gt;&#10;        &lt;Text style={{ fontSize: 14, color: '#5B6B7A', lineHeight: 1.8 }}&gt;&#10;          Trace 追踪每一步的输入输出、耗时与 token，瓶颈一眼定位。&#10;        &lt;/Text&gt;&#10;      &lt;/Box&gt;&#10;&#10;      &lt;Box style={{ flex: 1, background: '#FFFFFF', borderRadius: 14, padding: '26px 24px', boxShadow: '0 2px 12px rgba(22,38,63,0.06)' }}&gt;&#10;        &lt;Box style={{ width: 56, height: 56, borderRadius: 14, background: '#EAF2FB', justifyContent: 'center', alignItems: 'center', marginBottom: 16 }}&gt;&#10;          &lt;FAIcon name='list' style={{ fill: '#22D3EE', width: 28, height: 28 }} /&gt;&#10;        &lt;/Box&gt;&#10;        &lt;Text style={{ fontSize: 20, fontWeight: 'bold', color: '#16263F', marginBottom: 8 }}&gt;set_verbose 详细日志&lt;/Text&gt;&#10;        &lt;Text style={{ fontSize: 14, color: '#5B6B7A', lineHeight: 1.8 }}&gt;&#10;          打印完整执行过程，看中间步骤的输入输出，快速定位问题环节。&#10;        &lt;/Text&gt;&#10;        &lt;Box style={{ marginTop: 12, background: '#F5F7FA', borderRadius: 8, padding: '10px 14px' }}&gt;&#10;          &lt;Text style={{ fontSize: 13, color: '#22D3EE', fontFamily: '&quot;JetBrains Mono&quot;, monospace' }}&gt;langchain.verbose = True&lt;/Text&gt;&#10;        &lt;/Box&gt;&#10;      &lt;/Box&gt;&#10;&#10;      &lt;Box style={{ flex: 1, background: '#16263F', borderRadius: 14, padding: '26px 24px' }}&gt;&#10;        &lt;Box style={{ width: 56, height: 56, borderRadius: 14, background: 'rgba(255,159,28,0.15)', justifyContent: 'center', alignItems: 'center', marginBottom: 16 }}&gt;&#10;          &lt;FAIcon name='bug' style={{ fill: '#FF9F1C', width: 28, height: 28 }} /&gt;&#10;        &lt;/Box&gt;&#10;        &lt;Text style={{ fontSize: 20, fontWeight: 'bold', color: '#FFFFFF', marginBottom: 8 }}&gt;set_debug 底层调试&lt;/Text&gt;&#10;        &lt;Text style={{ fontSize: 14, color: '#DCE7F5', lineHeight: 1.8 }}&gt;&#10;          输出底层提示词、原始响应与 token 统计，深度排查兜底手段。&#10;        &lt;/Text&gt;&#10;        &lt;Box style={{ marginTop: 12, background: 'rgba(34,211,238,0.12)', borderRadius: 8, padding: '10px 14px' }}&gt;&#10;          &lt;Text style={{ fontSize: 13, color: '#22D3EE', fontFamily: '&quot;JetBrains Mono&quot;, monospace' }}&gt;langchain.debug = True&lt;/Text&gt;&#10;        &lt;/Box&gt;&#10;      &lt;/Box&gt;&#10;    &lt;/Box&gt;&#10;  &lt;/Box&gt;&#10;  &lt;Box style={{ position: 'absolute', bottom: 14, left: 60, right: 60, flexDirection: 'row', justifyContent: 'space-between' }}&gt;&#10;    &lt;Text style={{ fontSize: 14, color: '#5B6B7A' }}&gt;AI 从零开始 · 第 4 讲&lt;/Text&gt;&#10;    &lt;Text style={{ fontSize: 14, color: '#5B6B7A' }}&gt;12 / 14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p/>
        </p:txBody>
      </p:sp>
      <p:sp>
        <p:nvSpPr>
          <p:cNvPr id="57" name="" descr="{&quot;isTemplate&quot;:true,&quot;type&quot;:&quot;text&quot;}"/>
          <p:cNvSpPr txBox="1"/>
          <p:nvPr/>
        </p:nvSpPr>
        <p:spPr>
          <a:xfrm rot="0" flipH="0" flipV="0">
            <a:off x="571500" y="190500"/>
            <a:ext cx="11049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 spc="150">
                <a:solidFill>
                  <a:srgbClr val="FF9F1C"/>
                </a:solidFill>
                <a:latin typeface="思源黑体"/>
                <a:ea typeface="思源黑体"/>
              </a:rPr>
              <a:t>MONITOR &amp; DEBUG</a:t>
            </a:r>
            <a:endParaRPr/>
          </a:p>
        </p:txBody>
      </p:sp>
      <p:sp>
        <p:nvSpPr>
          <p:cNvPr id="58" name="" descr="{&quot;isTemplate&quot;:true,&quot;type&quot;:&quot;text&quot;}"/>
          <p:cNvSpPr txBox="1"/>
          <p:nvPr/>
        </p:nvSpPr>
        <p:spPr>
          <a:xfrm rot="0" flipH="0" flipV="0">
            <a:off x="571500" y="428625"/>
            <a:ext cx="110490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6263F"/>
                </a:solidFill>
                <a:latin typeface="思源黑体"/>
                <a:ea typeface="思源黑体"/>
              </a:rPr>
              <a:t>监控与日志：看得见，才调得动</a:t>
            </a:r>
            <a:endParaRPr/>
          </a:p>
        </p:txBody>
      </p:sp>
      <p:sp>
        <p:nvSpPr>
          <p:cNvPr id="59" name=""/>
          <p:cNvSpPr/>
          <p:nvPr/>
        </p:nvSpPr>
        <p:spPr>
          <a:xfrm rot="0" flipH="0" flipV="0">
            <a:off x="571500" y="1047750"/>
            <a:ext cx="533400" cy="38100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p/>
        </p:txBody>
      </p:sp>
      <p:sp>
        <p:nvSpPr>
          <p:cNvPr id="60" name=""/>
          <p:cNvSpPr/>
          <p:nvPr/>
        </p:nvSpPr>
        <p:spPr>
          <a:xfrm rot="0" flipH="0" flipV="0">
            <a:off x="571500" y="1333500"/>
            <a:ext cx="3533775" cy="5334000"/>
          </a:xfrm>
          <a:prstGeom prst="roundRect">
            <a:avLst>
              <a:gd name="adj" fmla="val 3774"/>
            </a:avLst>
          </a:prstGeom>
          <a:solidFill>
            <a:srgbClr val="FFFFFF"/>
          </a:solidFill>
          <a:ln/>
          <a:effectLst>
            <a:outerShdw blurRad="114300" dist="19050" dir="5400000">
              <a:srgbClr val="16263F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61" name=""/>
          <p:cNvSpPr/>
          <p:nvPr/>
        </p:nvSpPr>
        <p:spPr>
          <a:xfrm rot="0" flipH="0" flipV="0">
            <a:off x="800100" y="1581150"/>
            <a:ext cx="533400" cy="533400"/>
          </a:xfrm>
          <a:prstGeom prst="roundRect">
            <a:avLst>
              <a:gd name="adj" fmla="val 25000"/>
            </a:avLst>
          </a:prstGeom>
          <a:solidFill>
            <a:srgbClr val="EAF2FB"/>
          </a:solidFill>
          <a:ln/>
        </p:spPr>
        <p:txBody>
          <a:bodyPr/>
          <a:p/>
        </p:txBody>
      </p:sp>
      <p:pic>
        <p:nvPicPr>
          <p:cNvPr id="62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933450" y="1714500"/>
            <a:ext cx="266700" cy="266700"/>
          </a:xfrm>
          <a:prstGeom prst="rect">
            <a:avLst/>
          </a:prstGeom>
          <a:ln/>
        </p:spPr>
      </p:pic>
      <p:sp>
        <p:nvSpPr>
          <p:cNvPr id="63" name="" descr="{&quot;isTemplate&quot;:true,&quot;type&quot;:&quot;text&quot;}"/>
          <p:cNvSpPr txBox="1"/>
          <p:nvPr/>
        </p:nvSpPr>
        <p:spPr>
          <a:xfrm rot="0" flipH="0" flipV="0">
            <a:off x="800100" y="2266950"/>
            <a:ext cx="30765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16263F"/>
                </a:solidFill>
                <a:latin typeface="思源黑体"/>
                <a:ea typeface="思源黑体"/>
              </a:rPr>
              <a:t>LangSmith </a:t>
            </a:r>
            <a:r>
              <a:rPr lang="zh-CN" sz="1500" b="1">
                <a:solidFill>
                  <a:srgbClr val="16263F"/>
                </a:solidFill>
                <a:latin typeface="思源黑体"/>
                <a:ea typeface="思源黑体"/>
              </a:rPr>
              <a:t>链路可视化</a:t>
            </a:r>
            <a:endParaRPr/>
          </a:p>
        </p:txBody>
      </p:sp>
      <p:sp>
        <p:nvSpPr>
          <p:cNvPr id="64" name="" descr="{&quot;isTemplate&quot;:true,&quot;type&quot;:&quot;text&quot;}"/>
          <p:cNvSpPr txBox="1"/>
          <p:nvPr/>
        </p:nvSpPr>
        <p:spPr>
          <a:xfrm rot="0" flipH="0" flipV="0">
            <a:off x="800100" y="2571750"/>
            <a:ext cx="3076575" cy="5810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Trace </a:t>
            </a: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追踪每一步的输入输出、耗时与</a:t>
            </a: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 token</a:t>
            </a: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，瓶颈一眼定位。</a:t>
            </a:r>
            <a:endParaRPr/>
          </a:p>
        </p:txBody>
      </p:sp>
      <p:sp>
        <p:nvSpPr>
          <p:cNvPr id="65" name=""/>
          <p:cNvSpPr/>
          <p:nvPr/>
        </p:nvSpPr>
        <p:spPr>
          <a:xfrm rot="0" flipH="0" flipV="0">
            <a:off x="4333875" y="1333500"/>
            <a:ext cx="3524250" cy="5334000"/>
          </a:xfrm>
          <a:prstGeom prst="roundRect">
            <a:avLst>
              <a:gd name="adj" fmla="val 3784"/>
            </a:avLst>
          </a:prstGeom>
          <a:solidFill>
            <a:srgbClr val="FFFFFF"/>
          </a:solidFill>
          <a:ln/>
          <a:effectLst>
            <a:outerShdw blurRad="114300" dist="19050" dir="5400000">
              <a:srgbClr val="16263F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66" name=""/>
          <p:cNvSpPr/>
          <p:nvPr/>
        </p:nvSpPr>
        <p:spPr>
          <a:xfrm rot="0" flipH="0" flipV="0">
            <a:off x="4562475" y="1581150"/>
            <a:ext cx="533400" cy="533400"/>
          </a:xfrm>
          <a:prstGeom prst="roundRect">
            <a:avLst>
              <a:gd name="adj" fmla="val 25000"/>
            </a:avLst>
          </a:prstGeom>
          <a:solidFill>
            <a:srgbClr val="EAF2FB"/>
          </a:solidFill>
          <a:ln/>
        </p:spPr>
        <p:txBody>
          <a:bodyPr/>
          <a:p/>
        </p:txBody>
      </p:sp>
      <p:pic>
        <p:nvPicPr>
          <p:cNvPr id="6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4695825" y="1714500"/>
            <a:ext cx="266700" cy="266700"/>
          </a:xfrm>
          <a:prstGeom prst="rect">
            <a:avLst/>
          </a:prstGeom>
          <a:ln/>
        </p:spPr>
      </p:pic>
      <p:sp>
        <p:nvSpPr>
          <p:cNvPr id="68" name="" descr="{&quot;isTemplate&quot;:true,&quot;type&quot;:&quot;text&quot;}"/>
          <p:cNvSpPr txBox="1"/>
          <p:nvPr/>
        </p:nvSpPr>
        <p:spPr>
          <a:xfrm rot="0" flipH="0" flipV="0">
            <a:off x="4562475" y="2266950"/>
            <a:ext cx="30670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16263F"/>
                </a:solidFill>
                <a:latin typeface="思源黑体"/>
                <a:ea typeface="思源黑体"/>
              </a:rPr>
              <a:t>set_verbose </a:t>
            </a:r>
            <a:r>
              <a:rPr lang="zh-CN" sz="1500" b="1">
                <a:solidFill>
                  <a:srgbClr val="16263F"/>
                </a:solidFill>
                <a:latin typeface="思源黑体"/>
                <a:ea typeface="思源黑体"/>
              </a:rPr>
              <a:t>详细日志</a:t>
            </a:r>
            <a:endParaRPr/>
          </a:p>
        </p:txBody>
      </p:sp>
      <p:sp>
        <p:nvSpPr>
          <p:cNvPr id="69" name="" descr="{&quot;isTemplate&quot;:true,&quot;type&quot;:&quot;text&quot;}"/>
          <p:cNvSpPr txBox="1"/>
          <p:nvPr/>
        </p:nvSpPr>
        <p:spPr>
          <a:xfrm rot="0" flipH="0" flipV="0">
            <a:off x="4562475" y="2571750"/>
            <a:ext cx="3067050" cy="5810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打印完整执行过程，看中间步骤的输入输出，快速定位问题环节。</a:t>
            </a:r>
            <a:endParaRPr/>
          </a:p>
        </p:txBody>
      </p:sp>
      <p:sp>
        <p:nvSpPr>
          <p:cNvPr id="70" name=""/>
          <p:cNvSpPr/>
          <p:nvPr/>
        </p:nvSpPr>
        <p:spPr>
          <a:xfrm rot="0" flipH="0" flipV="0">
            <a:off x="4562475" y="3267075"/>
            <a:ext cx="3067050" cy="342900"/>
          </a:xfrm>
          <a:prstGeom prst="roundRect">
            <a:avLst>
              <a:gd name="adj" fmla="val 22222"/>
            </a:avLst>
          </a:prstGeom>
          <a:solidFill>
            <a:srgbClr val="F5F7FA"/>
          </a:solidFill>
          <a:ln/>
        </p:spPr>
        <p:txBody>
          <a:bodyPr/>
          <a:p/>
        </p:txBody>
      </p:sp>
      <p:sp>
        <p:nvSpPr>
          <p:cNvPr id="71" name="" descr="{&quot;isTemplate&quot;:true,&quot;type&quot;:&quot;text&quot;}"/>
          <p:cNvSpPr txBox="1"/>
          <p:nvPr/>
        </p:nvSpPr>
        <p:spPr>
          <a:xfrm rot="0" flipH="0" flipV="0">
            <a:off x="4695825" y="3362325"/>
            <a:ext cx="28003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22D3EE"/>
                </a:solidFill>
                <a:latin typeface="JetBrains Mono"/>
                <a:ea typeface="JetBrains Mono"/>
              </a:rPr>
              <a:t>langchain.verbose = True</a:t>
            </a:r>
            <a:endParaRPr/>
          </a:p>
        </p:txBody>
      </p:sp>
      <p:sp>
        <p:nvSpPr>
          <p:cNvPr id="72" name=""/>
          <p:cNvSpPr/>
          <p:nvPr/>
        </p:nvSpPr>
        <p:spPr>
          <a:xfrm rot="0" flipH="0" flipV="0">
            <a:off x="8086725" y="1333500"/>
            <a:ext cx="3533775" cy="5334000"/>
          </a:xfrm>
          <a:prstGeom prst="roundRect">
            <a:avLst>
              <a:gd name="adj" fmla="val 3774"/>
            </a:avLst>
          </a:prstGeom>
          <a:solidFill>
            <a:srgbClr val="16263F"/>
          </a:solidFill>
          <a:ln/>
        </p:spPr>
        <p:txBody>
          <a:bodyPr/>
          <a:p/>
        </p:txBody>
      </p:sp>
      <p:sp>
        <p:nvSpPr>
          <p:cNvPr id="73" name=""/>
          <p:cNvSpPr/>
          <p:nvPr/>
        </p:nvSpPr>
        <p:spPr>
          <a:xfrm rot="0" flipH="0" flipV="0">
            <a:off x="8315325" y="1581150"/>
            <a:ext cx="533400" cy="533400"/>
          </a:xfrm>
          <a:prstGeom prst="roundRect">
            <a:avLst>
              <a:gd name="adj" fmla="val 25000"/>
            </a:avLst>
          </a:prstGeom>
          <a:solidFill>
            <a:srgbClr val="FF9F1C">
              <a:alpha val="15000"/>
            </a:srgbClr>
          </a:solidFill>
          <a:ln/>
        </p:spPr>
        <p:txBody>
          <a:bodyPr/>
          <a:p/>
        </p:txBody>
      </p:sp>
      <p:pic>
        <p:nvPicPr>
          <p:cNvPr id="7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8448675" y="1714500"/>
            <a:ext cx="266700" cy="266700"/>
          </a:xfrm>
          <a:prstGeom prst="rect">
            <a:avLst/>
          </a:prstGeom>
          <a:ln/>
        </p:spPr>
      </p:pic>
      <p:sp>
        <p:nvSpPr>
          <p:cNvPr id="75" name="" descr="{&quot;isTemplate&quot;:true,&quot;type&quot;:&quot;text&quot;}"/>
          <p:cNvSpPr txBox="1"/>
          <p:nvPr/>
        </p:nvSpPr>
        <p:spPr>
          <a:xfrm rot="0" flipH="0" flipV="0">
            <a:off x="8315325" y="2266950"/>
            <a:ext cx="30765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思源黑体"/>
                <a:ea typeface="思源黑体"/>
              </a:rPr>
              <a:t>set_debug </a:t>
            </a:r>
            <a:r>
              <a:rPr lang="zh-CN" sz="1500" b="1">
                <a:solidFill>
                  <a:srgbClr val="FFFFFF"/>
                </a:solidFill>
                <a:latin typeface="思源黑体"/>
                <a:ea typeface="思源黑体"/>
              </a:rPr>
              <a:t>底层调试</a:t>
            </a:r>
            <a:endParaRPr/>
          </a:p>
        </p:txBody>
      </p:sp>
      <p:sp>
        <p:nvSpPr>
          <p:cNvPr id="76" name="" descr="{&quot;isTemplate&quot;:true,&quot;type&quot;:&quot;text&quot;}"/>
          <p:cNvSpPr txBox="1"/>
          <p:nvPr/>
        </p:nvSpPr>
        <p:spPr>
          <a:xfrm rot="0" flipH="0" flipV="0">
            <a:off x="8315325" y="2571750"/>
            <a:ext cx="3076575" cy="5810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zh-CN" sz="1050">
                <a:solidFill>
                  <a:srgbClr val="DCE7F5"/>
                </a:solidFill>
                <a:latin typeface="思源黑体"/>
                <a:ea typeface="思源黑体"/>
              </a:rPr>
              <a:t>输出底层提示词、原始响应与</a:t>
            </a:r>
            <a:r>
              <a:rPr lang="en-US" sz="1050">
                <a:solidFill>
                  <a:srgbClr val="DCE7F5"/>
                </a:solidFill>
                <a:latin typeface="思源黑体"/>
                <a:ea typeface="思源黑体"/>
              </a:rPr>
              <a:t> token </a:t>
            </a:r>
            <a:r>
              <a:rPr lang="zh-CN" sz="1050">
                <a:solidFill>
                  <a:srgbClr val="DCE7F5"/>
                </a:solidFill>
                <a:latin typeface="思源黑体"/>
                <a:ea typeface="思源黑体"/>
              </a:rPr>
              <a:t>统计，深度排查兜底手段。</a:t>
            </a:r>
            <a:endParaRPr/>
          </a:p>
        </p:txBody>
      </p:sp>
      <p:sp>
        <p:nvSpPr>
          <p:cNvPr id="77" name=""/>
          <p:cNvSpPr/>
          <p:nvPr/>
        </p:nvSpPr>
        <p:spPr>
          <a:xfrm rot="0" flipH="0" flipV="0">
            <a:off x="8315325" y="3267075"/>
            <a:ext cx="3076575" cy="342900"/>
          </a:xfrm>
          <a:prstGeom prst="roundRect">
            <a:avLst>
              <a:gd name="adj" fmla="val 22222"/>
            </a:avLst>
          </a:prstGeom>
          <a:solidFill>
            <a:srgbClr val="22D3EE">
              <a:alpha val="12000"/>
            </a:srgbClr>
          </a:solidFill>
          <a:ln/>
        </p:spPr>
        <p:txBody>
          <a:bodyPr/>
          <a:p/>
        </p:txBody>
      </p:sp>
      <p:sp>
        <p:nvSpPr>
          <p:cNvPr id="78" name="" descr="{&quot;isTemplate&quot;:true,&quot;type&quot;:&quot;text&quot;}"/>
          <p:cNvSpPr txBox="1"/>
          <p:nvPr/>
        </p:nvSpPr>
        <p:spPr>
          <a:xfrm rot="0" flipH="0" flipV="0">
            <a:off x="8448675" y="3362325"/>
            <a:ext cx="28098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22D3EE"/>
                </a:solidFill>
                <a:latin typeface="JetBrains Mono"/>
                <a:ea typeface="JetBrains Mono"/>
              </a:rPr>
              <a:t>langchain.debug = True</a:t>
            </a:r>
            <a:endParaRPr/>
          </a:p>
        </p:txBody>
      </p:sp>
      <p:sp>
        <p:nvSpPr>
          <p:cNvPr id="79" name="" descr="{&quot;isTemplate&quot;:true,&quot;type&quot;:&quot;text&quot;}"/>
          <p:cNvSpPr txBox="1"/>
          <p:nvPr/>
        </p:nvSpPr>
        <p:spPr>
          <a:xfrm rot="0" flipH="0" flipV="0">
            <a:off x="571500" y="6562725"/>
            <a:ext cx="12477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AI </a:t>
            </a: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从零开始</a:t>
            </a: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 · </a:t>
            </a: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第</a:t>
            </a: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 4 </a:t>
            </a: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讲</a:t>
            </a:r>
            <a:endParaRPr/>
          </a:p>
        </p:txBody>
      </p:sp>
      <p:sp>
        <p:nvSpPr>
          <p:cNvPr id="80" name="" descr="{&quot;isTemplate&quot;:true,&quot;type&quot;:&quot;text&quot;}"/>
          <p:cNvSpPr txBox="1"/>
          <p:nvPr/>
        </p:nvSpPr>
        <p:spPr>
          <a:xfrm rot="0" flipH="0" flipV="0">
            <a:off x="11210925" y="6562725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12 / 14</a:t>
            </a:r>
            <a:endParaRPr/>
          </a:p>
        </p:txBody>
      </p:sp>
    </p:spTree>
  </p:cSld>
</p:sld>
</file>

<file path=ppt/slides/slide13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81" name="" descr="&lt;Slide&#10;  style={{&#10;    width: '1280px', height: '720px',&#10;    background: '#F5F7FA',&#10;    padding: '20px 60px',&#10;    fontFamily: '&quot;思源黑体&quot;, sans-serif',&#10;  }}&#10;&gt;&#10;  &lt;Box style={{ width: '100%', height: '100%' }}&gt;&#10;    &lt;Text style={{ fontSize: 14, color: '#FF9F1C', fontWeight: 'bold', letterSpacing: 2, marginBottom: 8 }}&gt;PARAM CHEATSHEET&lt;/Text&gt;&#10;    &lt;Text style={{ fontSize: 34, color: '#16263F', fontWeight: 'bold', marginBottom: 24 }}&gt;参数速查卡：四个旋钮，管住输出&lt;/Text&gt;&#10;    &lt;Box style={{ width: 56, height: 4, background: '#22D3EE', marginBottom: 26 }} /&gt;&#10;&#10;    &lt;Box style={{ flexDirection: 'row', gap: 20, flex: 1 }}&gt;&#10;      {[&#10;        { t: 'temperature', n: '0 ~ 2', d: '采样温度，越低越确定\n创意写作调高，事实问答调低' },&#10;        { t: 'top_p', n: '0 ~ 1', d: '核采样，只在累计概率前 p 的词里选\n比温度更克制' },&#10;        { t: 'top_k', n: '整数', d: '只保留概率最高的 k 个候选词\n直接截断词表' },&#10;        { t: 'max_tokens', n: '整数', d: '输出长度上限\n防止回答失控超长' },&#10;      ].map((item, idx) =&gt; (&#10;        &lt;Box key={idx} style={{ flex: 1, background: '#FFFFFF', borderRadius: 14, padding: '24px 22px', boxShadow: '0 2px 12px rgba(22,38,63,0.06)' }}&gt;&#10;          &lt;Text style={{ fontSize: 20, fontWeight: 'bold', color: '#16263F', marginBottom: 6, fontFamily: '&quot;JetBrains Mono&quot;, monospace' }}&gt;{item.t}&lt;/Text&gt;&#10;          &lt;Text style={{ fontSize: 15, color: '#22D3EE', fontWeight: 'bold', marginBottom: 14 }}&gt;{item.n}&lt;/Text&gt;&#10;          &lt;Text style={{ fontSize: 13, color: '#5B6B7A', lineHeight: 1.7, whiteSpace: 'pre-line' }}&gt;{item.d}&lt;/Text&gt;&#10;        &lt;/Box&gt;&#10;      ))}&#10;    &lt;/Box&gt;&#10;&#10;    &lt;Box style={{ marginTop: 22, background: '#16263F', borderRadius: 12, padding: '18px 24px', flexDirection: 'row', alignItems: 'center', gap: 14 }}&gt;&#10;      &lt;FAIcon name='sliders-h' style={{ fill: '#FF9F1C', width: 26, height: 26 }} /&gt;&#10;      &lt;Text style={{ fontSize: 16, color: '#FFFFFF', fontWeight: 'bold' }}&gt;&#10;        调参第一原则：&lt;span style={{ color: '#FF9F1C' }}&gt;一次只动一个旋钮&lt;/span&gt;，观察效果再动下一个&#10;      &lt;/Text&gt;&#10;    &lt;/Box&gt;&#10;  &lt;/Box&gt;&#10;  &lt;Box style={{ position: 'absolute', bottom: 14, left: 60, right: 60, flexDirection: 'row', justifyContent: 'space-between' }}&gt;&#10;    &lt;Text style={{ fontSize: 14, color: '#5B6B7A' }}&gt;AI 从零开始 · 第 4 讲&lt;/Text&gt;&#10;    &lt;Text style={{ fontSize: 14, color: '#5B6B7A' }}&gt;13 / 14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p/>
        </p:txBody>
      </p:sp>
      <p:sp>
        <p:nvSpPr>
          <p:cNvPr id="83" name="" descr="{&quot;isTemplate&quot;:true,&quot;type&quot;:&quot;text&quot;}"/>
          <p:cNvSpPr txBox="1"/>
          <p:nvPr/>
        </p:nvSpPr>
        <p:spPr>
          <a:xfrm rot="0" flipH="0" flipV="0">
            <a:off x="571500" y="190500"/>
            <a:ext cx="11049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 spc="150">
                <a:solidFill>
                  <a:srgbClr val="FF9F1C"/>
                </a:solidFill>
                <a:latin typeface="思源黑体"/>
                <a:ea typeface="思源黑体"/>
              </a:rPr>
              <a:t>PARAM CHEATSHEET</a:t>
            </a:r>
            <a:endParaRPr/>
          </a:p>
        </p:txBody>
      </p:sp>
      <p:sp>
        <p:nvSpPr>
          <p:cNvPr id="84" name="" descr="{&quot;isTemplate&quot;:true,&quot;type&quot;:&quot;text&quot;}"/>
          <p:cNvSpPr txBox="1"/>
          <p:nvPr/>
        </p:nvSpPr>
        <p:spPr>
          <a:xfrm rot="0" flipH="0" flipV="0">
            <a:off x="571500" y="428625"/>
            <a:ext cx="110490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6263F"/>
                </a:solidFill>
                <a:latin typeface="思源黑体"/>
                <a:ea typeface="思源黑体"/>
              </a:rPr>
              <a:t>参数速查卡：四个旋钮，管住输出</a:t>
            </a:r>
            <a:endParaRPr/>
          </a:p>
        </p:txBody>
      </p:sp>
      <p:sp>
        <p:nvSpPr>
          <p:cNvPr id="85" name=""/>
          <p:cNvSpPr/>
          <p:nvPr/>
        </p:nvSpPr>
        <p:spPr>
          <a:xfrm rot="0" flipH="0" flipV="0">
            <a:off x="571500" y="1047750"/>
            <a:ext cx="533400" cy="38100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p/>
        </p:txBody>
      </p:sp>
      <p:sp>
        <p:nvSpPr>
          <p:cNvPr id="86" name=""/>
          <p:cNvSpPr/>
          <p:nvPr/>
        </p:nvSpPr>
        <p:spPr>
          <a:xfrm rot="0" flipH="0" flipV="0">
            <a:off x="571500" y="1333500"/>
            <a:ext cx="2619375" cy="4533900"/>
          </a:xfrm>
          <a:prstGeom prst="roundRect">
            <a:avLst>
              <a:gd name="adj" fmla="val 5091"/>
            </a:avLst>
          </a:prstGeom>
          <a:solidFill>
            <a:srgbClr val="FFFFFF"/>
          </a:solidFill>
          <a:ln/>
          <a:effectLst>
            <a:outerShdw blurRad="114300" dist="19050" dir="5400000">
              <a:srgbClr val="16263F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87" name="" descr="{&quot;isTemplate&quot;:true,&quot;type&quot;:&quot;text&quot;}"/>
          <p:cNvSpPr txBox="1"/>
          <p:nvPr/>
        </p:nvSpPr>
        <p:spPr>
          <a:xfrm rot="0" flipH="0" flipV="0">
            <a:off x="781050" y="1562100"/>
            <a:ext cx="22002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16263F"/>
                </a:solidFill>
                <a:latin typeface="JetBrains Mono"/>
                <a:ea typeface="JetBrains Mono"/>
              </a:rPr>
              <a:t>temperature</a:t>
            </a:r>
            <a:endParaRPr/>
          </a:p>
        </p:txBody>
      </p:sp>
      <p:sp>
        <p:nvSpPr>
          <p:cNvPr id="88" name="" descr="{&quot;isTemplate&quot;:true,&quot;type&quot;:&quot;text&quot;}"/>
          <p:cNvSpPr txBox="1"/>
          <p:nvPr/>
        </p:nvSpPr>
        <p:spPr>
          <a:xfrm rot="0" flipH="0" flipV="0">
            <a:off x="781050" y="1847850"/>
            <a:ext cx="22002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22D3EE"/>
                </a:solidFill>
                <a:latin typeface="思源黑体"/>
                <a:ea typeface="思源黑体"/>
              </a:rPr>
              <a:t>0 ~ 2</a:t>
            </a:r>
            <a:endParaRPr/>
          </a:p>
        </p:txBody>
      </p:sp>
      <p:sp>
        <p:nvSpPr>
          <p:cNvPr id="89" name="" descr="{&quot;isTemplate&quot;:true,&quot;type&quot;:&quot;text&quot;}"/>
          <p:cNvSpPr txBox="1"/>
          <p:nvPr/>
        </p:nvSpPr>
        <p:spPr>
          <a:xfrm rot="0" flipH="0" flipV="0">
            <a:off x="781050" y="2152650"/>
            <a:ext cx="2200275" cy="514350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975">
                <a:solidFill>
                  <a:srgbClr val="5B6B7A"/>
                </a:solidFill>
                <a:latin typeface="思源黑体"/>
                <a:ea typeface="思源黑体"/>
              </a:rPr>
              <a:t>采样温度，越低越确定
创意写作调高，事实问答调低</a:t>
            </a:r>
            <a:endParaRPr/>
          </a:p>
        </p:txBody>
      </p:sp>
      <p:sp>
        <p:nvSpPr>
          <p:cNvPr id="90" name=""/>
          <p:cNvSpPr/>
          <p:nvPr/>
        </p:nvSpPr>
        <p:spPr>
          <a:xfrm rot="0" flipH="0" flipV="0">
            <a:off x="3381375" y="1333500"/>
            <a:ext cx="2619375" cy="4533900"/>
          </a:xfrm>
          <a:prstGeom prst="roundRect">
            <a:avLst>
              <a:gd name="adj" fmla="val 5091"/>
            </a:avLst>
          </a:prstGeom>
          <a:solidFill>
            <a:srgbClr val="FFFFFF"/>
          </a:solidFill>
          <a:ln/>
          <a:effectLst>
            <a:outerShdw blurRad="114300" dist="19050" dir="5400000">
              <a:srgbClr val="16263F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91" name="" descr="{&quot;isTemplate&quot;:true,&quot;type&quot;:&quot;text&quot;}"/>
          <p:cNvSpPr txBox="1"/>
          <p:nvPr/>
        </p:nvSpPr>
        <p:spPr>
          <a:xfrm rot="0" flipH="0" flipV="0">
            <a:off x="3590925" y="1562100"/>
            <a:ext cx="22002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16263F"/>
                </a:solidFill>
                <a:latin typeface="JetBrains Mono"/>
                <a:ea typeface="JetBrains Mono"/>
              </a:rPr>
              <a:t>top_p</a:t>
            </a:r>
            <a:endParaRPr/>
          </a:p>
        </p:txBody>
      </p:sp>
      <p:sp>
        <p:nvSpPr>
          <p:cNvPr id="92" name="" descr="{&quot;isTemplate&quot;:true,&quot;type&quot;:&quot;text&quot;}"/>
          <p:cNvSpPr txBox="1"/>
          <p:nvPr/>
        </p:nvSpPr>
        <p:spPr>
          <a:xfrm rot="0" flipH="0" flipV="0">
            <a:off x="3590925" y="1847850"/>
            <a:ext cx="22002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22D3EE"/>
                </a:solidFill>
                <a:latin typeface="思源黑体"/>
                <a:ea typeface="思源黑体"/>
              </a:rPr>
              <a:t>0 ~ 1</a:t>
            </a:r>
            <a:endParaRPr/>
          </a:p>
        </p:txBody>
      </p:sp>
      <p:sp>
        <p:nvSpPr>
          <p:cNvPr id="93" name="" descr="{&quot;isTemplate&quot;:true,&quot;type&quot;:&quot;text&quot;}"/>
          <p:cNvSpPr txBox="1"/>
          <p:nvPr/>
        </p:nvSpPr>
        <p:spPr>
          <a:xfrm rot="0" flipH="0" flipV="0">
            <a:off x="3590925" y="2152650"/>
            <a:ext cx="2200275" cy="514350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975">
                <a:solidFill>
                  <a:srgbClr val="5B6B7A"/>
                </a:solidFill>
                <a:latin typeface="思源黑体"/>
                <a:ea typeface="思源黑体"/>
              </a:rPr>
              <a:t>核采样，只在累计概率前</a:t>
            </a:r>
            <a:r>
              <a:rPr lang="en-US" sz="975">
                <a:solidFill>
                  <a:srgbClr val="5B6B7A"/>
                </a:solidFill>
                <a:latin typeface="思源黑体"/>
                <a:ea typeface="思源黑体"/>
              </a:rPr>
              <a:t> p </a:t>
            </a:r>
            <a:r>
              <a:rPr lang="zh-CN" sz="975">
                <a:solidFill>
                  <a:srgbClr val="5B6B7A"/>
                </a:solidFill>
                <a:latin typeface="思源黑体"/>
                <a:ea typeface="思源黑体"/>
              </a:rPr>
              <a:t>的词里选
比温度更克制</a:t>
            </a:r>
            <a:endParaRPr/>
          </a:p>
        </p:txBody>
      </p:sp>
      <p:sp>
        <p:nvSpPr>
          <p:cNvPr id="94" name=""/>
          <p:cNvSpPr/>
          <p:nvPr/>
        </p:nvSpPr>
        <p:spPr>
          <a:xfrm rot="0" flipH="0" flipV="0">
            <a:off x="6191250" y="1333500"/>
            <a:ext cx="2619375" cy="4533900"/>
          </a:xfrm>
          <a:prstGeom prst="roundRect">
            <a:avLst>
              <a:gd name="adj" fmla="val 5091"/>
            </a:avLst>
          </a:prstGeom>
          <a:solidFill>
            <a:srgbClr val="FFFFFF"/>
          </a:solidFill>
          <a:ln/>
          <a:effectLst>
            <a:outerShdw blurRad="114300" dist="19050" dir="5400000">
              <a:srgbClr val="16263F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95" name="" descr="{&quot;isTemplate&quot;:true,&quot;type&quot;:&quot;text&quot;}"/>
          <p:cNvSpPr txBox="1"/>
          <p:nvPr/>
        </p:nvSpPr>
        <p:spPr>
          <a:xfrm rot="0" flipH="0" flipV="0">
            <a:off x="6400800" y="1562100"/>
            <a:ext cx="22002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16263F"/>
                </a:solidFill>
                <a:latin typeface="JetBrains Mono"/>
                <a:ea typeface="JetBrains Mono"/>
              </a:rPr>
              <a:t>top_k</a:t>
            </a:r>
            <a:endParaRPr/>
          </a:p>
        </p:txBody>
      </p:sp>
      <p:sp>
        <p:nvSpPr>
          <p:cNvPr id="96" name="" descr="{&quot;isTemplate&quot;:true,&quot;type&quot;:&quot;text&quot;}"/>
          <p:cNvSpPr txBox="1"/>
          <p:nvPr/>
        </p:nvSpPr>
        <p:spPr>
          <a:xfrm rot="0" flipH="0" flipV="0">
            <a:off x="6400800" y="1847850"/>
            <a:ext cx="22002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22D3EE"/>
                </a:solidFill>
                <a:latin typeface="思源黑体"/>
                <a:ea typeface="思源黑体"/>
              </a:rPr>
              <a:t>整数</a:t>
            </a:r>
            <a:endParaRPr/>
          </a:p>
        </p:txBody>
      </p:sp>
      <p:sp>
        <p:nvSpPr>
          <p:cNvPr id="97" name="" descr="{&quot;isTemplate&quot;:true,&quot;type&quot;:&quot;text&quot;}"/>
          <p:cNvSpPr txBox="1"/>
          <p:nvPr/>
        </p:nvSpPr>
        <p:spPr>
          <a:xfrm rot="0" flipH="0" flipV="0">
            <a:off x="6400800" y="2152650"/>
            <a:ext cx="2200275" cy="514350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975">
                <a:solidFill>
                  <a:srgbClr val="5B6B7A"/>
                </a:solidFill>
                <a:latin typeface="思源黑体"/>
                <a:ea typeface="思源黑体"/>
              </a:rPr>
              <a:t>只保留概率最高的</a:t>
            </a:r>
            <a:r>
              <a:rPr lang="en-US" sz="975">
                <a:solidFill>
                  <a:srgbClr val="5B6B7A"/>
                </a:solidFill>
                <a:latin typeface="思源黑体"/>
                <a:ea typeface="思源黑体"/>
              </a:rPr>
              <a:t> k </a:t>
            </a:r>
            <a:r>
              <a:rPr lang="zh-CN" sz="975">
                <a:solidFill>
                  <a:srgbClr val="5B6B7A"/>
                </a:solidFill>
                <a:latin typeface="思源黑体"/>
                <a:ea typeface="思源黑体"/>
              </a:rPr>
              <a:t>个候选词
直接截断词表</a:t>
            </a:r>
            <a:endParaRPr/>
          </a:p>
        </p:txBody>
      </p:sp>
      <p:sp>
        <p:nvSpPr>
          <p:cNvPr id="98" name=""/>
          <p:cNvSpPr/>
          <p:nvPr/>
        </p:nvSpPr>
        <p:spPr>
          <a:xfrm rot="0" flipH="0" flipV="0">
            <a:off x="9001125" y="1333500"/>
            <a:ext cx="2619375" cy="4533900"/>
          </a:xfrm>
          <a:prstGeom prst="roundRect">
            <a:avLst>
              <a:gd name="adj" fmla="val 5091"/>
            </a:avLst>
          </a:prstGeom>
          <a:solidFill>
            <a:srgbClr val="FFFFFF"/>
          </a:solidFill>
          <a:ln/>
          <a:effectLst>
            <a:outerShdw blurRad="114300" dist="19050" dir="5400000">
              <a:srgbClr val="16263F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99" name="" descr="{&quot;isTemplate&quot;:true,&quot;type&quot;:&quot;text&quot;}"/>
          <p:cNvSpPr txBox="1"/>
          <p:nvPr/>
        </p:nvSpPr>
        <p:spPr>
          <a:xfrm rot="0" flipH="0" flipV="0">
            <a:off x="9210675" y="1562100"/>
            <a:ext cx="22002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16263F"/>
                </a:solidFill>
                <a:latin typeface="JetBrains Mono"/>
                <a:ea typeface="JetBrains Mono"/>
              </a:rPr>
              <a:t>max_tokens</a:t>
            </a:r>
            <a:endParaRPr/>
          </a:p>
        </p:txBody>
      </p:sp>
      <p:sp>
        <p:nvSpPr>
          <p:cNvPr id="100" name="" descr="{&quot;isTemplate&quot;:true,&quot;type&quot;:&quot;text&quot;}"/>
          <p:cNvSpPr txBox="1"/>
          <p:nvPr/>
        </p:nvSpPr>
        <p:spPr>
          <a:xfrm rot="0" flipH="0" flipV="0">
            <a:off x="9210675" y="1847850"/>
            <a:ext cx="22002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22D3EE"/>
                </a:solidFill>
                <a:latin typeface="思源黑体"/>
                <a:ea typeface="思源黑体"/>
              </a:rPr>
              <a:t>整数</a:t>
            </a:r>
            <a:endParaRPr/>
          </a:p>
        </p:txBody>
      </p:sp>
      <p:sp>
        <p:nvSpPr>
          <p:cNvPr id="101" name="" descr="{&quot;isTemplate&quot;:true,&quot;type&quot;:&quot;text&quot;}"/>
          <p:cNvSpPr txBox="1"/>
          <p:nvPr/>
        </p:nvSpPr>
        <p:spPr>
          <a:xfrm rot="0" flipH="0" flipV="0">
            <a:off x="9210675" y="2152650"/>
            <a:ext cx="2200275" cy="514350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975">
                <a:solidFill>
                  <a:srgbClr val="5B6B7A"/>
                </a:solidFill>
                <a:latin typeface="思源黑体"/>
                <a:ea typeface="思源黑体"/>
              </a:rPr>
              <a:t>输出长度上限
防止回答失控超长</a:t>
            </a:r>
            <a:endParaRPr/>
          </a:p>
        </p:txBody>
      </p:sp>
      <p:sp>
        <p:nvSpPr>
          <p:cNvPr id="102" name=""/>
          <p:cNvSpPr/>
          <p:nvPr/>
        </p:nvSpPr>
        <p:spPr>
          <a:xfrm rot="0" flipH="0" flipV="0">
            <a:off x="571500" y="6076950"/>
            <a:ext cx="11049000" cy="590550"/>
          </a:xfrm>
          <a:prstGeom prst="roundRect">
            <a:avLst>
              <a:gd name="adj" fmla="val 19355"/>
            </a:avLst>
          </a:prstGeom>
          <a:solidFill>
            <a:srgbClr val="16263F"/>
          </a:solidFill>
          <a:ln/>
        </p:spPr>
        <p:txBody>
          <a:bodyPr/>
          <a:p/>
        </p:txBody>
      </p:sp>
      <p:pic>
        <p:nvPicPr>
          <p:cNvPr id="103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800100" y="6248400"/>
            <a:ext cx="247650" cy="247650"/>
          </a:xfrm>
          <a:prstGeom prst="rect">
            <a:avLst/>
          </a:prstGeom>
          <a:ln/>
        </p:spPr>
      </p:pic>
      <p:sp>
        <p:nvSpPr>
          <p:cNvPr id="104" name="" descr="{&quot;isTemplate&quot;:true,&quot;type&quot;:&quot;text&quot;}"/>
          <p:cNvSpPr txBox="1"/>
          <p:nvPr/>
        </p:nvSpPr>
        <p:spPr>
          <a:xfrm rot="0" flipH="0" flipV="0">
            <a:off x="1181100" y="6276975"/>
            <a:ext cx="38957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FFFFFF"/>
                </a:solidFill>
                <a:latin typeface="思源黑体"/>
                <a:ea typeface="思源黑体"/>
              </a:rPr>
              <a:t>调参第一原则：</a:t>
            </a:r>
            <a:r>
              <a:rPr lang="zh-CN" sz="1200" b="1">
                <a:solidFill>
                  <a:srgbClr val="FF9F1C"/>
                </a:solidFill>
                <a:latin typeface="思源黑体"/>
                <a:ea typeface="思源黑体"/>
              </a:rPr>
              <a:t>一次只动一个旋钮</a:t>
            </a:r>
            <a:r>
              <a:rPr lang="zh-CN" sz="1200" b="1">
                <a:solidFill>
                  <a:srgbClr val="FFFFFF"/>
                </a:solidFill>
                <a:latin typeface="思源黑体"/>
                <a:ea typeface="思源黑体"/>
              </a:rPr>
              <a:t>，观察效果再动下一个</a:t>
            </a:r>
            <a:endParaRPr/>
          </a:p>
        </p:txBody>
      </p:sp>
      <p:sp>
        <p:nvSpPr>
          <p:cNvPr id="105" name="" descr="{&quot;isTemplate&quot;:true,&quot;type&quot;:&quot;text&quot;}"/>
          <p:cNvSpPr txBox="1"/>
          <p:nvPr/>
        </p:nvSpPr>
        <p:spPr>
          <a:xfrm rot="0" flipH="0" flipV="0">
            <a:off x="571500" y="6562725"/>
            <a:ext cx="12477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AI </a:t>
            </a: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从零开始</a:t>
            </a: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 · </a:t>
            </a: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第</a:t>
            </a: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 4 </a:t>
            </a: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讲</a:t>
            </a:r>
            <a:endParaRPr/>
          </a:p>
        </p:txBody>
      </p:sp>
      <p:sp>
        <p:nvSpPr>
          <p:cNvPr id="106" name="" descr="{&quot;isTemplate&quot;:true,&quot;type&quot;:&quot;text&quot;}"/>
          <p:cNvSpPr txBox="1"/>
          <p:nvPr/>
        </p:nvSpPr>
        <p:spPr>
          <a:xfrm rot="0" flipH="0" flipV="0">
            <a:off x="11210925" y="6562725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13 / 14</a:t>
            </a:r>
            <a:endParaRPr/>
          </a:p>
        </p:txBody>
      </p:sp>
    </p:spTree>
  </p:cSld>
</p:sld>
</file>

<file path=ppt/slides/slide14.xml><?xml version="1.0" encoding="utf-8"?>
<p:sld xmlns:a="http://schemas.openxmlformats.org/drawingml/2006/main" xmlns:p="http://schemas.openxmlformats.org/presentationml/2006/main">
  <p:cSld>
    <p:spTree>
      <p:nvGrpSpPr>
        <p:cNvPr id="107" name="" descr="&lt;Slide&#10;  style={{&#10;    width: '1280px', height: '720px',&#10;    background: 'linear-gradient(135deg, #16263F 0%, #1E3A5F 100%)',&#10;    padding: '20px 60px',&#10;    fontFamily: '&quot;思源黑体&quot;, sans-serif',&#10;  }}&#10;&gt;&#10;  &lt;Box style={{ position: 'absolute', top: -60, right: -60, width: 260, height: 260, borderRadius: 130, background: 'rgba(34,211,238,0.1)' }} /&gt;&#10;&#10;  &lt;Box style={{ position: 'relative', zIndex: 2, width: '100%', height: '100%', flexDirection: 'column', justifyContent: 'center' }}&gt;&#10;    &lt;Text style={{ fontSize: 14, color: '#22D3EE', fontWeight: 'bold', letterSpacing: 3, marginBottom: 14 }}&gt;CHAPTER 04 · FULL LOOP&lt;/Text&gt;&#10;    &lt;Text style={{ fontSize: 40, color: '#FFFFFF', fontWeight: 'bold', marginBottom: 12 }}&gt;调用 → 编排 → 部署 → 监控，完整闭环&lt;/Text&gt;&#10;    &lt;Text style={{ fontSize: 16, color: '#DCE7F5', marginBottom: 30 }}&gt;&#10;      从裸调 API 到框架化开发：一条链贯穿始终，写完即上线，上线即监控&#10;    &lt;/Text&gt;&#10;&#10;    &lt;Box style={{ flexDirection: 'row', gap: 20, marginBottom: 26 }}&gt;&#10;      {[&#10;        { t: '调用', d: '5 行跑通对话' },&#10;        { t: '编排', d: 'LCEL 链式表达' },&#10;        { t: '部署', d: 'LangServe 一键上线' },&#10;        { t: '监控', d: 'LangSmith 可视化' },&#10;      ].map((item, idx) =&gt; (&#10;        &lt;Box key={idx} style={{ flex: 1, background: 'rgba(255,255,255,0.07)', border: '1px solid rgba(220,231,245,0.2)', borderRadius: 12, padding: '20px 22px' }}&gt;&#10;          &lt;Text style={{ fontSize: 22, fontWeight: 'bold', color: '#22D3EE', marginBottom: 6 }}&gt;{item.t}&lt;/Text&gt;&#10;          &lt;Text style={{ fontSize: 14, color: '#DCE7F5' }}&gt;{item.d}&lt;/Text&gt;&#10;        &lt;/Box&gt;&#10;      ))}&#10;    &lt;/Box&gt;&#10;&#10;    &lt;Box style={{ background: 'rgba(255,159,28,0.12)', border: '1px solid rgba(255,159,28,0.3)', borderRadius: 14, padding: '20px 24px', marginBottom: 14 }}&gt;&#10;      &lt;Text style={{ fontSize: 18, fontWeight: 'bold', color: '#FF9F1C', marginBottom: 8 }}&gt;动手练习 · 三步完成&lt;/Text&gt;&#10;      &lt;Text style={{ fontSize: 15, color: '#DCE7F5', lineHeight: 1.9 }}&gt;&#10;        ① 写一条 LCEL 链（prompt | llm | parser）→ ② LangServe 部署到本地端口 → ③ 打开 LangSmith 查看 trace&#10;      &lt;/Text&gt;&#10;    &lt;/Box&gt;&#10;&#10;    &lt;Box style={{ background: 'rgba(255,255,255,0.06)', borderRadius: 12, padding: '16px 22px' }}&gt;&#10;      &lt;Text style={{ fontSize: 15, color: '#DCE7F5', lineHeight: 1.9 }}&gt;&#10;        自测 3 题：裸调四大痛点？LCEL 的 Runnable 接口有哪些调用方式？LangServe 如何一行挂载为 REST API？&#10;      &lt;/Text&gt;&#10;    &lt;/Box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6263F"/>
              </a:gs>
              <a:gs pos="100000">
                <a:srgbClr val="1E3A5F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109" name=""/>
          <p:cNvSpPr/>
          <p:nvPr/>
        </p:nvSpPr>
        <p:spPr>
          <a:xfrm rot="0" flipH="0" flipV="0">
            <a:off x="10287000" y="-571500"/>
            <a:ext cx="2476500" cy="2476500"/>
          </a:xfrm>
          <a:prstGeom prst="roundRect">
            <a:avLst>
              <a:gd name="adj" fmla="val 50000"/>
            </a:avLst>
          </a:prstGeom>
          <a:solidFill>
            <a:srgbClr val="22D3EE">
              <a:alpha val="10000"/>
            </a:srgbClr>
          </a:solidFill>
          <a:ln/>
        </p:spPr>
        <p:txBody>
          <a:bodyPr/>
          <a:p/>
        </p:txBody>
      </p:sp>
      <p:sp>
        <p:nvSpPr>
          <p:cNvPr id="110" name="" descr="{&quot;isTemplate&quot;:true,&quot;type&quot;:&quot;text&quot;}"/>
          <p:cNvSpPr txBox="1"/>
          <p:nvPr/>
        </p:nvSpPr>
        <p:spPr>
          <a:xfrm rot="0" flipH="0" flipV="0">
            <a:off x="571500" y="1323975"/>
            <a:ext cx="11049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 spc="225">
                <a:solidFill>
                  <a:srgbClr val="22D3EE"/>
                </a:solidFill>
                <a:latin typeface="思源黑体"/>
                <a:ea typeface="思源黑体"/>
              </a:rPr>
              <a:t>CHAPTER 04 · FULL LOOP</a:t>
            </a:r>
            <a:endParaRPr/>
          </a:p>
        </p:txBody>
      </p:sp>
      <p:sp>
        <p:nvSpPr>
          <p:cNvPr id="111" name="" descr="{&quot;isTemplate&quot;:true,&quot;type&quot;:&quot;text&quot;}"/>
          <p:cNvSpPr txBox="1"/>
          <p:nvPr/>
        </p:nvSpPr>
        <p:spPr>
          <a:xfrm rot="0" flipH="0" flipV="0">
            <a:off x="571500" y="1619250"/>
            <a:ext cx="11049000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3000" b="1">
                <a:solidFill>
                  <a:srgbClr val="FFFFFF"/>
                </a:solidFill>
                <a:latin typeface="思源黑体"/>
                <a:ea typeface="思源黑体"/>
              </a:rPr>
              <a:t>调用</a:t>
            </a:r>
            <a:r>
              <a:rPr lang="en-US" sz="3000" b="1">
                <a:solidFill>
                  <a:srgbClr val="FFFFFF"/>
                </a:solidFill>
                <a:latin typeface="思源黑体"/>
                <a:ea typeface="思源黑体"/>
              </a:rPr>
              <a:t> → </a:t>
            </a:r>
            <a:r>
              <a:rPr lang="zh-CN" sz="3000" b="1">
                <a:solidFill>
                  <a:srgbClr val="FFFFFF"/>
                </a:solidFill>
                <a:latin typeface="思源黑体"/>
                <a:ea typeface="思源黑体"/>
              </a:rPr>
              <a:t>编排</a:t>
            </a:r>
            <a:r>
              <a:rPr lang="en-US" sz="3000" b="1">
                <a:solidFill>
                  <a:srgbClr val="FFFFFF"/>
                </a:solidFill>
                <a:latin typeface="思源黑体"/>
                <a:ea typeface="思源黑体"/>
              </a:rPr>
              <a:t> → </a:t>
            </a:r>
            <a:r>
              <a:rPr lang="zh-CN" sz="3000" b="1">
                <a:solidFill>
                  <a:srgbClr val="FFFFFF"/>
                </a:solidFill>
                <a:latin typeface="思源黑体"/>
                <a:ea typeface="思源黑体"/>
              </a:rPr>
              <a:t>部署</a:t>
            </a:r>
            <a:r>
              <a:rPr lang="en-US" sz="3000" b="1">
                <a:solidFill>
                  <a:srgbClr val="FFFFFF"/>
                </a:solidFill>
                <a:latin typeface="思源黑体"/>
                <a:ea typeface="思源黑体"/>
              </a:rPr>
              <a:t> → </a:t>
            </a:r>
            <a:r>
              <a:rPr lang="zh-CN" sz="3000" b="1">
                <a:solidFill>
                  <a:srgbClr val="FFFFFF"/>
                </a:solidFill>
                <a:latin typeface="思源黑体"/>
                <a:ea typeface="思源黑体"/>
              </a:rPr>
              <a:t>监控，完整闭环</a:t>
            </a:r>
            <a:endParaRPr/>
          </a:p>
        </p:txBody>
      </p:sp>
      <p:sp>
        <p:nvSpPr>
          <p:cNvPr id="112" name="" descr="{&quot;isTemplate&quot;:true,&quot;type&quot;:&quot;text&quot;}"/>
          <p:cNvSpPr txBox="1"/>
          <p:nvPr/>
        </p:nvSpPr>
        <p:spPr>
          <a:xfrm rot="0" flipH="0" flipV="0">
            <a:off x="571500" y="2190750"/>
            <a:ext cx="11049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DCE7F5"/>
                </a:solidFill>
                <a:latin typeface="思源黑体"/>
                <a:ea typeface="思源黑体"/>
              </a:rPr>
              <a:t>从裸调</a:t>
            </a:r>
            <a:r>
              <a:rPr lang="en-US" sz="1200">
                <a:solidFill>
                  <a:srgbClr val="DCE7F5"/>
                </a:solidFill>
                <a:latin typeface="思源黑体"/>
                <a:ea typeface="思源黑体"/>
              </a:rPr>
              <a:t> API </a:t>
            </a:r>
            <a:r>
              <a:rPr lang="zh-CN" sz="1200">
                <a:solidFill>
                  <a:srgbClr val="DCE7F5"/>
                </a:solidFill>
                <a:latin typeface="思源黑体"/>
                <a:ea typeface="思源黑体"/>
              </a:rPr>
              <a:t>到框架化开发：一条链贯穿始终，写完即上线，上线即监控</a:t>
            </a:r>
            <a:endParaRPr/>
          </a:p>
        </p:txBody>
      </p:sp>
      <p:sp>
        <p:nvSpPr>
          <p:cNvPr id="113" name=""/>
          <p:cNvSpPr/>
          <p:nvPr/>
        </p:nvSpPr>
        <p:spPr>
          <a:xfrm rot="0" flipH="0" flipV="0">
            <a:off x="571500" y="2667000"/>
            <a:ext cx="2619375" cy="857250"/>
          </a:xfrm>
          <a:prstGeom prst="roundRect">
            <a:avLst>
              <a:gd name="adj" fmla="val 13333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DCE7F5">
                <a:alpha val="2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4" name="" descr="{&quot;isTemplate&quot;:true,&quot;type&quot;:&quot;text&quot;}"/>
          <p:cNvSpPr txBox="1"/>
          <p:nvPr/>
        </p:nvSpPr>
        <p:spPr>
          <a:xfrm rot="0" flipH="0" flipV="0">
            <a:off x="781050" y="2857500"/>
            <a:ext cx="220027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22D3EE"/>
                </a:solidFill>
                <a:latin typeface="思源黑体"/>
                <a:ea typeface="思源黑体"/>
              </a:rPr>
              <a:t>调用</a:t>
            </a:r>
            <a:endParaRPr/>
          </a:p>
        </p:txBody>
      </p:sp>
      <p:sp>
        <p:nvSpPr>
          <p:cNvPr id="115" name="" descr="{&quot;isTemplate&quot;:true,&quot;type&quot;:&quot;text&quot;}"/>
          <p:cNvSpPr txBox="1"/>
          <p:nvPr/>
        </p:nvSpPr>
        <p:spPr>
          <a:xfrm rot="0" flipH="0" flipV="0">
            <a:off x="781050" y="3171825"/>
            <a:ext cx="22002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DCE7F5"/>
                </a:solidFill>
                <a:latin typeface="思源黑体"/>
                <a:ea typeface="思源黑体"/>
              </a:rPr>
              <a:t>5 </a:t>
            </a:r>
            <a:r>
              <a:rPr lang="zh-CN" sz="1050">
                <a:solidFill>
                  <a:srgbClr val="DCE7F5"/>
                </a:solidFill>
                <a:latin typeface="思源黑体"/>
                <a:ea typeface="思源黑体"/>
              </a:rPr>
              <a:t>行跑通对话</a:t>
            </a:r>
            <a:endParaRPr/>
          </a:p>
        </p:txBody>
      </p:sp>
      <p:sp>
        <p:nvSpPr>
          <p:cNvPr id="116" name=""/>
          <p:cNvSpPr/>
          <p:nvPr/>
        </p:nvSpPr>
        <p:spPr>
          <a:xfrm rot="0" flipH="0" flipV="0">
            <a:off x="3381375" y="2667000"/>
            <a:ext cx="2619375" cy="857250"/>
          </a:xfrm>
          <a:prstGeom prst="roundRect">
            <a:avLst>
              <a:gd name="adj" fmla="val 13333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DCE7F5">
                <a:alpha val="2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7" name="" descr="{&quot;isTemplate&quot;:true,&quot;type&quot;:&quot;text&quot;}"/>
          <p:cNvSpPr txBox="1"/>
          <p:nvPr/>
        </p:nvSpPr>
        <p:spPr>
          <a:xfrm rot="0" flipH="0" flipV="0">
            <a:off x="3590925" y="2857500"/>
            <a:ext cx="220027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22D3EE"/>
                </a:solidFill>
                <a:latin typeface="思源黑体"/>
                <a:ea typeface="思源黑体"/>
              </a:rPr>
              <a:t>编排</a:t>
            </a:r>
            <a:endParaRPr/>
          </a:p>
        </p:txBody>
      </p:sp>
      <p:sp>
        <p:nvSpPr>
          <p:cNvPr id="118" name="" descr="{&quot;isTemplate&quot;:true,&quot;type&quot;:&quot;text&quot;}"/>
          <p:cNvSpPr txBox="1"/>
          <p:nvPr/>
        </p:nvSpPr>
        <p:spPr>
          <a:xfrm rot="0" flipH="0" flipV="0">
            <a:off x="3590925" y="3171825"/>
            <a:ext cx="22002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DCE7F5"/>
                </a:solidFill>
                <a:latin typeface="思源黑体"/>
                <a:ea typeface="思源黑体"/>
              </a:rPr>
              <a:t>LCEL </a:t>
            </a:r>
            <a:r>
              <a:rPr lang="zh-CN" sz="1050">
                <a:solidFill>
                  <a:srgbClr val="DCE7F5"/>
                </a:solidFill>
                <a:latin typeface="思源黑体"/>
                <a:ea typeface="思源黑体"/>
              </a:rPr>
              <a:t>链式表达</a:t>
            </a:r>
            <a:endParaRPr/>
          </a:p>
        </p:txBody>
      </p:sp>
      <p:sp>
        <p:nvSpPr>
          <p:cNvPr id="119" name=""/>
          <p:cNvSpPr/>
          <p:nvPr/>
        </p:nvSpPr>
        <p:spPr>
          <a:xfrm rot="0" flipH="0" flipV="0">
            <a:off x="6191250" y="2667000"/>
            <a:ext cx="2619375" cy="857250"/>
          </a:xfrm>
          <a:prstGeom prst="roundRect">
            <a:avLst>
              <a:gd name="adj" fmla="val 13333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DCE7F5">
                <a:alpha val="2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20" name="" descr="{&quot;isTemplate&quot;:true,&quot;type&quot;:&quot;text&quot;}"/>
          <p:cNvSpPr txBox="1"/>
          <p:nvPr/>
        </p:nvSpPr>
        <p:spPr>
          <a:xfrm rot="0" flipH="0" flipV="0">
            <a:off x="6400800" y="2857500"/>
            <a:ext cx="220027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22D3EE"/>
                </a:solidFill>
                <a:latin typeface="思源黑体"/>
                <a:ea typeface="思源黑体"/>
              </a:rPr>
              <a:t>部署</a:t>
            </a:r>
            <a:endParaRPr/>
          </a:p>
        </p:txBody>
      </p:sp>
      <p:sp>
        <p:nvSpPr>
          <p:cNvPr id="121" name="" descr="{&quot;isTemplate&quot;:true,&quot;type&quot;:&quot;text&quot;}"/>
          <p:cNvSpPr txBox="1"/>
          <p:nvPr/>
        </p:nvSpPr>
        <p:spPr>
          <a:xfrm rot="0" flipH="0" flipV="0">
            <a:off x="6400800" y="3171825"/>
            <a:ext cx="22002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DCE7F5"/>
                </a:solidFill>
                <a:latin typeface="思源黑体"/>
                <a:ea typeface="思源黑体"/>
              </a:rPr>
              <a:t>LangServe </a:t>
            </a:r>
            <a:r>
              <a:rPr lang="zh-CN" sz="1050">
                <a:solidFill>
                  <a:srgbClr val="DCE7F5"/>
                </a:solidFill>
                <a:latin typeface="思源黑体"/>
                <a:ea typeface="思源黑体"/>
              </a:rPr>
              <a:t>一键上线</a:t>
            </a:r>
            <a:endParaRPr/>
          </a:p>
        </p:txBody>
      </p:sp>
      <p:sp>
        <p:nvSpPr>
          <p:cNvPr id="122" name=""/>
          <p:cNvSpPr/>
          <p:nvPr/>
        </p:nvSpPr>
        <p:spPr>
          <a:xfrm rot="0" flipH="0" flipV="0">
            <a:off x="9001125" y="2667000"/>
            <a:ext cx="2619375" cy="857250"/>
          </a:xfrm>
          <a:prstGeom prst="roundRect">
            <a:avLst>
              <a:gd name="adj" fmla="val 13333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DCE7F5">
                <a:alpha val="2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23" name="" descr="{&quot;isTemplate&quot;:true,&quot;type&quot;:&quot;text&quot;}"/>
          <p:cNvSpPr txBox="1"/>
          <p:nvPr/>
        </p:nvSpPr>
        <p:spPr>
          <a:xfrm rot="0" flipH="0" flipV="0">
            <a:off x="9210675" y="2857500"/>
            <a:ext cx="220027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22D3EE"/>
                </a:solidFill>
                <a:latin typeface="思源黑体"/>
                <a:ea typeface="思源黑体"/>
              </a:rPr>
              <a:t>监控</a:t>
            </a:r>
            <a:endParaRPr/>
          </a:p>
        </p:txBody>
      </p:sp>
      <p:sp>
        <p:nvSpPr>
          <p:cNvPr id="124" name="" descr="{&quot;isTemplate&quot;:true,&quot;type&quot;:&quot;text&quot;}"/>
          <p:cNvSpPr txBox="1"/>
          <p:nvPr/>
        </p:nvSpPr>
        <p:spPr>
          <a:xfrm rot="0" flipH="0" flipV="0">
            <a:off x="9210675" y="3171825"/>
            <a:ext cx="22002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DCE7F5"/>
                </a:solidFill>
                <a:latin typeface="思源黑体"/>
                <a:ea typeface="思源黑体"/>
              </a:rPr>
              <a:t>LangSmith </a:t>
            </a:r>
            <a:r>
              <a:rPr lang="zh-CN" sz="1050">
                <a:solidFill>
                  <a:srgbClr val="DCE7F5"/>
                </a:solidFill>
                <a:latin typeface="思源黑体"/>
                <a:ea typeface="思源黑体"/>
              </a:rPr>
              <a:t>可视化</a:t>
            </a:r>
            <a:endParaRPr/>
          </a:p>
        </p:txBody>
      </p:sp>
      <p:sp>
        <p:nvSpPr>
          <p:cNvPr id="125" name=""/>
          <p:cNvSpPr/>
          <p:nvPr/>
        </p:nvSpPr>
        <p:spPr>
          <a:xfrm rot="0" flipH="0" flipV="0">
            <a:off x="571500" y="3771900"/>
            <a:ext cx="11049000" cy="1000125"/>
          </a:xfrm>
          <a:prstGeom prst="roundRect">
            <a:avLst>
              <a:gd name="adj" fmla="val 13333"/>
            </a:avLst>
          </a:prstGeom>
          <a:solidFill>
            <a:srgbClr val="FF9F1C">
              <a:alpha val="12000"/>
            </a:srgbClr>
          </a:solidFill>
          <a:ln w="12700">
            <a:solidFill>
              <a:srgbClr val="FF9F1C">
                <a:alpha val="3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26" name="" descr="{&quot;isTemplate&quot;:true,&quot;type&quot;:&quot;text&quot;}"/>
          <p:cNvSpPr txBox="1"/>
          <p:nvPr/>
        </p:nvSpPr>
        <p:spPr>
          <a:xfrm rot="0" flipH="0" flipV="0">
            <a:off x="800100" y="3962400"/>
            <a:ext cx="10591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F9F1C"/>
                </a:solidFill>
                <a:latin typeface="思源黑体"/>
                <a:ea typeface="思源黑体"/>
              </a:rPr>
              <a:t>动手练习</a:t>
            </a:r>
            <a:r>
              <a:rPr lang="en-US" sz="1350" b="1">
                <a:solidFill>
                  <a:srgbClr val="FF9F1C"/>
                </a:solidFill>
                <a:latin typeface="思源黑体"/>
                <a:ea typeface="思源黑体"/>
              </a:rPr>
              <a:t> · </a:t>
            </a:r>
            <a:r>
              <a:rPr lang="zh-CN" sz="1350" b="1">
                <a:solidFill>
                  <a:srgbClr val="FF9F1C"/>
                </a:solidFill>
                <a:latin typeface="思源黑体"/>
                <a:ea typeface="思源黑体"/>
              </a:rPr>
              <a:t>三步完成</a:t>
            </a:r>
            <a:endParaRPr/>
          </a:p>
        </p:txBody>
      </p:sp>
      <p:sp>
        <p:nvSpPr>
          <p:cNvPr id="127" name="" descr="{&quot;isTemplate&quot;:true,&quot;type&quot;:&quot;text&quot;}"/>
          <p:cNvSpPr txBox="1"/>
          <p:nvPr/>
        </p:nvSpPr>
        <p:spPr>
          <a:xfrm rot="0" flipH="0" flipV="0">
            <a:off x="800100" y="4248150"/>
            <a:ext cx="10591800" cy="333375"/>
          </a:xfrm>
          <a:prstGeom prst="rect"/>
        </p:spPr>
        <p:txBody>
          <a:bodyPr wrap="none" lIns="0" tIns="0" rIns="0" bIns="0"/>
          <a:p>
            <a:pPr>
              <a:lnSpc>
                <a:spcPct val="190000"/>
              </a:lnSpc>
            </a:pPr>
            <a:r>
              <a:rPr lang="en-US" sz="1125">
                <a:solidFill>
                  <a:srgbClr val="DCE7F5"/>
                </a:solidFill>
                <a:latin typeface="思源黑体"/>
                <a:ea typeface="思源黑体"/>
              </a:rPr>
              <a:t>① </a:t>
            </a:r>
            <a:r>
              <a:rPr lang="zh-CN" sz="1125">
                <a:solidFill>
                  <a:srgbClr val="DCE7F5"/>
                </a:solidFill>
                <a:latin typeface="思源黑体"/>
                <a:ea typeface="思源黑体"/>
              </a:rPr>
              <a:t>写一条</a:t>
            </a:r>
            <a:r>
              <a:rPr lang="en-US" sz="1125">
                <a:solidFill>
                  <a:srgbClr val="DCE7F5"/>
                </a:solidFill>
                <a:latin typeface="思源黑体"/>
                <a:ea typeface="思源黑体"/>
              </a:rPr>
              <a:t> LCEL </a:t>
            </a:r>
            <a:r>
              <a:rPr lang="zh-CN" sz="1125">
                <a:solidFill>
                  <a:srgbClr val="DCE7F5"/>
                </a:solidFill>
                <a:latin typeface="思源黑体"/>
                <a:ea typeface="思源黑体"/>
              </a:rPr>
              <a:t>链（</a:t>
            </a:r>
            <a:r>
              <a:rPr lang="en-US" sz="1125">
                <a:solidFill>
                  <a:srgbClr val="DCE7F5"/>
                </a:solidFill>
                <a:latin typeface="思源黑体"/>
                <a:ea typeface="思源黑体"/>
              </a:rPr>
              <a:t>prompt | llm | parser</a:t>
            </a:r>
            <a:r>
              <a:rPr lang="zh-CN" sz="1125">
                <a:solidFill>
                  <a:srgbClr val="DCE7F5"/>
                </a:solidFill>
                <a:latin typeface="思源黑体"/>
                <a:ea typeface="思源黑体"/>
              </a:rPr>
              <a:t>）→</a:t>
            </a:r>
            <a:r>
              <a:rPr lang="en-US" sz="1125">
                <a:solidFill>
                  <a:srgbClr val="DCE7F5"/>
                </a:solidFill>
                <a:latin typeface="思源黑体"/>
                <a:ea typeface="思源黑体"/>
              </a:rPr>
              <a:t> ② LangServe </a:t>
            </a:r>
            <a:r>
              <a:rPr lang="zh-CN" sz="1125">
                <a:solidFill>
                  <a:srgbClr val="DCE7F5"/>
                </a:solidFill>
                <a:latin typeface="思源黑体"/>
                <a:ea typeface="思源黑体"/>
              </a:rPr>
              <a:t>部署到本地端口</a:t>
            </a:r>
            <a:r>
              <a:rPr lang="en-US" sz="1125">
                <a:solidFill>
                  <a:srgbClr val="DCE7F5"/>
                </a:solidFill>
                <a:latin typeface="思源黑体"/>
                <a:ea typeface="思源黑体"/>
              </a:rPr>
              <a:t> → ③ </a:t>
            </a:r>
            <a:r>
              <a:rPr lang="zh-CN" sz="1125">
                <a:solidFill>
                  <a:srgbClr val="DCE7F5"/>
                </a:solidFill>
                <a:latin typeface="思源黑体"/>
                <a:ea typeface="思源黑体"/>
              </a:rPr>
              <a:t>打开</a:t>
            </a:r>
            <a:r>
              <a:rPr lang="en-US" sz="1125">
                <a:solidFill>
                  <a:srgbClr val="DCE7F5"/>
                </a:solidFill>
                <a:latin typeface="思源黑体"/>
                <a:ea typeface="思源黑体"/>
              </a:rPr>
              <a:t> LangSmith </a:t>
            </a:r>
            <a:r>
              <a:rPr lang="zh-CN" sz="1125">
                <a:solidFill>
                  <a:srgbClr val="DCE7F5"/>
                </a:solidFill>
                <a:latin typeface="思源黑体"/>
                <a:ea typeface="思源黑体"/>
              </a:rPr>
              <a:t>查看</a:t>
            </a:r>
            <a:r>
              <a:rPr lang="en-US" sz="1125">
                <a:solidFill>
                  <a:srgbClr val="DCE7F5"/>
                </a:solidFill>
                <a:latin typeface="思源黑体"/>
                <a:ea typeface="思源黑体"/>
              </a:rPr>
              <a:t> trace</a:t>
            </a:r>
            <a:endParaRPr/>
          </a:p>
        </p:txBody>
      </p:sp>
      <p:sp>
        <p:nvSpPr>
          <p:cNvPr id="128" name=""/>
          <p:cNvSpPr/>
          <p:nvPr/>
        </p:nvSpPr>
        <p:spPr>
          <a:xfrm rot="0" flipH="0" flipV="0">
            <a:off x="571500" y="4905375"/>
            <a:ext cx="11049000" cy="638175"/>
          </a:xfrm>
          <a:prstGeom prst="roundRect">
            <a:avLst>
              <a:gd name="adj" fmla="val 17910"/>
            </a:avLst>
          </a:prstGeom>
          <a:solidFill>
            <a:srgbClr val="FFFFFF">
              <a:alpha val="6000"/>
            </a:srgbClr>
          </a:solidFill>
          <a:ln/>
        </p:spPr>
        <p:txBody>
          <a:bodyPr/>
          <a:p/>
        </p:txBody>
      </p:sp>
      <p:sp>
        <p:nvSpPr>
          <p:cNvPr id="129" name="" descr="{&quot;isTemplate&quot;:true,&quot;type&quot;:&quot;text&quot;}"/>
          <p:cNvSpPr txBox="1"/>
          <p:nvPr/>
        </p:nvSpPr>
        <p:spPr>
          <a:xfrm rot="0" flipH="0" flipV="0">
            <a:off x="781050" y="5057775"/>
            <a:ext cx="10629900" cy="333375"/>
          </a:xfrm>
          <a:prstGeom prst="rect"/>
        </p:spPr>
        <p:txBody>
          <a:bodyPr wrap="none" lIns="0" tIns="0" rIns="0" bIns="0"/>
          <a:p>
            <a:pPr>
              <a:lnSpc>
                <a:spcPct val="190000"/>
              </a:lnSpc>
            </a:pPr>
            <a:r>
              <a:rPr lang="zh-CN" sz="1125">
                <a:solidFill>
                  <a:srgbClr val="DCE7F5"/>
                </a:solidFill>
                <a:latin typeface="思源黑体"/>
                <a:ea typeface="思源黑体"/>
              </a:rPr>
              <a:t>自测</a:t>
            </a:r>
            <a:r>
              <a:rPr lang="en-US" sz="1125">
                <a:solidFill>
                  <a:srgbClr val="DCE7F5"/>
                </a:solidFill>
                <a:latin typeface="思源黑体"/>
                <a:ea typeface="思源黑体"/>
              </a:rPr>
              <a:t> 3 </a:t>
            </a:r>
            <a:r>
              <a:rPr lang="zh-CN" sz="1125">
                <a:solidFill>
                  <a:srgbClr val="DCE7F5"/>
                </a:solidFill>
                <a:latin typeface="思源黑体"/>
                <a:ea typeface="思源黑体"/>
              </a:rPr>
              <a:t>题：裸调四大痛点？</a:t>
            </a:r>
            <a:r>
              <a:rPr lang="en-US" sz="1125">
                <a:solidFill>
                  <a:srgbClr val="DCE7F5"/>
                </a:solidFill>
                <a:latin typeface="思源黑体"/>
                <a:ea typeface="思源黑体"/>
              </a:rPr>
              <a:t>LCEL </a:t>
            </a:r>
            <a:r>
              <a:rPr lang="zh-CN" sz="1125">
                <a:solidFill>
                  <a:srgbClr val="DCE7F5"/>
                </a:solidFill>
                <a:latin typeface="思源黑体"/>
                <a:ea typeface="思源黑体"/>
              </a:rPr>
              <a:t>的</a:t>
            </a:r>
            <a:r>
              <a:rPr lang="en-US" sz="1125">
                <a:solidFill>
                  <a:srgbClr val="DCE7F5"/>
                </a:solidFill>
                <a:latin typeface="思源黑体"/>
                <a:ea typeface="思源黑体"/>
              </a:rPr>
              <a:t> Runnable </a:t>
            </a:r>
            <a:r>
              <a:rPr lang="zh-CN" sz="1125">
                <a:solidFill>
                  <a:srgbClr val="DCE7F5"/>
                </a:solidFill>
                <a:latin typeface="思源黑体"/>
                <a:ea typeface="思源黑体"/>
              </a:rPr>
              <a:t>接口有哪些调用方式？</a:t>
            </a:r>
            <a:r>
              <a:rPr lang="en-US" sz="1125">
                <a:solidFill>
                  <a:srgbClr val="DCE7F5"/>
                </a:solidFill>
                <a:latin typeface="思源黑体"/>
                <a:ea typeface="思源黑体"/>
              </a:rPr>
              <a:t>LangServe </a:t>
            </a:r>
            <a:r>
              <a:rPr lang="zh-CN" sz="1125">
                <a:solidFill>
                  <a:srgbClr val="DCE7F5"/>
                </a:solidFill>
                <a:latin typeface="思源黑体"/>
                <a:ea typeface="思源黑体"/>
              </a:rPr>
              <a:t>如何一行挂载为</a:t>
            </a:r>
            <a:r>
              <a:rPr lang="en-US" sz="1125">
                <a:solidFill>
                  <a:srgbClr val="DCE7F5"/>
                </a:solidFill>
                <a:latin typeface="思源黑体"/>
                <a:ea typeface="思源黑体"/>
              </a:rPr>
              <a:t> REST API</a:t>
            </a:r>
            <a:r>
              <a:rPr lang="zh-CN" sz="1125">
                <a:solidFill>
                  <a:srgbClr val="DCE7F5"/>
                </a:solidFill>
                <a:latin typeface="思源黑体"/>
                <a:ea typeface="思源黑体"/>
              </a:rPr>
              <a:t>？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Application>Tencent office</Application>
</Properties>
</file>

<file path=docProps/core.xml><?xml version="1.0" encoding="utf-8"?>
<cp:coreProperties xmlns:xsi="http://www.w3.org/2001/XMLSchema-instance" xmlns:dcmitype="http://purl.org/dc/dcmitype/" xmlns:dcterms="http://purl.org/dc/terms/" xmlns:dc="http://purl.org/dc/elements/1.1/" xmlns:cp="http://schemas.openxmlformats.org/package/2006/metadata/core-properties">
  <dcterms:created xsi:type="dcterms:W3CDTF">2026-08-13T21:32:00Z</dcterms:created>
  <dcterms:modified xsi:type="dcterms:W3CDTF">2026-08-13T21:32:00Z</dcterms:modified>
</cp:coreProperties>
</file>