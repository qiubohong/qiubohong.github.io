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16" Type="http://schemas.openxmlformats.org/officeDocument/2006/relationships/presProps" Target="presProps.xml" /><Relationship Id="rId6" Type="http://schemas.openxmlformats.org/officeDocument/2006/relationships/slide" Target="slides/slide6.xml" /><Relationship Id="rId18" Type="http://schemas.openxmlformats.org/officeDocument/2006/relationships/viewProps" Target="viewProps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7" Type="http://schemas.openxmlformats.org/officeDocument/2006/relationships/tableStyles" Target="tableStyle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2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11.svg" /><Relationship Id="rId2" Type="http://schemas.openxmlformats.org/officeDocument/2006/relationships/image" Target="media/image10.svg" /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6 讲&lt;/Text&gt;&#10;    &lt;Text style={{ fontSize: 52, color: '#FFFFFF', fontWeight: 'bold', lineHeight: 1.25, marginBottom: 20 }}&gt;&#10;      Agent 智能体&lt;br /&gt;与 LangGraph 工作流&#10;    &lt;/Text&gt;&#10;    &lt;Box style={{ width: 80, height: 4, background: '#FF9F1C', marginBottom: 28 }} /&gt;&#10;    &lt;Text style={{ fontSize: 22, color: '#DCE7F5', lineHeight: 1.6 }}&gt;&#10;      让 AI 从「回答问题」进化到「动手做事」&#10;    &lt;/Text&gt;&#10;    &lt;Text style={{ fontSize: 15, color: '#8FA4B8', marginTop: 36 }}&gt;&#10;      从 Manus 的惊艳表现出发，拆解 Agent 的大脑、手与记忆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6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Agent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智能体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与</a:t>
            </a: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 LangGraph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工作流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让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从「回答问题」进化到「动手做事」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从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Manus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的惊艳表现出发，拆解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Agent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的大脑、手与记忆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0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WHAT IS AGENT&lt;/Text&gt;&#10;      &lt;Text style={{ fontSize: 34, color: '#16263F', fontWeight: 'bold', lineHeight: 1.35, marginBottom: 24 }}&gt;&#10;        Agent 是什么&lt;br /&gt;大脑 + 手 + 反馈闭环&#10;      &lt;/Text&gt;&#10;      &lt;Box style={{ width: 56, height: 4, background: '#22D3EE', marginBottom: 24 }} /&gt;&#10;      &lt;Text style={{ fontSize: 16, color: '#5B6B7A', lineHeight: 1.7 }}&gt;&#10;        &lt;span style={{ fontWeight: 'bold', color: '#16263F' }}&gt;LLM 作推理引擎&lt;/span&gt;，决定「下一步做什么」；&lt;span style={{ fontWeight: 'bold', color: '#16263F' }}&gt;工具负责执行&lt;/span&gt;，结果再喂回给模型——用行动与反馈，补齐模型的短板。&#10;      &lt;/Text&gt;&#10;    &lt;/Box&gt;&#10;&#10;    &lt;Box style={{ flex: 1, flexDirection: 'column', gap: 12, justifyContent: 'center' }}&gt;&#10;      {[&#10;        { t: '无记忆', d: '靠 Memory 补，跨轮记住上下文' },&#10;        { t: '无工具', d: '靠 Function Call 接外部能力' },&#10;        { t: '无规划', d: '靠思维链拆解复杂任务' },&#10;        { t: '会幻觉', d: '靠检索与验证压制编造' },&#10;        { t: '不会验证', d: '靠反馈循环自我纠错' },&#10;      ].map((item, idx) =&gt; (&#10;        &lt;Box key={idx} style={{ flexDirection: 'row', alignItems: 'center', gap: 16, background: '#FFFFFF', borderRadius: 12, padding: '15px 22px', boxShadow: '0 2px 12px rgba(22,38,63,0.06)' }}&gt;&#10;          &lt;Box style={{ width: 46, height: 46, borderRadius: 12, background: '#EAF2FB', justifyContent: 'center', alignItems: 'center' }}&gt;&#10;            &lt;FAIcon name='times-circle' style={{ fill: '#FF9F1C', width: 22, height: 22 }} /&gt;&#10;          &lt;/Box&gt;&#10;          &lt;Text style={{ width: 130, fontSize: 17, fontWeight: 'bold', color: '#16263F' }}&gt;{item.t}&lt;/Text&gt;&#10;          &lt;Text style={{ flex: 1, fontSize: 14, color: '#5B6B7A' }}&gt;{item.d}&lt;/Text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WHAT IS AGENT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是什么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大脑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手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反馈闭环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LLM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作推理引擎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，决定「下一步做什么」；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工具负责执行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，结果再喂回给模型——用行动与反馈，补齐模型的短板。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381500" y="1390650"/>
            <a:ext cx="7239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591050" y="15335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1647825"/>
            <a:ext cx="209550" cy="20955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181600" y="16573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无记忆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572250" y="16764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靠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Memory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补，跨轮记住上下文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381500" y="2228850"/>
            <a:ext cx="7239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4591050" y="23717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2486025"/>
            <a:ext cx="209550" cy="2095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181600" y="24955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无工具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572250" y="25146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靠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Function Call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接外部能力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381500" y="3067050"/>
            <a:ext cx="7239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4591050" y="32099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3324225"/>
            <a:ext cx="209550" cy="2095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181600" y="33337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无规划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572250" y="33528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靠思维链拆解复杂任务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381500" y="3905250"/>
            <a:ext cx="7239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591050" y="40481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4162425"/>
            <a:ext cx="209550" cy="2095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181600" y="41719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会幻觉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572250" y="41910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靠检索与验证压制编造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381500" y="4743450"/>
            <a:ext cx="7239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591050" y="4886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5000625"/>
            <a:ext cx="209550" cy="20955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181600" y="50101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不会验证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572250" y="50292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靠反馈循环自我纠错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COLLAB MODES&lt;/Text&gt;&#10;    &lt;Text style={{ fontSize: 34, color: '#16263F', fontWeight: 'bold', marginBottom: 24 }}&gt;AI 协同的三种模式：从建议到自主&lt;/Text&gt;&#10;    &lt;Box style={{ width: 56, height: 4, background: '#22D3EE', marginBottom: 26 }} /&gt;&#10;&#10;    &lt;Box style={{ flexDirection: 'row', alignItems: 'stretch', gap: 0, flex: 1 }}&gt;&#10;      {[&#10;        { t: 'Embedding', d: '给建议', desc: 'AI 只在文字里给出意见\n人来做最终决定' },&#10;        { t: 'Copilot', d: '给初稿', desc: 'AI 生成草案\n人审核修改后定稿' },&#10;        { t: 'Agent', d: '自主执行', desc: 'AI 自主规划并完成任务\n人只定目标与验收' },&#10;      ].map((item, idx) =&gt; (&#10;        &lt;Box key={idx} style={{ flexDirection: 'row', alignItems: 'center', flex: 1 }}&gt;&#10;          &lt;Box style={{ flex: 1, background: idx === 2 ? '#16263F' : '#FFFFFF', borderRadius: 14, padding: '30px 24px', boxShadow: '0 2px 12px rgba(22,38,63,0.06)', alignItems: 'center' }}&gt;&#10;            &lt;Text style={{ fontSize: 22, fontWeight: 'bold', color: idx === 2 ? '#FF9F1C' : '#16263F', marginBottom: 6 }}&gt;{item.t}&lt;/Text&gt;&#10;            &lt;Text style={{ fontSize: 15, color: idx === 2 ? '#22D3EE' : '#22D3EE', fontWeight: 'bold', marginBottom: 14 }}&gt;{item.d}&lt;/Text&gt;&#10;            &lt;Text style={{ fontSize: 14, color: idx === 2 ? '#DCE7F5' : '#5B6B7A', textAlign: 'center', lineHeight: 1.8, whiteSpace: 'pre-line' }}&gt;{item.desc}&lt;/Text&gt;&#10;          &lt;/Box&gt;&#10;          {idx &lt; 2 &amp;&amp; (&#10;            &lt;Box style={{ width: 40, justifyContent: 'center', alignItems: 'center' }}&gt;&#10;              &lt;FAIcon name='arrow-right' style={{ fill: '#FF9F1C', width: 24, height: 24 }} /&gt;&#10;            &lt;/Box&gt;&#10;          )}&#10;        &lt;/Box&gt;&#10;      ))}&#10;    &lt;/Box&gt;&#10;&#10;    &lt;Box style={{ marginTop: 24, background: '#DCE7F5', borderRadius: 10, padding: '14px 22px' }}&gt;&#10;      &lt;Text style={{ fontSize: 16, color: '#16263F', fontWeight: 'bold' }}&gt;&#10;        控制的让渡：Embedding 只给建议，Agent 交出了执行权——但目标与验收始终在人手里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COLLAB MODES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协同的三种模式：从建议到自主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71500" y="2771775"/>
            <a:ext cx="3305175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657350" y="3057525"/>
            <a:ext cx="114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6263F"/>
                </a:solidFill>
                <a:latin typeface="思源黑体"/>
                <a:ea typeface="思源黑体"/>
              </a:rPr>
              <a:t>Embedding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009775" y="33718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给建议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533525" y="3676650"/>
            <a:ext cx="1390650" cy="58102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只在文字里给出意见
人来做最终决定</a:t>
            </a:r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52875" y="3543300"/>
            <a:ext cx="228600" cy="2286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4257675" y="2771775"/>
            <a:ext cx="3295650" cy="1771650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543550" y="3057525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6263F"/>
                </a:solidFill>
                <a:latin typeface="思源黑体"/>
                <a:ea typeface="思源黑体"/>
              </a:rPr>
              <a:t>Copilot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686425" y="33718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给初稿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362575" y="3676650"/>
            <a:ext cx="1095375" cy="58102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生成草案
人审核修改后定稿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9525" y="3543300"/>
            <a:ext cx="228600" cy="2286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7934325" y="2771775"/>
            <a:ext cx="3686175" cy="1771650"/>
          </a:xfrm>
          <a:prstGeom prst="roundRect">
            <a:avLst>
              <a:gd name="adj" fmla="val 7527"/>
            </a:avLst>
          </a:prstGeom>
          <a:solidFill>
            <a:srgbClr val="16263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477375" y="3057525"/>
            <a:ext cx="600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9F1C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486900" y="33718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自主执行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086850" y="3676650"/>
            <a:ext cx="1390650" cy="58102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自主规划并完成任务
人只定目标与验收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控制的让渡：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Embedding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只给建议，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Agent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交出了执行权——但目标与验收始终在人手里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6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40, paddingTop: 20 }}&gt;&#10;      &lt;Text style={{ fontSize: 14, color: '#FF9F1C', fontWeight: 'bold', letterSpacing: 2, marginBottom: 12 }}&gt;REASONING&lt;/Text&gt;&#10;      &lt;Text style={{ fontSize: 34, color: '#16263F', fontWeight: 'bold', lineHeight: 1.35, marginBottom: 24 }}&gt;&#10;        激发推理&lt;br /&gt;让模型「想清楚再做」&#10;      &lt;/Text&gt;&#10;      &lt;Box style={{ width: 56, height: 4, background: '#22D3EE', marginBottom: 24 }} /&gt;&#10;      &lt;Text style={{ fontSize: 16, color: '#5B6B7A', lineHeight: 1.7 }}&gt;&#10;        裸模型倾向「张口就来」，推理框架逼它&lt;span style={{ fontWeight: 'bold', color: '#16263F' }}&gt;先拆解、再试错、后复盘&lt;/span&gt;，答案质量随之跃升。&#10;      &lt;/Text&gt;&#10;    &lt;/Box&gt;&#10;&#10;    &lt;Box style={{ flex: 1, flexDirection: 'column', gap: 12, justifyContent: 'center' }}&gt;&#10;      {[&#10;        { t: 'CoT 思维链', d: '让模型「逐步思考」，把推理过程写出来再给答案' },&#10;        { t: '思维树 ToT', d: '并行探索多条思路，像下棋一样评估与回溯' },&#10;        { t: 'ReAct', d: '思考(Reason)与行动(Act)交替，边想边调用工具' },&#10;        { t: 'Reflexion', d: '做完后反思复盘，把教训写进记忆用于下一轮' },&#10;        { t: 'Hindsight', d: '事后回顾，把经验转化为可复用的策略' },&#10;      ].map((item, idx) =&gt; (&#10;        &lt;Box key={idx} style={{ flexDirection: 'row', gap: 16, background: '#FFFFFF', borderRadius: 12, padding: '15px 22px', boxShadow: '0 2px 12px rgba(22,38,63,0.06)' }}&gt;&#10;          &lt;Box style={{ width: 46, height: 46, borderRadius: 12, background: idx === 2 ? 'rgba(255,159,28,0.14)' : '#EAF2FB', justifyContent: 'center', alignItems: 'center' }}&gt;&#10;            &lt;FAIcon name='brain' style={{ fill: idx === 2 ? '#FF9F1C' : '#22D3EE', width: 22, height: 22 }} /&gt;&#10;          &lt;/Box&gt;&#10;          &lt;Box style={{ flex: 1 }}&gt;&#10;            &lt;Text style={{ fontSize: 17, fontWeight: 'bold', color: '#16263F', marginBottom: 2 }}&gt;{item.t}&lt;/Text&gt;&#10;            &lt;Text style={{ fontSize: 13, color: '#5B6B7A' }}&gt;{item.d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4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REASONING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2385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激发推理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让模型「想清楚再做」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2733675"/>
            <a:ext cx="3238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裸模型倾向「张口就来」，推理框架逼它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先拆解、再试错、后复盘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，答案质量随之跃升。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191000" y="1390650"/>
            <a:ext cx="742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400550" y="15335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14850" y="1647825"/>
            <a:ext cx="209550" cy="20955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991100" y="1533525"/>
            <a:ext cx="641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CoT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思维链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991100" y="17526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让模型「逐步思考」，把推理过程写出来再给答案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191000" y="2228850"/>
            <a:ext cx="742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400550" y="23717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14850" y="2486025"/>
            <a:ext cx="209550" cy="20955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91100" y="2371725"/>
            <a:ext cx="641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思维树</a:t>
            </a: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 ToT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991100" y="25908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并行探索多条思路，像下棋一样评估与回溯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191000" y="3067050"/>
            <a:ext cx="742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400550" y="32099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9F1C">
              <a:alpha val="14000"/>
            </a:srgbClr>
          </a:solidFill>
          <a:ln/>
        </p:spPr>
        <p:txBody>
          <a:bodyPr/>
          <a:p/>
        </p:txBody>
      </p:sp>
      <p:pic>
        <p:nvPicPr>
          <p:cNvPr id="1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14850" y="3324225"/>
            <a:ext cx="209550" cy="209550"/>
          </a:xfrm>
          <a:prstGeom prst="rect">
            <a:avLst/>
          </a:prstGeom>
          <a:ln/>
        </p:spPr>
      </p:pic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991100" y="3209925"/>
            <a:ext cx="641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ReAct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991100" y="34290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思考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(Reason)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与行动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(Act)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交替，边想边调用工具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191000" y="3905250"/>
            <a:ext cx="742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400550" y="40481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14850" y="4162425"/>
            <a:ext cx="209550" cy="2095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991100" y="4048125"/>
            <a:ext cx="641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Reflexion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991100" y="42672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做完后反思复盘，把教训写进记忆用于下一轮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191000" y="4743450"/>
            <a:ext cx="7429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4400550" y="4886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14850" y="5000625"/>
            <a:ext cx="209550" cy="209550"/>
          </a:xfrm>
          <a:prstGeom prst="rect">
            <a:avLst/>
          </a:prstGeom>
          <a:ln/>
        </p:spPr>
      </p:pic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91100" y="4886325"/>
            <a:ext cx="641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Hindsight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991100" y="5105400"/>
            <a:ext cx="641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事后回顾，把经验转化为可复用的策略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ABILITY 01 · MEMORY&lt;/Text&gt;&#10;    &lt;Text style={{ fontSize: 34, color: '#16263F', fontWeight: 'bold', marginBottom: 24 }}&gt;三大能力 ① 记忆：让 Agent 不健忘&lt;/Text&gt;&#10;    &lt;Box style={{ width: 56, height: 4, background: '#22D3EE', marginBottom: 26 }} /&gt;&#10;&#10;    &lt;Box style={{ flexDirection: 'row', gap: 22, flex: 1 }}&gt;&#10;      &lt;Box style={{ flex: 1, background: '#FFFFFF', borderRadius: 14, padding: '26px 24px', boxShadow: '0 2px 12px rgba(22,38,63,0.06)' }}&gt;&#10;        &lt;Box style={{ width: 52, height: 52, borderRadius: 13, background: '#EAF2FB', justifyContent: 'center', alignItems: 'center', marginBottom: 14 }}&gt;&#10;          &lt;FAIcon name='eye' style={{ fill: '#22D3EE', width: 26, height: 26 }} /&gt;&#10;        &lt;/Box&gt;&#10;        &lt;Text style={{ fontSize: 20, fontWeight: 'bold', color: '#16263F', marginBottom: 8 }}&gt;感觉记忆&lt;/Text&gt;&#10;        &lt;Text style={{ fontSize: 14, color: '#5B6B7A', lineHeight: 1.8 }}&gt;&#10;          当前对话的原始输入输出，转瞬即逝，是记忆的起点。&#10;        &lt;/Text&gt;&#10;      &lt;/Box&gt;&#10;      &lt;Box style={{ flex: 1, background: '#FFFFFF', borderRadius: 14, padding: '26px 24px', boxShadow: '0 2px 12px rgba(22,38,63,0.06)' }}&gt;&#10;        &lt;Box style={{ width: 52, height: 52, borderRadius: 13, background: '#EAF2FB', justifyContent: 'center', alignItems: 'center', marginBottom: 14 }}&gt;&#10;          &lt;FAIcon name='clock' style={{ fill: '#22D3EE', width: 26, height: 26 }} /&gt;&#10;        &lt;/Box&gt;&#10;        &lt;Text style={{ fontSize: 20, fontWeight: 'bold', color: '#16263F', marginBottom: 8 }}&gt;短期记忆&lt;/Text&gt;&#10;        &lt;Text style={{ fontSize: 14, color: '#5B6B7A', lineHeight: 1.8 }}&gt;&#10;          当前会话的工作上下文，对话窗口内保持，跨轮不丢。&#10;        &lt;/Text&gt;&#10;      &lt;/Box&gt;&#10;      &lt;Box style={{ flex: 1, background: '#16263F', borderRadius: 14, padding: '26px 24px' }}&gt;&#10;        &lt;Box style={{ width: 52, height: 52, borderRadius: 13, background: 'rgba(255,159,28,0.15)', justifyContent: 'center', alignItems: 'center', marginBottom: 14 }}&gt;&#10;          &lt;FAIcon name='database' style={{ fill: '#FF9F1C', width: 26, height: 26 }} /&gt;&#10;        &lt;/Box&gt;&#10;        &lt;Text style={{ fontSize: 20, fontWeight: 'bold', color: '#FFFFFF', marginBottom: 8 }}&gt;长期记忆&lt;/Text&gt;&#10;        &lt;Text style={{ fontSize: 14, color: '#DCE7F5', lineHeight: 1.8 }}&gt;&#10;          沉淀到向量库的持久知识，跨会话复用。&#10;        &lt;/Text&gt;&#10;      &lt;/Box&gt;&#10;    &lt;/Box&gt;&#10;&#10;    &lt;Box style={{ marginTop: 22, background: '#DCE7F5', borderRadius: 10, padding: '14px 22px' }}&gt;&#10;      &lt;Text style={{ fontSize: 16, color: '#16263F', fontWeight: 'bold' }}&gt;&#10;        记忆的载体 = Embedding + 向量相似度：把对话向量化，按语义随时召回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5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ABILITY 01 · MEMORY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三大能力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①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记忆：让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不健忘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5715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00100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704975"/>
            <a:ext cx="247650" cy="247650"/>
          </a:xfrm>
          <a:prstGeom prst="rect">
            <a:avLst/>
          </a:prstGeom>
          <a:ln/>
        </p:spPr>
      </p:pic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感觉记忆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当前对话的原始输入输出，转瞬即逝，是记忆的起点。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32435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4552950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76775" y="1704975"/>
            <a:ext cx="247650" cy="24765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552950" y="2209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短期记忆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552950" y="251460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当前会话的工作上下文，对话窗口内保持，跨轮不丢。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0772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8305800" y="158115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29625" y="1704975"/>
            <a:ext cx="247650" cy="247650"/>
          </a:xfrm>
          <a:prstGeom prst="rect">
            <a:avLst/>
          </a:prstGeom>
          <a:ln/>
        </p:spPr>
      </p:pic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05800" y="2209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长期记忆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05800" y="2514600"/>
            <a:ext cx="30861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沉淀到向量库的持久知识，跨会话复用。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记忆的载体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= Embedding +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向量相似度：把对话向量化，按语义随时召回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3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3, flexDirection: 'column' }}&gt;&#10;      &lt;Text style={{ fontSize: 14, color: '#FF9F1C', fontWeight: 'bold', letterSpacing: 2, marginBottom: 8 }}&gt;ABILITY 02 · TOOLS&lt;/Text&gt;&#10;      &lt;Text style={{ fontSize: 34, color: '#16263F', fontWeight: 'bold', marginBottom: 16 }}&gt;三大能力 ② 工具：给 Agent 装上手&lt;/Text&gt;&#10;      &lt;Box style={{ width: 56, height: 4, background: '#22D3EE', marginBottom: 20 }} /&gt;&#10;&#10;      &lt;Box style={{ flexDirection: 'column', gap: 14, flex: 1, justifyContent: 'center' }}&gt;&#10;        {[&#10;          { t: 'Function Call', d: '模型输出结构化 JSON 参数，由你调用真实函数' },&#10;          { t: 'Plugin', d: '打包好的能力组件，即插即用，如搜索、计算' },&#10;          { t: '模型内嵌', d: '厂商把工具直接内置进模型，无需额外接入' },&#10;        ].map((item, idx) =&gt; (&#10;          &lt;Box key={idx} style={{ flexDirection: 'row', gap: 16, background: '#FFFFFF', borderRadius: 12, padding: '18px 22px', boxShadow: '0 2px 12px rgba(22,38,63,0.06)' }}&gt;&#10;            &lt;Box style={{ width: 48, height: 48, borderRadius: 12, background: '#EAF2FB', justifyContent: 'center', alignItems: 'center' }}&gt;&#10;              &lt;FAIcon name='wrench' style={{ fill: '#22D3EE', width: 24, height: 24 }} /&gt;&#10;            &lt;/Box&gt;&#10;            &lt;Box style={{ flex: 1 }}&gt;&#10;              &lt;Text style={{ fontSize: 18, fontWeight: 'bold', color: '#16263F', marginBottom: 4 }}&gt;{item.t}&lt;/Text&gt;&#10;              &lt;Text style={{ fontSize: 13, color: '#5B6B7A' }}&gt;{item.d}&lt;/Text&gt;&#10;            &lt;/Box&gt;&#10;          &lt;/Box&gt;&#10;        ))}&#10;      &lt;/Box&gt;&#10;    &lt;/Box&gt;&#10;&#10;    &lt;Box style={{ flex: 2, background: '#16263F', borderRadius: 14, padding: '28px 26px', justifyContent: 'center' }}&gt;&#10;      &lt;Text style={{ fontSize: 20, fontWeight: 'bold', color: '#FFFFFF', marginBottom: 6 }}&gt;主流模型原生支持&lt;/Text&gt;&#10;      &lt;Text style={{ fontSize: 13, color: '#8FA4B8', marginBottom: 18 }}&gt;Function Call 已成标配&lt;/Text&gt;&#10;      {[&#10;        'GPT-5',&#10;        'Claude Opus 5',&#10;        'DeepSeek V4-Flash',&#10;        'Qwen',&#10;      ].map((item, idx) =&gt; (&#10;        &lt;Box key={idx} style={{ flexDirection: 'row', alignItems: 'center', gap: 12, borderBottom: '1px solid rgba(220,231,245,0.12)', padding: '12px 4px' }}&gt;&#10;          &lt;FAIcon name='check-circle' style={{ fill: '#22D3EE', width: 20, height: 20 }} /&gt;&#10;          &lt;Text style={{ fontSize: 16, color: '#DCE7F5', fontWeight: 'bold' }}&gt;{item}&lt;/Text&gt;&#10;        &lt;/Box&gt;&#10;      ))}&#10;      &lt;Box style={{ marginTop: 16, background: 'rgba(255,159,28,0.12)', borderRadius: 8, padding: '12px 16px' }}&gt;&#10;        &lt;Text style={{ fontSize: 14, color: '#FF9F1C', fontWeight: 'bold' }}&gt;&#10;          选型：接口统一（OpenAI 兼容），工具随处可用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6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419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ABILITY 02 · TOOLS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6419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三大能力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②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工具：给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装上手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71500" y="9715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571500" y="2600325"/>
            <a:ext cx="64198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781050" y="27717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2886075"/>
            <a:ext cx="228600" cy="228600"/>
          </a:xfrm>
          <a:prstGeom prst="rect">
            <a:avLst/>
          </a:prstGeom>
          <a:ln/>
        </p:spPr>
      </p:pic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390650" y="277177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Function Call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390650" y="3019425"/>
            <a:ext cx="539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模型输出结构化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JSON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参数，由你调用真实函数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1500" y="3533775"/>
            <a:ext cx="64198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781050" y="37052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3819525"/>
            <a:ext cx="228600" cy="2286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390650" y="370522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Plugin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390650" y="3952875"/>
            <a:ext cx="539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打包好的能力组件，即插即用，如搜索、计算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571500" y="4467225"/>
            <a:ext cx="64198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781050" y="46386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4752975"/>
            <a:ext cx="228600" cy="22860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390650" y="4638675"/>
            <a:ext cx="539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模型内嵌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390650" y="4886325"/>
            <a:ext cx="539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厂商把工具直接内置进模型，无需额外接入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334250" y="190500"/>
            <a:ext cx="4286250" cy="6477000"/>
          </a:xfrm>
          <a:prstGeom prst="roundRect">
            <a:avLst>
              <a:gd name="adj" fmla="val 311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581900" y="2000250"/>
            <a:ext cx="3790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主流模型原生支持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581900" y="2286000"/>
            <a:ext cx="3790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Function Call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已成标配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581900" y="2609850"/>
            <a:ext cx="3790950" cy="438150"/>
          </a:xfrm>
          <a:custGeom>
            <a:pathLst>
              <a:path w="398" h="46">
                <a:moveTo>
                  <a:pt x="0" y="45"/>
                </a:moveTo>
                <a:lnTo>
                  <a:pt x="398" y="45"/>
                </a:lnTo>
                <a:lnTo>
                  <a:pt x="39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7F5">
              <a:alpha val="12000"/>
            </a:srgbClr>
          </a:solidFill>
          <a:ln/>
        </p:spPr>
        <p:txBody>
          <a:bodyPr/>
          <a:p/>
        </p:txBody>
      </p:sp>
      <p:pic>
        <p:nvPicPr>
          <p:cNvPr id="2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0" y="2724150"/>
            <a:ext cx="190500" cy="19050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924800" y="2724150"/>
            <a:ext cx="44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GPT-5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581900" y="3038475"/>
            <a:ext cx="3790950" cy="438150"/>
          </a:xfrm>
          <a:custGeom>
            <a:pathLst>
              <a:path w="398" h="46">
                <a:moveTo>
                  <a:pt x="0" y="45"/>
                </a:moveTo>
                <a:lnTo>
                  <a:pt x="398" y="45"/>
                </a:lnTo>
                <a:lnTo>
                  <a:pt x="39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7F5">
              <a:alpha val="12000"/>
            </a:srgbClr>
          </a:solidFill>
          <a:ln/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0" y="3152775"/>
            <a:ext cx="190500" cy="190500"/>
          </a:xfrm>
          <a:prstGeom prst="rect">
            <a:avLst/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924800" y="3152775"/>
            <a:ext cx="107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Claude Opus 5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581900" y="3467100"/>
            <a:ext cx="3790950" cy="438150"/>
          </a:xfrm>
          <a:custGeom>
            <a:pathLst>
              <a:path w="398" h="46">
                <a:moveTo>
                  <a:pt x="0" y="45"/>
                </a:moveTo>
                <a:lnTo>
                  <a:pt x="398" y="45"/>
                </a:lnTo>
                <a:lnTo>
                  <a:pt x="39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7F5">
              <a:alpha val="12000"/>
            </a:srgbClr>
          </a:solidFill>
          <a:ln/>
        </p:spPr>
        <p:txBody>
          <a:bodyPr/>
          <a:p/>
        </p:txBody>
      </p:sp>
      <p:pic>
        <p:nvPicPr>
          <p:cNvPr id="2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0" y="3581400"/>
            <a:ext cx="190500" cy="190500"/>
          </a:xfrm>
          <a:prstGeom prst="rect">
            <a:avLst/>
          </a:prstGeom>
          <a:ln/>
        </p:spPr>
      </p:pic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924800" y="3581400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DeepSeek V4-Flash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581900" y="3895725"/>
            <a:ext cx="3790950" cy="438150"/>
          </a:xfrm>
          <a:custGeom>
            <a:pathLst>
              <a:path w="398" h="46">
                <a:moveTo>
                  <a:pt x="0" y="45"/>
                </a:moveTo>
                <a:lnTo>
                  <a:pt x="398" y="45"/>
                </a:lnTo>
                <a:lnTo>
                  <a:pt x="39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7F5">
              <a:alpha val="12000"/>
            </a:srgbClr>
          </a:solidFill>
          <a:ln/>
        </p:spPr>
        <p:txBody>
          <a:bodyPr/>
          <a:p/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0" y="4010025"/>
            <a:ext cx="190500" cy="190500"/>
          </a:xfrm>
          <a:prstGeom prst="rect">
            <a:avLst/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924800" y="4010025"/>
            <a:ext cx="41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DCE7F5"/>
                </a:solidFill>
                <a:latin typeface="思源黑体"/>
                <a:ea typeface="思源黑体"/>
              </a:rPr>
              <a:t>Qwen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581900" y="4476750"/>
            <a:ext cx="3790950" cy="390525"/>
          </a:xfrm>
          <a:prstGeom prst="roundRect">
            <a:avLst>
              <a:gd name="adj" fmla="val 19512"/>
            </a:avLst>
          </a:prstGeom>
          <a:solidFill>
            <a:srgbClr val="FF9F1C">
              <a:alpha val="12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734300" y="459105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选型：接口统一（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OpenAI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兼容），工具随处可用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7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FUNCTION CALLING&lt;/Text&gt;&#10;    &lt;Text style={{ fontSize: 34, color: '#16263F', fontWeight: 'bold', marginBottom: 24 }}&gt;Function Calling 原理：两次调用的闭环&lt;/Text&gt;&#10;    &lt;Box style={{ width: 56, height: 4, background: '#22D3EE', marginBottom: 26 }} /&gt;&#10;&#10;    &lt;Box style={{ flexDirection: 'row', alignItems: 'stretch', gap: 0, flex: 1 }}&gt;&#10;      {[&#10;        { t: '描述函数', d: '告诉模型有哪些工具\n每个工具的参数说明', c: '#22D3EE' },&#10;        { t: '返回 JSON 参数', d: '模型判断该调用谁\n输出结构化参数', c: '#2A9DB0' },&#10;        { t: '真实调用', d: '你的代码执行函数\n拿到真实结果', c: '#2E5E8A' },&#10;        { t: '回传生成答案', d: '结果喂回模型\n生成最终回复', c: '#FF9F1C' },&#10;      ].map((item, idx) =&gt; (&#10;        &lt;Box key={idx} style={{ flexDirection: 'row', alignItems: 'center', flex: 1 }}&gt;&#10;          &lt;Box style={{ flex: 1, background: item.c, borderRadius: 12, padding: '26px 18px', alignItems: 'center', justifyContent: 'center' }}&gt;&#10;            &lt;Text style={{ fontSize: 20, fontWeight: 'bold', color: '#FFFFFF', textAlign: 'center', marginBottom: 10 }}&gt;{item.t}&lt;/Text&gt;&#10;            &lt;Text style={{ fontSize: 13, color: '#FFFFFF', opacity: 0.92, textAlign: 'center', lineHeight: 1.6, whiteSpace: 'pre-line' }}&gt;{item.d}&lt;/Text&gt;&#10;          &lt;/Box&gt;&#10;          {idx &lt; 3 &amp;&amp; (&#10;            &lt;Box style={{ width: 30, justifyContent: 'center', alignItems: 'center' }}&gt;&#10;              &lt;FAIcon name='arrow-right' style={{ fill: '#FF9F1C', width: 20, height: 20 }} /&gt;&#10;            &lt;/Box&gt;&#10;          )}&#10;        &lt;/Box&gt;&#10;      ))}&#10;    &lt;/Box&gt;&#10;&#10;    &lt;Box style={{ marginTop: 26, background: '#16263F', borderRadius: 14, padding: '20px 28px' }}&gt;&#10;      &lt;Box style={{ flexDirection: 'row', alignItems: 'center', gap: 16, marginBottom: 10 }}&gt;&#10;        &lt;FAIcon name='exchange-alt' style={{ fill: '#FF9F1C', width: 28, height: 28 }} /&gt;&#10;        &lt;Text style={{ fontSize: 20, fontWeight: 'bold', color: '#FFFFFF' }}&gt;核心是「两次调用」&lt;/Text&gt;&#10;      &lt;/Box&gt;&#10;      &lt;Text style={{ fontSize: 15, color: '#DCE7F5', lineHeight: 1.8 }}&gt;&#10;        第一次：模型只「说要做什么」并给出 JSON 参数；第二次：把真实执行结果回传，模型再「组织语言回答」——&lt;span style={{ color: '#22D3EE', fontWeight: 'bold' }}&gt;模型负责决策，代码负责干活&lt;/span&gt;。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7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FUNCTION CALLING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Function Calling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原理：两次调用的闭环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71500" y="2705100"/>
            <a:ext cx="2476500" cy="1295400"/>
          </a:xfrm>
          <a:prstGeom prst="roundRect">
            <a:avLst>
              <a:gd name="adj" fmla="val 8824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419225" y="2952750"/>
            <a:ext cx="7810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描述函数</a:t>
            </a:r>
            <a:endParaRPr/>
          </a:p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95625" y="3257550"/>
            <a:ext cx="190500" cy="190500"/>
          </a:xfrm>
          <a:prstGeom prst="rect">
            <a:avLst/>
          </a:prstGeom>
          <a:ln/>
        </p:spPr>
      </p:pic>
      <p:sp>
        <p:nvSpPr>
          <p:cNvPr id="280" name=""/>
          <p:cNvSpPr/>
          <p:nvPr/>
        </p:nvSpPr>
        <p:spPr>
          <a:xfrm rot="0" flipH="0" flipV="0">
            <a:off x="3333750" y="2705100"/>
            <a:ext cx="2476500" cy="1295400"/>
          </a:xfrm>
          <a:prstGeom prst="roundRect">
            <a:avLst>
              <a:gd name="adj" fmla="val 8824"/>
            </a:avLst>
          </a:prstGeom>
          <a:solidFill>
            <a:srgbClr val="2A9DB0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67150" y="2952750"/>
            <a:ext cx="14097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返回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JSON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参数</a:t>
            </a:r>
            <a:endParaRPr/>
          </a:p>
        </p:txBody>
      </p:sp>
      <p:pic>
        <p:nvPicPr>
          <p:cNvPr id="2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57875" y="3257550"/>
            <a:ext cx="190500" cy="190500"/>
          </a:xfrm>
          <a:prstGeom prst="rect">
            <a:avLst/>
          </a:prstGeom>
          <a:ln/>
        </p:spPr>
      </p:pic>
      <p:sp>
        <p:nvSpPr>
          <p:cNvPr id="283" name=""/>
          <p:cNvSpPr/>
          <p:nvPr/>
        </p:nvSpPr>
        <p:spPr>
          <a:xfrm rot="0" flipH="0" flipV="0">
            <a:off x="6096000" y="2705100"/>
            <a:ext cx="2476500" cy="1295400"/>
          </a:xfrm>
          <a:prstGeom prst="roundRect">
            <a:avLst>
              <a:gd name="adj" fmla="val 8824"/>
            </a:avLst>
          </a:prstGeom>
          <a:solidFill>
            <a:srgbClr val="2E5E8A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943725" y="2952750"/>
            <a:ext cx="7810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真实调用</a:t>
            </a:r>
            <a:endParaRPr/>
          </a:p>
        </p:txBody>
      </p:sp>
      <p:pic>
        <p:nvPicPr>
          <p:cNvPr id="2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20125" y="3257550"/>
            <a:ext cx="190500" cy="190500"/>
          </a:xfrm>
          <a:prstGeom prst="rect">
            <a:avLst/>
          </a:prstGeom>
          <a:ln/>
        </p:spPr>
      </p:pic>
      <p:sp>
        <p:nvSpPr>
          <p:cNvPr id="286" name=""/>
          <p:cNvSpPr/>
          <p:nvPr/>
        </p:nvSpPr>
        <p:spPr>
          <a:xfrm rot="0" flipH="0" flipV="0">
            <a:off x="8858250" y="2705100"/>
            <a:ext cx="2762250" cy="1295400"/>
          </a:xfrm>
          <a:prstGeom prst="roundRect">
            <a:avLst>
              <a:gd name="adj" fmla="val 8824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658350" y="2952750"/>
            <a:ext cx="117157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回传生成答案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571500" y="5610225"/>
            <a:ext cx="11049000" cy="1057275"/>
          </a:xfrm>
          <a:prstGeom prst="roundRect">
            <a:avLst>
              <a:gd name="adj" fmla="val 12613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5800725"/>
            <a:ext cx="266700" cy="26670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257300" y="5819775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核心是「两次调用」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38200" y="6162675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第一次：模型只「说要做什么」并给出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JSON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参数；第二次：把真实执行结果回传，模型再「组织语言回答」——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模型负责决策，代码负责干活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238250" y="3276600"/>
            <a:ext cx="1143000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告诉模型有哪些工具
每个工具的参数说明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067175" y="3276600"/>
            <a:ext cx="101917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模型判断该调用谁
输出结构化参数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29425" y="3276600"/>
            <a:ext cx="101917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你的代码执行函数
拿到真实结果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858375" y="3276600"/>
            <a:ext cx="762000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结果喂回模型
生成最终回复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98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PRACTICE 01 · 龙虎榜查询 Agent&lt;/Text&gt;&#10;      &lt;Text style={{ fontSize: 34, color: '#FFFFFF', fontWeight: 'bold', lineHeight: 1.3, marginBottom: 18 }}&gt;&#10;        四步造一个&lt;br /&gt;能查数据的 Agent&#10;      &lt;/Text&gt;&#10;      &lt;Text style={{ fontSize: 16, color: '#DCE7F5', lineHeight: 1.8, marginBottom: 22 }}&gt;&#10;        &lt;span style={{ color: '#FF9F1C', fontWeight: 'bold' }}&gt;@tool 声明工具 → ChatOpenAI 兼容接口 → create_tool_calling_agent → AgentExecutor&lt;/span&gt;，模型学会自己调用查询函数。&#10;      &lt;/Text&gt;&#10;      &lt;Box style={{ background: 'rgba(255,159,28,0.12)', border: '1px solid rgba(255,159,28,0.3)', borderRadius: 10, padding: '14px 18px' }}&gt;&#10;        &lt;Text style={{ fontSize: 14, color: '#FF9F1C', fontWeight: 'bold' }}&gt;&#10;          工具用 @tool 装饰器声明，参数带类型注解即可&#10;        &lt;/Text&gt;&#10;      &lt;/Box&gt;&#10;    &lt;/Box&gt;&#10;&#10;    &lt;Box style={{ flex: 1, justifyContent: 'center' }}&gt;&#10;      &lt;CodeBlock&#10;        code={`from langchain_openai import ChatOpenAI&#10;from langchain_core.tools import tool&#10;from langchain.agents import AgentExecutor, create_tool_calling_agent&#10;&#10;@tool&#10;def query_dragon_tiger(date: str) -&gt; str:&#10;    &quot;&quot;&quot;查询指定日期的龙虎榜数据&quot;&quot;&quot;&#10;    return fetch_rank(date)&#10;&#10;llm = ChatOpenAI(model=&quot;deepseek-v4-flash&quot;)&#10;agent = create_tool_calling_agent(llm, [query_dragon_tiger], prompt)&#10;executor = AgentExecutor(agent=agent, tools=[query_dragon_tiger])`}&#10;        language='python'&#10;        width={560}&#10;        fontSize={13}&#10;      /&gt;&#10;    &lt;/Box&gt;&#10;  &lt;/Box&gt;&#10;  &lt;Box style={{ position: 'absolute', bottom: 14, left: 60, right: 60, flexDirection: 'row', justifyContent: 'space-between' }}&gt;&#10;    &lt;Text style={{ fontSize: 14, color: '#8FA4B8' }}&gt;AI 从零开始 · 第 6 讲&lt;/Text&gt;&#10;    &lt;Text style={{ fontSize: 14, color: '#8FA4B8' }}&gt;08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PRACTICE 01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龙虎榜查询</a:t>
            </a: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2333625"/>
            <a:ext cx="5314950" cy="1019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四步造一个</a:t>
            </a:r>
            <a:endParaRPr/>
          </a:p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能查数据的</a:t>
            </a: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71500" y="3524250"/>
            <a:ext cx="53149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@tool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声明工具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ChatOpenAI </a:t>
            </a:r>
            <a:r>
              <a:rPr lang="zh-CN" sz="1200" b="1">
                <a:solidFill>
                  <a:srgbClr val="FF9F1C"/>
                </a:solidFill>
                <a:latin typeface="思源黑体"/>
                <a:ea typeface="思源黑体"/>
              </a:rPr>
              <a:t>兼容接口</a:t>
            </a: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 → create_tool_calling_agent → AgentExecutor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，模型学会自己调用查询函数。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571500" y="4400550"/>
            <a:ext cx="5314950" cy="428625"/>
          </a:xfrm>
          <a:prstGeom prst="roundRect">
            <a:avLst>
              <a:gd name="adj" fmla="val 22222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42950" y="45339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工具用</a:t>
            </a:r>
            <a:r>
              <a:rPr lang="en-US" sz="1050" b="1">
                <a:solidFill>
                  <a:srgbClr val="FF9F1C"/>
                </a:solidFill>
                <a:latin typeface="思源黑体"/>
                <a:ea typeface="思源黑体"/>
              </a:rPr>
              <a:t> @tool </a:t>
            </a: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装饰器声明，参数带类型注解即可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305550" y="2047875"/>
            <a:ext cx="5314950" cy="2771775"/>
          </a:xfrm>
          <a:prstGeom prst="roundRect">
            <a:avLst>
              <a:gd name="adj" fmla="val 274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306" name=""/>
          <p:cNvSpPr txBox="1"/>
          <p:nvPr/>
        </p:nvSpPr>
        <p:spPr>
          <a:xfrm rot="0" flipH="0" flipV="0">
            <a:off x="6457950" y="2181225"/>
            <a:ext cx="5153025" cy="2505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langchain_openai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ChatOpenAI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langchain_core.tools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tool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from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langchain.agents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import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AgentExecutor, create_tool_calling_agent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@tool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query_dragon_tiger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(date: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str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-&gt;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str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"""查询指定日期的龙虎榜数据"""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fetch_rank(date)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llm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ChatOpenAI(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model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"deepseek-v4-flash"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agent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create_tool_calling_agent(llm, [query_dragon_tiger], prompt)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executor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AgentExecutor(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agent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agent,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[query_dragon_tiger])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0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AGENT TYPES&lt;/Text&gt;&#10;    &lt;Text style={{ fontSize: 34, color: '#16263F', fontWeight: 'bold', marginBottom: 24 }}&gt;Agent 类型对比：按需选择实现方式&lt;/Text&gt;&#10;    &lt;Box style={{ width: 56, height: 4, background: '#22D3EE', marginBottom: 26 }} /&gt;&#10;&#10;    &lt;Box style={{ flexDirection: 'row', gap: 22, flex: 1 }}&gt;&#10;      &lt;Box style={{ flex: 1, background: '#FFFFFF', borderRadius: 14, padding: '24px 22px', boxShadow: '0 2px 12px rgba(22,38,63,0.06)' }}&gt;&#10;        &lt;Text style={{ fontSize: 20, fontWeight: 'bold', color: '#16263F', marginBottom: 8 }}&gt;Tool Calling&lt;/Text&gt;&#10;        &lt;Text style={{ fontSize: 13, color: '#22D3EE', fontWeight: 'bold', marginBottom: 12 }}&gt;现代首选&lt;/Text&gt;&#10;        &lt;Text style={{ fontSize: 14, color: '#5B6B7A', lineHeight: 1.8 }}&gt;&#10;          模型原生返回结构化工具调用，简洁高效，主流模型的默认实现。&#10;        &lt;/Text&gt;&#10;      &lt;/Box&gt;&#10;      &lt;Box style={{ flex: 1, background: '#FFFFFF', borderRadius: 14, padding: '24px 22px', boxShadow: '0 2px 12px rgba(22,38,63,0.06)' }}&gt;&#10;        &lt;Text style={{ fontSize: 20, fontWeight: 'bold', color: '#16263F', marginBottom: 8 }}&gt;ReAct&lt;/Text&gt;&#10;        &lt;Text style={{ fontSize: 13, color: '#22D3EE', fontWeight: 'bold', marginBottom: 12 }}&gt;思考-行动交替&lt;/Text&gt;&#10;        &lt;Text style={{ fontSize: 14, color: '#5B6B7A', lineHeight: 1.8 }}&gt;&#10;          用提示词约束模型输出「思考→行动→观察」循环，兼容性广。&#10;        &lt;/Text&gt;&#10;      &lt;/Box&gt;&#10;      &lt;Box style={{ flex: 1, background: '#16263F', borderRadius: 14, padding: '24px 22px' }}&gt;&#10;        &lt;Text style={{ fontSize: 20, fontWeight: 'bold', color: '#FFFFFF', marginBottom: 8 }}&gt;Structured Chat&lt;/Text&gt;&#10;        &lt;Text style={{ fontSize: 13, color: '#FF9F1C', fontWeight: 'bold', marginBottom: 12 }}&gt;结构化输出&lt;/Text&gt;&#10;        &lt;Text style={{ fontSize: 14, color: '#DCE7F5', lineHeight: 1.8 }}&gt;&#10;          支持多参数工具的稳定格式，输出更规整，调试更直观。&#10;        &lt;/Text&gt;&#10;      &lt;/Box&gt;&#10;    &lt;/Box&gt;&#10;&#10;    &lt;Box style={{ marginTop: 22, background: '#DCE7F5', borderRadius: 10, padding: '14px 22px' }}&gt;&#10;      &lt;Text style={{ fontSize: 16, color: '#16263F', fontWeight: 'bold' }}&gt;&#10;        &lt;span style={{ color: '#FF9F1C' }}&gt;agent_scratchpad&lt;/span&gt; 的作用：存放「思考与中间步骤」的草稿区，让模型看清自己走到哪一步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09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AGENT TYPES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类型对比：按需选择实现方式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5715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81050" y="156210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Tool Calling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81050" y="18669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现代首选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81050" y="2133600"/>
            <a:ext cx="31242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模型原生返回结构化工具调用，简洁高效，主流模型的默认实现。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32435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533900" y="156210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ReAct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533900" y="18669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思考</a:t>
            </a: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-</a:t>
            </a:r>
            <a:r>
              <a:rPr lang="zh-CN" sz="975" b="1">
                <a:solidFill>
                  <a:srgbClr val="22D3EE"/>
                </a:solidFill>
                <a:latin typeface="思源黑体"/>
                <a:ea typeface="思源黑体"/>
              </a:rPr>
              <a:t>行动交替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533900" y="2133600"/>
            <a:ext cx="31242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用提示词约束模型输出「思考→行动→观察」循环，兼容性广。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80772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286750" y="156210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Structured Chat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286750" y="18669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9F1C"/>
                </a:solidFill>
                <a:latin typeface="思源黑体"/>
                <a:ea typeface="思源黑体"/>
              </a:rPr>
              <a:t>结构化输出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286750" y="2133600"/>
            <a:ext cx="31242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支持多参数工具的稳定格式，输出更规整，调试更直观。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9F1C"/>
                </a:solidFill>
                <a:latin typeface="思源黑体"/>
                <a:ea typeface="思源黑体"/>
              </a:rPr>
              <a:t>agent_scratchpad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的作用：存放「思考与中间步骤」的草稿区，让模型看清自己走到哪一步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WHY LANGGRAPH&lt;/Text&gt;&#10;    &lt;Text style={{ fontSize: 34, color: '#16263F', fontWeight: 'bold', marginBottom: 24 }}&gt;为什么要 LangGraph：线性 Chain 不够用了&lt;/Text&gt;&#10;    &lt;Box style={{ width: 56, height: 4, background: '#22D3EE', marginBottom: 26 }} /&gt;&#10;&#10;    &lt;Box style={{ flexDirection: 'row', gap: 24, flex: 1 }}&gt;&#10;      &lt;Box style={{ flex: 1, background: '#FFFFFF', borderRadius: 14, padding: '26px 24px', boxShadow: '0 2px 12px rgba(22,38,63,0.06)' }}&gt;&#10;        &lt;Box style={{ flexDirection: 'row', alignItems: 'center', gap: 12, marginBottom: 14 }}&gt;&#10;          &lt;FAIcon name='link' style={{ fill: '#22D3EE', width: 26, height: 26 }} /&gt;&#10;          &lt;Text style={{ fontSize: 20, fontWeight: 'bold', color: '#16263F' }}&gt;线性 Chain 的局限&lt;/Text&gt;&#10;        &lt;/Box&gt;&#10;        &lt;Text style={{ fontSize: 14, color: '#5B6B7A', lineHeight: 1.9 }}&gt;&#10;          · 只能单向走，无法循环重试&lt;br /&gt;&#10;          · 状态不保存，中断即丢失&lt;br /&gt;&#10;          · 多模型协作要手动拼接&lt;br /&gt;&#10;          · 断点后不能续跑&#10;        &lt;/Text&gt;&#10;      &lt;/Box&gt;&#10;      &lt;Box style={{ flex: 1, background: '#16263F', borderRadius: 14, padding: '26px 24px' }}&gt;&#10;        &lt;Box style={{ flexDirection: 'row', alignItems: 'center', gap: 12, marginBottom: 14 }}&gt;&#10;          &lt;FAIcon name='project-diagram' style={{ fill: '#FF9F1C', width: 26, height: 26 }} /&gt;&#10;          &lt;Text style={{ fontSize: 20, fontWeight: 'bold', color: '#FFFFFF' }}&gt;LangGraph 图工作流&lt;/Text&gt;&#10;        &lt;/Box&gt;&#10;        &lt;Text style={{ fontSize: 14, color: '#DCE7F5', lineHeight: 1.9 }}&gt;&#10;          · 节点可循环，支持重试与反思&lt;br /&gt;&#10;          · 共享 State，随时读写&lt;br /&gt;&#10;          · 多模型多节点自由编排&lt;br /&gt;&#10;          · checkpointer 断点续跑&#10;        &lt;/Text&gt;&#10;      &lt;/Box&gt;&#10;    &lt;/Box&gt;&#10;&#10;    &lt;Box style={{ marginTop: 22, background: '#DCE7F5', borderRadius: 10, padding: '14px 22px' }}&gt;&#10;      &lt;Text style={{ fontSize: 16, color: '#16263F', fontWeight: 'bold' }}&gt;&#10;        Agent 天然需要「循环 + 状态」——图结构正是它的最佳载体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10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WHY LANGGRAPH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为什么要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LangGraph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：线性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Chain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不够用了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333500"/>
            <a:ext cx="5410200" cy="46672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581150"/>
            <a:ext cx="247650" cy="247650"/>
          </a:xfrm>
          <a:prstGeom prst="rect">
            <a:avLst/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1609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线性</a:t>
            </a: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 Chain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的局限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4953000" cy="1219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只能单向走，无法循环重试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状态不保存，中断即丢失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多模型协作要手动拼接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断点后不能续跑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210300" y="1333500"/>
            <a:ext cx="5410200" cy="4667250"/>
          </a:xfrm>
          <a:prstGeom prst="roundRect">
            <a:avLst>
              <a:gd name="adj" fmla="val 285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38900" y="1581150"/>
            <a:ext cx="247650" cy="2476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00850" y="1590675"/>
            <a:ext cx="1847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LangGraph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图工作流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438900" y="1962150"/>
            <a:ext cx="4953000" cy="1219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节点可循环，支持重试与反思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共享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State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，随时读写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多模型多节点自由编排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· checkpointer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断点续跑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Agent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天然需要「循环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+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状态」——图结构正是它的最佳载体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LANGGRAPH BASICS&lt;/Text&gt;&#10;    &lt;Text style={{ fontSize: 34, color: '#16263F', fontWeight: 'bold', marginBottom: 24 }}&gt;LangGraph 三要素：State / Node / Edge&lt;/Text&gt;&#10;    &lt;Box style={{ width: 56, height: 4, background: '#22D3EE', marginBottom: 26 }} /&gt;&#10;&#10;    &lt;Box style={{ flexDirection: 'row', gap: 22, flex: 1 }}&gt;&#10;      &lt;Box style={{ flex: 1, background: '#FFFFFF', borderRadius: 14, padding: '26px 24px', boxShadow: '0 2px 12px rgba(22,38,63,0.06)' }}&gt;&#10;        &lt;Text style={{ fontSize: 13, color: '#22D3EE', fontWeight: 'bold', fontFamily: '&quot;JetBrains Mono&quot;, monospace', marginBottom: 10 }}&gt;State&lt;/Text&gt;&#10;        &lt;Text style={{ fontSize: 20, fontWeight: 'bold', color: '#16263F', marginBottom: 10 }}&gt;共享状态&lt;/Text&gt;&#10;        &lt;Text style={{ fontSize: 14, color: '#5B6B7A', lineHeight: 1.8 }}&gt;&#10;          贯穿全图的数据容器，节点读它、写它，是所有节点协作的纽带。&#10;        &lt;/Text&gt;&#10;      &lt;/Box&gt;&#10;      &lt;Box style={{ flex: 1, background: '#FFFFFF', borderRadius: 14, padding: '26px 24px', boxShadow: '0 2px 12px rgba(22,38,63,0.06)' }}&gt;&#10;        &lt;Text style={{ fontSize: 13, color: '#22D3EE', fontWeight: 'bold', fontFamily: '&quot;JetBrains Mono&quot;, monospace', marginBottom: 10 }}&gt;Node&lt;/Text&gt;&#10;        &lt;Text style={{ fontSize: 20, fontWeight: 'bold', color: '#16263F', marginBottom: 10 }}&gt;处理节点&lt;/Text&gt;&#10;        &lt;Text style={{ fontSize: 14, color: '#5B6B7A', lineHeight: 1.8 }}&gt;&#10;          一个节点干一件事：调模型、查工具、做判断，输入输出都是 State。&#10;        &lt;/Text&gt;&#10;      &lt;/Box&gt;&#10;      &lt;Box style={{ flex: 1, background: '#16263F', borderRadius: 14, padding: '26px 24px' }}&gt;&#10;        &lt;Text style={{ fontSize: 13, color: '#FF9F1C', fontWeight: 'bold', fontFamily: '&quot;JetBrains Mono&quot;, monospace', marginBottom: 10 }}&gt;Edge&lt;/Text&gt;&#10;        &lt;Text style={{ fontSize: 20, fontWeight: 'bold', color: '#FFFFFF', marginBottom: 10 }}&gt;连接与路由&lt;/Text&gt;&#10;        &lt;Text style={{ fontSize: 14, color: '#DCE7F5', lineHeight: 1.8 }}&gt;&#10;          定义节点间流向，条件边根据 State 动态决定下一步，实现循环与分支。&#10;        &lt;/Text&gt;&#10;      &lt;/Box&gt;&#10;    &lt;/Box&gt;&#10;&#10;    &lt;Box style={{ marginTop: 22, background: '#DCE7F5', borderRadius: 10, padding: '14px 22px', flexDirection: 'row', alignItems: 'center', gap: 12 }}&gt;&#10;      &lt;FAIcon name='lightbulb' style={{ fill: '#FF9F1C', width: 20, height: 20 }} /&gt;&#10;      &lt;Text style={{ fontSize: 16, color: '#16263F', fontWeight: 'bold' }}&gt;&#10;        HelloWorld：一个「查日期」工具 Agent = 起始节点 → 工具节点 → 结束节点，边连起来就成图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11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LANGGRAPH BASICS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LangGraph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三要素：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State / Node / Edge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5715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JetBrains Mono"/>
                <a:ea typeface="JetBrains Mono"/>
              </a:rPr>
              <a:t>State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0010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共享状态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贯穿全图的数据容器，节点读它、写它，是所有节点协作的纽带。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32435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5295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JetBrains Mono"/>
                <a:ea typeface="JetBrains Mono"/>
              </a:rPr>
              <a:t>Node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5295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处理节点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一个节点干一件事：调模型、查工具、做判断，输入输出都是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State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0772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0580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JetBrains Mono"/>
                <a:ea typeface="JetBrains Mono"/>
              </a:rPr>
              <a:t>Edge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0580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连接与路由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05800" y="215265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定义节点间流向，条件边根据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State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动态决定下一步，实现循环与分支。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6343650"/>
            <a:ext cx="190500" cy="190500"/>
          </a:xfrm>
          <a:prstGeom prst="rect">
            <a:avLst/>
          </a:prstGeom>
          <a:ln/>
        </p:spPr>
      </p:pic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85850" y="6343650"/>
            <a:ext cx="659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HelloWorld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：一个「查日期」工具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Agent =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起始节点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工具节点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结束节点，边连起来就成图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RACTICE 02 · PLAN-EXECUTE&lt;/Text&gt;&#10;    &lt;Text style={{ fontSize: 34, color: '#16263F', fontWeight: 'bold', marginBottom: 24 }}&gt;计划-执行-反思：强弱模型分工&lt;/Text&gt;&#10;    &lt;Box style={{ width: 56, height: 4, background: '#22D3EE', marginBottom: 26 }} /&gt;&#10;&#10;    &lt;Box style={{ flexDirection: 'row', alignItems: 'stretch', gap: 0, flex: 1 }}&gt;&#10;      {[&#10;        { t: 'Plan', tag: '强模型', d: '拆解目标\n规划执行步骤', c: '#22D3EE' },&#10;        { t: 'Execute', tag: '弱模型', d: '按计划逐步执行\n产出中间结果', c: '#2E5E8A' },&#10;        { t: 'Replan', tag: '强模型', d: '复盘结果\n调整计划再执行', c: '#FF9F1C' },&#10;      ].map((item, idx) =&gt; (&#10;        &lt;Box key={idx} style={{ flexDirection: 'row', alignItems: 'center', flex: 1 }}&gt;&#10;          &lt;Box style={{ flex: 1, background: item.c, borderRadius: 14, padding: '28px 20px', alignItems: 'center', justifyContent: 'center' }}&gt;&#10;            &lt;Text style={{ fontSize: 24, fontWeight: 'bold', color: '#FFFFFF', marginBottom: 8 }}&gt;{item.t}&lt;/Text&gt;&#10;            &lt;Text style={{ fontSize: 13, color: '#FFFFFF', opacity: 0.9, fontWeight: 'bold', marginBottom: 12 }}&gt;{item.tag}&lt;/Text&gt;&#10;            &lt;Text style={{ fontSize: 13, color: '#FFFFFF', opacity: 0.92, textAlign: 'center', lineHeight: 1.6, whiteSpace: 'pre-line' }}&gt;{item.d}&lt;/Text&gt;&#10;          &lt;/Box&gt;&#10;          {idx &lt; 2 &amp;&amp; (&#10;            &lt;Box style={{ width: 34, justifyContent: 'center', alignItems: 'center' }}&gt;&#10;              &lt;FAIcon name='arrow-right' style={{ fill: '#FF9F1C', width: 22, height: 22 }} /&gt;&#10;            &lt;/Box&gt;&#10;          )}&#10;        &lt;/Box&gt;&#10;      ))}&#10;    &lt;/Box&gt;&#10;&#10;    &lt;Box style={{ marginTop: 26, background: '#16263F', borderRadius: 14, padding: '22px 28px' }}&gt;&#10;      &lt;Box style={{ flexDirection: 'row', alignItems: 'center', gap: 16, marginBottom: 10 }}&gt;&#10;        &lt;FAIcon name='undo' style={{ fill: '#FF9F1C', width: 28, height: 28 }} /&gt;&#10;        &lt;Text style={{ fontSize: 20, fontWeight: 'bold', color: '#FFFFFF' }}&gt;Reflexion 反思：让 Agent 越做越聪明&lt;/Text&gt;&#10;      &lt;/Box&gt;&#10;      &lt;Text style={{ fontSize: 15, color: '#DCE7F5', lineHeight: 1.8 }}&gt;&#10;        执行失败或结果不佳时，把「哪里错了」写进长期记忆，下一轮计划自动避坑——&lt;span style={{ color: '#22D3EE', fontWeight: 'bold' }}&gt;强模型负责想，弱模型负责干，成本与质量兼得&lt;/span&gt;。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1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PRACTICE 02 · PLAN-EXECUTE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计划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-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执行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-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反思：强弱模型分工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71500" y="2514600"/>
            <a:ext cx="3362325" cy="1628775"/>
          </a:xfrm>
          <a:prstGeom prst="roundRect">
            <a:avLst>
              <a:gd name="adj" fmla="val 8187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09775" y="2781300"/>
            <a:ext cx="4857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Plan</a:t>
            </a:r>
            <a:endParaRPr/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90975" y="3228975"/>
            <a:ext cx="209550" cy="20955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4257675" y="2514600"/>
            <a:ext cx="3352800" cy="1628775"/>
          </a:xfrm>
          <a:prstGeom prst="roundRect">
            <a:avLst>
              <a:gd name="adj" fmla="val 8187"/>
            </a:avLst>
          </a:prstGeom>
          <a:solidFill>
            <a:srgbClr val="2E5E8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495925" y="2781300"/>
            <a:ext cx="885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Execute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67625" y="3228975"/>
            <a:ext cx="209550" cy="209550"/>
          </a:xfrm>
          <a:prstGeom prst="rect">
            <a:avLst/>
          </a:prstGeom>
          <a:ln/>
        </p:spPr>
      </p:pic>
      <p:sp>
        <p:nvSpPr>
          <p:cNvPr id="62" name=""/>
          <p:cNvSpPr/>
          <p:nvPr/>
        </p:nvSpPr>
        <p:spPr>
          <a:xfrm rot="0" flipH="0" flipV="0">
            <a:off x="7934325" y="2514600"/>
            <a:ext cx="3686175" cy="1628775"/>
          </a:xfrm>
          <a:prstGeom prst="roundRect">
            <a:avLst>
              <a:gd name="adj" fmla="val 8187"/>
            </a:avLst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391650" y="27813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Replan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5572125"/>
            <a:ext cx="11049000" cy="1095375"/>
          </a:xfrm>
          <a:prstGeom prst="roundRect">
            <a:avLst>
              <a:gd name="adj" fmla="val 1217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5781675"/>
            <a:ext cx="266700" cy="2667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257300" y="5800725"/>
            <a:ext cx="3305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Reflexion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反思：让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Agent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越做越聪明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6143625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执行失败或结果不佳时，把「哪里错了」写进长期记忆，下一轮计划自动避坑——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强模型负责想，弱模型负责干，成本与质量兼得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2066925" y="31337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强模型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876425" y="3400425"/>
            <a:ext cx="762000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拆解目标
规划执行步骤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43575" y="31337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弱模型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495925" y="3400425"/>
            <a:ext cx="8858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按计划逐步执行
产出中间结果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591675" y="31337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强模型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334500" y="3400425"/>
            <a:ext cx="885825" cy="4762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复盘结果
调整计划再执行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76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ERSISTENCE&lt;/Text&gt;&#10;    &lt;Text style={{ fontSize: 34, color: '#16263F', fontWeight: 'bold', marginBottom: 24 }}&gt;人机交互与持久化：让工作流「能暂停能续」&lt;/Text&gt;&#10;    &lt;Box style={{ width: 56, height: 4, background: '#22D3EE', marginBottom: 26 }} /&gt;&#10;&#10;    &lt;Box style={{ flexDirection: 'row', gap: 22, flex: 1 }}&gt;&#10;      &lt;Box style={{ flex: 1, background: '#FFFFFF', borderRadius: 14, padding: '26px 24px', boxShadow: '0 2px 12px rgba(22,38,63,0.06)' }}&gt;&#10;        &lt;Text style={{ fontSize: 13, color: '#22D3EE', fontWeight: 'bold', fontFamily: '&quot;JetBrains Mono&quot;, monospace', marginBottom: 10 }}&gt;checkpointer&lt;/Text&gt;&#10;        &lt;Text style={{ fontSize: 20, fontWeight: 'bold', color: '#16263F', marginBottom: 10 }}&gt;断点恢复&lt;/Text&gt;&#10;        &lt;Text style={{ fontSize: 14, color: '#5B6B7A', lineHeight: 1.8 }}&gt;&#10;          每一步自动存档，中断后从断点继续，不必重头再来。&#10;        &lt;/Text&gt;&#10;      &lt;/Box&gt;&#10;      &lt;Box style={{ flex: 1, background: '#FFFFFF', borderRadius: 14, padding: '26px 24px', boxShadow: '0 2px 12px rgba(22,38,63,0.06)' }}&gt;&#10;        &lt;Text style={{ fontSize: 13, color: '#22D3EE', fontWeight: 'bold', fontFamily: '&quot;JetBrains Mono&quot;, monospace', marginBottom: 10 }}&gt;thread_id&lt;/Text&gt;&#10;        &lt;Text style={{ fontSize: 20, fontWeight: 'bold', color: '#16263F', marginBottom: 10 }}&gt;多轮会话隔离&lt;/Text&gt;&#10;        &lt;Text style={{ fontSize: 14, color: '#5B6B7A', lineHeight: 1.8 }}&gt;&#10;          不同线程各自持有状态，多用户并发互不干扰。&#10;        &lt;/Text&gt;&#10;      &lt;/Box&gt;&#10;      &lt;Box style={{ flex: 1, background: '#16263F', borderRadius: 14, padding: '26px 24px' }}&gt;&#10;        &lt;Text style={{ fontSize: 13, color: '#FF9F1C', fontWeight: 'bold', fontFamily: '&quot;JetBrains Mono&quot;, monospace', marginBottom: 10 }}&gt;recursion_limit&lt;/Text&gt;&#10;        &lt;Text style={{ fontSize: 20, fontWeight: 'bold', color: '#FFFFFF', marginBottom: 10 }}&gt;递归上限&lt;/Text&gt;&#10;        &lt;Text style={{ fontSize: 14, color: '#DCE7F5', lineHeight: 1.8 }}&gt;&#10;          限制循环次数，防止 Agent 陷入死循环烧 token。&#10;        &lt;/Text&gt;&#10;      &lt;/Box&gt;&#10;    &lt;/Box&gt;&#10;&#10;    &lt;Box style={{ marginTop: 22, background: '#DCE7F5', borderRadius: 10, padding: '14px 22px' }}&gt;&#10;      &lt;Text style={{ fontSize: 16, color: '#16263F', fontWeight: 'bold' }}&gt;&#10;        持久化是「生产级 Agent」与「demo」的分水岭——上线前先接上 checkpointer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6 讲&lt;/Text&gt;&#10;    &lt;Text style={{ fontSize: 14, color: '#5B6B7A' }}&gt;1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PERSISTENCE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人机交互与持久化：让工作流「能暂停能续」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5715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JetBrains Mono"/>
                <a:ea typeface="JetBrains Mono"/>
              </a:rPr>
              <a:t>checkpointer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0010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断点恢复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00100" y="2152650"/>
            <a:ext cx="30861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每一步自动存档，中断后从断点继续，不必重头再来。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32435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55295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JetBrains Mono"/>
                <a:ea typeface="JetBrains Mono"/>
              </a:rPr>
              <a:t>thread_id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55295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多轮会话隔离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30861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不同线程各自持有状态，多用户并发互不干扰。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077200" y="1333500"/>
            <a:ext cx="3543300" cy="4667250"/>
          </a:xfrm>
          <a:prstGeom prst="roundRect">
            <a:avLst>
              <a:gd name="adj" fmla="val 3763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05800" y="1581150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JetBrains Mono"/>
                <a:ea typeface="JetBrains Mono"/>
              </a:rPr>
              <a:t>recursion_limit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05800" y="1828800"/>
            <a:ext cx="3086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递归上限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05800" y="2152650"/>
            <a:ext cx="30861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限制循环次数，防止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Agent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陷入死循环烧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持久化是「生产级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Agent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」与「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demo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」的分水岭——上线前先接上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checkpointer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6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97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TAKEAWAY&lt;/Text&gt;&#10;    &lt;Text style={{ fontSize: 40, color: '#FFFFFF', fontWeight: 'bold', marginBottom: 12 }}&gt;Agent = 大脑 + 手 + 记忆&lt;/Text&gt;&#10;    &lt;Text style={{ fontSize: 16, color: '#DCE7F5', marginBottom: 30 }}&gt;&#10;      LLM 作大脑想策略，工具作手去执行，记忆让它越用越懂你&#10;    &lt;/Text&gt;&#10;&#10;    &lt;Box style={{ flexDirection: 'row', gap: 20, marginBottom: 26 }}&gt;&#10;      {[&#10;        { t: '大脑', d: 'LLM + 思维链推理' },&#10;        { t: '手', d: 'Function Call 工具' },&#10;        { t: '记忆', d: 'Embedding 向量检索' },&#10;        { t: '工作流', d: 'LangGraph 状态编排' },&#10;      ].map((item, idx) =&gt; (&#10;        &lt;Box key={idx} style={{ flex: 1, background: 'rgba(255,255,255,0.07)', border: '1px solid rgba(220,231,245,0.2)', borderRadius: 12, padding: '20px 20px' }}&gt;&#10;          &lt;Text style={{ fontSize: 20, fontWeight: 'bold', color: '#22D3EE', marginBottom: 6 }}&gt;{item.t}&lt;/Text&gt;&#10;          &lt;Text style={{ fontSize: 13, color: '#DCE7F5' }}&gt;{item.d}&lt;/Text&gt;&#10;        &lt;/Box&gt;&#10;      ))}&#10;    &lt;/Box&gt;&#10;&#10;    &lt;Box style={{ background: 'rgba(255,159,28,0.12)', border: '1px solid rgba(255,159,28,0.3)', borderRadius: 14, padding: '20px 24px', marginBottom: 14 }}&gt;&#10;      &lt;Text style={{ fontSize: 18, fontWeight: 'bold', color: '#FF9F1C', marginBottom: 8 }}&gt;动手练习 · 三步完成&lt;/Text&gt;&#10;      &lt;Text style={{ fontSize: 15, color: '#DCE7F5', lineHeight: 1.9 }}&gt;&#10;        ① 写一个 Function Calling Agent 查数据 → ② 用 LangGraph 把流程改成图 → ③ 接上 checkpointer 体验断点续跑&#10;      &lt;/Text&gt;&#10;    &lt;/Box&gt;&#10;&#10;    &lt;Box style={{ background: 'rgba(255,255,255,0.06)', borderRadius: 12, padding: '16px 22px' }}&gt;&#10;      &lt;Text style={{ fontSize: 15, color: '#DCE7F5', lineHeight: 1.9 }}&gt;&#10;        自测 3 题：Agent 三大能力？Function Calling 为什么是两次调用？LangGraph 的 State/Node/Edge 各管什么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13430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TAKEAWAY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1500" y="163830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Agent =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大脑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+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手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+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记忆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LLM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作大脑想策略，工具作手去执行，记忆让它越用越懂你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71500" y="2686050"/>
            <a:ext cx="2619375" cy="819150"/>
          </a:xfrm>
          <a:prstGeom prst="roundRect">
            <a:avLst>
              <a:gd name="adj" fmla="val 1395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2000" y="287655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大脑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62000" y="316230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LLM +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思维链推理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381375" y="2686050"/>
            <a:ext cx="2619375" cy="819150"/>
          </a:xfrm>
          <a:prstGeom prst="roundRect">
            <a:avLst>
              <a:gd name="adj" fmla="val 1395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571875" y="287655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手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571875" y="316230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Function Call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工具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191250" y="2686050"/>
            <a:ext cx="2619375" cy="819150"/>
          </a:xfrm>
          <a:prstGeom prst="roundRect">
            <a:avLst>
              <a:gd name="adj" fmla="val 1395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381750" y="287655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记忆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81750" y="316230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Embedding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向量检索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9001125" y="2686050"/>
            <a:ext cx="2619375" cy="819150"/>
          </a:xfrm>
          <a:prstGeom prst="roundRect">
            <a:avLst>
              <a:gd name="adj" fmla="val 1395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191625" y="287655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思源黑体"/>
                <a:ea typeface="思源黑体"/>
              </a:rPr>
              <a:t>工作流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191625" y="3162300"/>
            <a:ext cx="2238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LangGraph </a:t>
            </a: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状态编排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71500" y="3752850"/>
            <a:ext cx="11049000" cy="1000125"/>
          </a:xfrm>
          <a:prstGeom prst="roundRect">
            <a:avLst>
              <a:gd name="adj" fmla="val 1333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00100" y="394335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三步完成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0100" y="4229100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写一个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Function Calling Agent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查数据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②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用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LangGraph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把流程改成图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③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接上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checkpointer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体验断点续跑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4886325"/>
            <a:ext cx="11049000" cy="638175"/>
          </a:xfrm>
          <a:prstGeom prst="roundRect">
            <a:avLst>
              <a:gd name="adj" fmla="val 1791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81050" y="5038725"/>
            <a:ext cx="106299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Agent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三大能力？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Function Calling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为什么是两次调用？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LangGraph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State/Node/Edge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各管什么？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2026-08-13T21:39:42Z</dcterms:created>
  <dcterms:modified xsi:type="dcterms:W3CDTF">2026-08-13T21:39:42Z</dcterms:modified>
</cp:coreProperties>
</file>