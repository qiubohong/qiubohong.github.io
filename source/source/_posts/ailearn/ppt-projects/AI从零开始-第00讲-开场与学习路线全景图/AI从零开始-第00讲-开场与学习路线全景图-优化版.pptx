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4" Type="http://schemas.openxmlformats.org/officeDocument/2006/relationships/tableStyles" Target="tableStyles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5" Type="http://schemas.openxmlformats.org/officeDocument/2006/relationships/viewProps" Target="viewProps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13" Type="http://schemas.openxmlformats.org/officeDocument/2006/relationships/presProps" Target="presProps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8.svg" /><Relationship Id="rId1" Type="http://schemas.openxmlformats.org/officeDocument/2006/relationships/image" Target="media/image6.svg" /><Relationship Id="rId2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3.svg" /><Relationship Id="rId1" Type="http://schemas.openxmlformats.org/officeDocument/2006/relationships/image" Target="media/image11.svg" /><Relationship Id="rId2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6" Type="http://schemas.openxmlformats.org/officeDocument/2006/relationships/image" Target="media/image19.svg" /><Relationship Id="rId5" Type="http://schemas.openxmlformats.org/officeDocument/2006/relationships/image" Target="media/image18.svg" /><Relationship Id="rId3" Type="http://schemas.openxmlformats.org/officeDocument/2006/relationships/image" Target="media/image16.svg" /><Relationship Id="rId4" Type="http://schemas.openxmlformats.org/officeDocument/2006/relationships/image" Target="media/image17.svg" /><Relationship Id="rId2" Type="http://schemas.openxmlformats.org/officeDocument/2006/relationships/image" Target="media/image15.svg" /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22.svg" /><Relationship Id="rId2" Type="http://schemas.openxmlformats.org/officeDocument/2006/relationships/image" Target="media/image21.svg" /><Relationship Id="rId4" Type="http://schemas.openxmlformats.org/officeDocument/2006/relationships/image" Target="media/image23.svg" /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4" Type="http://schemas.openxmlformats.org/officeDocument/2006/relationships/image" Target="media/image27.svg" /><Relationship Id="rId2" Type="http://schemas.openxmlformats.org/officeDocument/2006/relationships/image" Target="media/image25.svg" /><Relationship Id="rId1" Type="http://schemas.openxmlformats.org/officeDocument/2006/relationships/image" Target="media/image24.svg" /><Relationship Id="rId3" Type="http://schemas.openxmlformats.org/officeDocument/2006/relationships/image" Target="media/image26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0 讲&lt;/Text&gt;&#10;    &lt;Text style={{ fontSize: 52, color: '#FFFFFF', fontWeight: 'bold', lineHeight: 1.25, marginBottom: 20 }}&gt;&#10;      不是新语言，&lt;br /&gt;而是新行业&#10;    &lt;/Text&gt;&#10;    &lt;Box style={{ width: 80, height: 4, background: '#FF9F1C', marginBottom: 28 }} /&gt;&#10;    &lt;Text style={{ fontSize: 22, color: '#DCE7F5', lineHeight: 1.6 }}&gt;&#10;      写给 2026 程序员的第一课：行业正在重写，你准备好了吗&#10;    &lt;/Text&gt;&#10;    &lt;Text style={{ fontSize: 15, color: '#8FA4B8', marginTop: 36 }}&gt;&#10;      本讲带你建立学习地图：为什么学 · 学什么路线 · 怎么学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0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不是新语言，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而是新行业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写给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2026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程序员的第一课：行业正在重写，你准备好了吗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本讲带你建立学习地图：为什么学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学什么路线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怎么学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5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WHY NOW&lt;/Text&gt;&#10;    &lt;Text style={{ fontSize: 34, color: '#16263F', fontWeight: 'bold', marginBottom: 14 }}&gt;学 AI 是 2026 程序员的新必修课&lt;/Text&gt;&#10;    &lt;Box style={{ width: 56, height: 4, background: '#22D3EE', marginBottom: 20 }} /&gt;&#10;&#10;    &lt;Box style={{ background: '#16263F', borderRadius: 12, padding: '16px 24px', flexDirection: 'row', alignItems: 'center', gap: 14, marginBottom: 24 }}&gt;&#10;      &lt;Text style={{ fontSize: 16, color: '#DCE7F5' }}&gt;马车 &lt;span style={{ color: '#22D3EE', fontWeight: 'bold' }}&gt;→&lt;/span&gt; 汽车&lt;/Text&gt;&#10;      &lt;Text style={{ fontSize: 16, color: '#FF9F1C' }}&gt;|&lt;/Text&gt;&#10;      &lt;Text style={{ fontSize: 16, color: '#DCE7F5' }}&gt;马夫 &lt;span style={{ color: '#22D3EE', fontWeight: 'bold' }}&gt;→&lt;/span&gt; 程序员&lt;/Text&gt;&#10;      &lt;Text style={{ fontSize: 15, color: '#8FA4B8', marginLeft: 'auto' }}&gt;淘汰的不是马夫，是不会开车的人&lt;/Text&gt;&#10;    &lt;/Box&gt;&#10;&#10;    &lt;Box style={{ flexDirection: 'row', gap: 24, flex: 1 }}&gt;&#10;      {[&#10;        { n: '92%', c: '#FF9F1C', icon: 'briefcase', t: '世界 500 强', d: '已规模化应用 AI，成为标配能力' },&#10;        { n: '200万+', c: '#22D3EE', icon: 'users', t: '全球 AI 开发者', d: '持续增长的开发者人群，缺口巨大' },&#10;        { n: '1亿+', c: '#16263F', icon: 'chart-line', t: '主流 AI 周活', d: '头部 AI 产品周活跃用户规模' },&#10;      ].map((item, idx) =&gt; (&#10;        &lt;Box key={idx} style={{ flex: 1, background: '#FFFFFF', borderRadius: 14, padding: '26px 28px', boxShadow: '0 2px 12px rgba(22,38,63,0.06)', justifyContent: 'center' }}&gt;&#10;          &lt;Box style={{ flexDirection: 'row', alignItems: 'center', gap: 10, marginBottom: 14 }}&gt;&#10;            &lt;FAIcon name={item.icon} style={{ fill: '#22D3EE', width: 24, height: 24 }} /&gt;&#10;            &lt;Text style={{ fontSize: 15, color: '#5B6B7A' }}&gt;{item.t}&lt;/Text&gt;&#10;          &lt;/Box&gt;&#10;          &lt;Text style={{ fontSize: 68, color: item.c, fontWeight: 'bold', lineHeight: 1 }}&gt;{item.n}&lt;/Text&gt;&#10;          &lt;Text style={{ fontSize: 15, color: '#5B6B7A', marginTop: 12, lineHeight: 1.6 }}&gt;{item.d}&lt;/Text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0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WHY NOW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学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是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2026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程序员的新必修课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571500" y="1181100"/>
            <a:ext cx="11049000" cy="495300"/>
          </a:xfrm>
          <a:prstGeom prst="roundRect">
            <a:avLst>
              <a:gd name="adj" fmla="val 23077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00100" y="1333500"/>
            <a:ext cx="866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马车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sz="1200" b="1">
                <a:solidFill>
                  <a:srgbClr val="22D3EE"/>
                </a:solidFill>
                <a:latin typeface="思源黑体"/>
                <a:ea typeface="思源黑体"/>
              </a:rPr>
              <a:t>→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汽车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800225" y="1333500"/>
            <a:ext cx="47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9F1C"/>
                </a:solidFill>
                <a:latin typeface="思源黑体"/>
                <a:ea typeface="思源黑体"/>
              </a:rPr>
              <a:t>|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981200" y="1333500"/>
            <a:ext cx="1019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马夫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sz="1200" b="1">
                <a:solidFill>
                  <a:srgbClr val="22D3EE"/>
                </a:solidFill>
                <a:latin typeface="思源黑体"/>
                <a:ea typeface="思源黑体"/>
              </a:rPr>
              <a:t>→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程序员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201150" y="134302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淘汰的不是马夫，是不会开车的人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1500" y="1905000"/>
            <a:ext cx="3533775" cy="47625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3524250"/>
            <a:ext cx="228600" cy="228600"/>
          </a:xfrm>
          <a:prstGeom prst="rect">
            <a:avLst/>
          </a:prstGeom>
          <a:ln/>
        </p:spPr>
      </p:pic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62050" y="3552825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世界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500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强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38200" y="3886200"/>
            <a:ext cx="30003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9F1C"/>
                </a:solidFill>
                <a:latin typeface="思源黑体"/>
                <a:ea typeface="思源黑体"/>
              </a:rPr>
              <a:t>92%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4781550"/>
            <a:ext cx="3000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已规模化应用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AI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，成为标配能力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333875" y="1905000"/>
            <a:ext cx="3524250" cy="47625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00575" y="3524250"/>
            <a:ext cx="228600" cy="22860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924425" y="3552825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全球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开发者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600575" y="3886200"/>
            <a:ext cx="29908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2D3EE"/>
                </a:solidFill>
                <a:latin typeface="思源黑体"/>
                <a:ea typeface="思源黑体"/>
              </a:rPr>
              <a:t>200</a:t>
            </a:r>
            <a:r>
              <a:rPr lang="zh-CN" sz="5100" b="1">
                <a:solidFill>
                  <a:srgbClr val="22D3EE"/>
                </a:solidFill>
                <a:latin typeface="思源黑体"/>
                <a:ea typeface="思源黑体"/>
              </a:rPr>
              <a:t>万</a:t>
            </a:r>
            <a:r>
              <a:rPr lang="en-US" sz="5100" b="1">
                <a:solidFill>
                  <a:srgbClr val="22D3EE"/>
                </a:solidFill>
                <a:latin typeface="思源黑体"/>
                <a:ea typeface="思源黑体"/>
              </a:rPr>
              <a:t>+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600575" y="4781550"/>
            <a:ext cx="2990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持续增长的开发者人群，缺口巨大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8086725" y="1905000"/>
            <a:ext cx="3533775" cy="47625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53425" y="3524250"/>
            <a:ext cx="228600" cy="22860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677275" y="3552825"/>
            <a:ext cx="80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主流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周活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53425" y="3886200"/>
            <a:ext cx="30003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16263F"/>
                </a:solidFill>
                <a:latin typeface="思源黑体"/>
                <a:ea typeface="思源黑体"/>
              </a:rPr>
              <a:t>1</a:t>
            </a:r>
            <a:r>
              <a:rPr lang="zh-CN" sz="5100" b="1">
                <a:solidFill>
                  <a:srgbClr val="16263F"/>
                </a:solidFill>
                <a:latin typeface="思源黑体"/>
                <a:ea typeface="思源黑体"/>
              </a:rPr>
              <a:t>亿</a:t>
            </a:r>
            <a:r>
              <a:rPr lang="en-US" sz="5100" b="1">
                <a:solidFill>
                  <a:srgbClr val="16263F"/>
                </a:solidFill>
                <a:latin typeface="思源黑体"/>
                <a:ea typeface="思源黑体"/>
              </a:rPr>
              <a:t>+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53425" y="4781550"/>
            <a:ext cx="3000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头部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产品周活跃用户规模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2" name="" descr="&lt;Slide&#10;  style={{&#10;    width: '1280px', height: '720px',&#10;    background: '#16263F',&#10;    padding: '20px 60px',&#10;    fontFamily: '&quot;思源黑体&quot;, sans-serif',&#10;  }}&#10;&gt;&#10;  &lt;Box style={{ flexDirection: 'column', height: '100%', justifyContent: 'center' }}&gt;&#10;    &lt;Text style={{ fontSize: 14, color: '#22D3EE', fontWeight: 'bold', letterSpacing: 3, marginBottom: 14 }}&gt;CHAPTER 02 · LEARNING ROADMAP&lt;/Text&gt;&#10;    &lt;Text style={{ fontSize: 44, color: '#FFFFFF', fontWeight: 'bold', marginBottom: 40 }}&gt;学习路线：四阶段爬坡&lt;/Text&gt;&#10;&#10;    &lt;Box style={{ flexDirection: 'row', alignItems: 'stretch', gap: 0 }}&gt;&#10;      {[&#10;        { n: '01', t: '前置', d: '角色定位 + 术语扫盲', l: '第 1-2 讲' },&#10;        { n: '02', t: '入门', d: '会调用 · 会提问 · 会用框架', l: '第 3-5 讲' },&#10;        { n: '03', t: '进阶', d: '开源模型 · 本地部署 · 安全', l: '第 6-8 讲' },&#10;        { n: '04', t: '高级', d: 'RAG · Agent · 多模态', l: '第 9-10 讲' },&#10;      ].map((item, idx) =&gt; (&#10;        &lt;Box key={idx} style={{ flexDirection: 'row', alignItems: 'stretch', flex: 1 }}&gt;&#10;          &lt;Box style={{ flex: 1, background: 'rgba(255,255,255,0.06)', border: '1px solid rgba(220,231,245,0.15)', borderRadius: 12, padding: '26px 22px' }}&gt;&#10;            &lt;Text style={{ fontSize: 13, color: '#FF9F1C', fontWeight: 'bold', marginBottom: 10 }}&gt;{item.n}&lt;/Text&gt;&#10;            &lt;Text style={{ fontSize: 24, color: '#FFFFFF', fontWeight: 'bold', marginBottom: 12 }}&gt;{item.t}&lt;/Text&gt;&#10;            &lt;Text style={{ fontSize: 15, color: '#DCE7F5', lineHeight: 1.7, marginBottom: 10 }}&gt;{item.d}&lt;/Text&gt;&#10;            &lt;Text style={{ fontSize: 13, color: '#8FA4B8' }}&gt;{item.l}&lt;/Text&gt;&#10;          &lt;/Box&gt;&#10;          {idx &lt; 3 &amp;&amp; (&#10;            &lt;Box style={{ width: 40, justifyContent: 'center', alignItems: 'center' }}&gt;&#10;              &lt;FAIcon name='chevron-right' style={{ fill: '#FF9F1C', width: 24, height: 24 }} /&gt;&#10;            &lt;/Box&gt;&#10;          )}&#10;        &lt;/Box&gt;&#10;      ))}&#10;    &lt;/Box&gt;&#10;&#10;    &lt;Box style={{ marginTop: 36, flexDirection: 'row', alignItems: 'center', gap: 12 }}&gt;&#10;      &lt;FAIcon name='lightbulb' style={{ fill: '#FF9F1C', width: 20, height: 20 }} /&gt;&#10;      &lt;Text style={{ fontSize: 16, color: '#DCE7F5' }}&gt;&#10;        每爬一级，能力半径扩大一圈——先会用，再会调，最后会造&#10;      &lt;/Text&gt;&#10;    &lt;/Box&gt;&#10;  &lt;/Box&gt;&#10;  &lt;Box style={{ position: 'absolute', bottom: 14, left: 60, right: 60, flexDirection: 'row', justifyContent: 'space-between' }}&gt;&#10;    &lt;Text style={{ fontSize: 14, color: '#8FA4B8' }}&gt;AI 从零开始 · 第 0 讲&lt;/Text&gt;&#10;    &lt;Text style={{ fontSize: 14, color: '#8FA4B8' }}&gt;0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71500" y="17335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02 · LEARNING ROADMAP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2028825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学习路线：四阶段爬坡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2914650"/>
            <a:ext cx="2381250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81050" y="31623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81050" y="3409950"/>
            <a:ext cx="1962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前置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81050" y="3800475"/>
            <a:ext cx="19621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角色定位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术语扫盲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 1-2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28950" y="3638550"/>
            <a:ext cx="228600" cy="228600"/>
          </a:xfrm>
          <a:prstGeom prst="rect">
            <a:avLst/>
          </a:prstGeom>
          <a:ln/>
        </p:spPr>
      </p:pic>
      <p:sp>
        <p:nvSpPr>
          <p:cNvPr id="112" name=""/>
          <p:cNvSpPr/>
          <p:nvPr/>
        </p:nvSpPr>
        <p:spPr>
          <a:xfrm rot="0" flipH="0" flipV="0">
            <a:off x="3333750" y="2914650"/>
            <a:ext cx="2381250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543300" y="31623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543300" y="3409950"/>
            <a:ext cx="1962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入门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543300" y="3800475"/>
            <a:ext cx="19621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会调用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会提问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会用框架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543300" y="41910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 3-5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91200" y="3638550"/>
            <a:ext cx="228600" cy="228600"/>
          </a:xfrm>
          <a:prstGeom prst="rect">
            <a:avLst/>
          </a:prstGeom>
          <a:ln/>
        </p:spPr>
      </p:pic>
      <p:sp>
        <p:nvSpPr>
          <p:cNvPr id="118" name=""/>
          <p:cNvSpPr/>
          <p:nvPr/>
        </p:nvSpPr>
        <p:spPr>
          <a:xfrm rot="0" flipH="0" flipV="0">
            <a:off x="6096000" y="2914650"/>
            <a:ext cx="2381250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305550" y="31623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305550" y="3409950"/>
            <a:ext cx="1962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进阶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305550" y="3800475"/>
            <a:ext cx="19621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开源模型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本地部署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安全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05550" y="41910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 6-8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53450" y="3638550"/>
            <a:ext cx="228600" cy="228600"/>
          </a:xfrm>
          <a:prstGeom prst="rect">
            <a:avLst/>
          </a:prstGeom>
          <a:ln/>
        </p:spPr>
      </p:pic>
      <p:sp>
        <p:nvSpPr>
          <p:cNvPr id="124" name=""/>
          <p:cNvSpPr/>
          <p:nvPr/>
        </p:nvSpPr>
        <p:spPr>
          <a:xfrm rot="0" flipH="0" flipV="0">
            <a:off x="8858250" y="2914650"/>
            <a:ext cx="2762250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067800" y="3162300"/>
            <a:ext cx="234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067800" y="3409950"/>
            <a:ext cx="2343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高级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067800" y="3800475"/>
            <a:ext cx="23431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RAG · Agent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多模态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067800" y="4191000"/>
            <a:ext cx="234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 9-10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pic>
        <p:nvPicPr>
          <p:cNvPr id="1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71500" y="4933950"/>
            <a:ext cx="190500" cy="190500"/>
          </a:xfrm>
          <a:prstGeom prst="rect">
            <a:avLst/>
          </a:prstGeom>
          <a:ln/>
        </p:spPr>
      </p:pic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76300" y="4933950"/>
            <a:ext cx="4200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每爬一级，能力半径扩大一圈——先会用，再会调，最后会造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REREQUISITE&lt;/Text&gt;&#10;    &lt;Text style={{ fontSize: 34, color: '#16263F', fontWeight: 'bold', marginBottom: 14 }}&gt;前置知识：先定位角色，再扫清术语&lt;/Text&gt;&#10;    &lt;Box style={{ width: 56, height: 4, background: '#22D3EE', marginBottom: 22 }} /&gt;&#10;&#10;    &lt;Box style={{ flexDirection: 'row', gap: 32, flex: 1 }}&gt;&#10;      &lt;Box style={{ flex: 4, flexDirection: 'column', gap: 18 }}&gt;&#10;        &lt;Box style={{ flex: 1, background: '#FFFFFF', borderRadius: 14, padding: '24px 26px', boxShadow: '0 2px 12px rgba(22,38,63,0.06)' }}&gt;&#10;          &lt;Box style={{ flexDirection: 'row', alignItems: 'center', gap: 12, marginBottom: 12 }}&gt;&#10;            &lt;FAIcon name='puzzle-piece' style={{ fill: '#22D3EE', width: 24, height: 24 }} /&gt;&#10;            &lt;Text style={{ fontSize: 20, fontWeight: 'bold', color: '#16263F' }}&gt;AI 工程师&lt;/Text&gt;&#10;          &lt;/Box&gt;&#10;          &lt;Text style={{ fontSize: 15, color: '#5B6B7A', lineHeight: 1.8 }}&gt;&#10;            用模型做应用：拼装 API、调用框架、落地产品。&lt;span style={{ fontWeight: 'bold', color: '#16263F' }}&gt;本系列的主线目标&lt;/span&gt;。&#10;          &lt;/Text&gt;&#10;        &lt;/Box&gt;&#10;        &lt;Box style={{ flex: 1, background: '#FFFFFF', borderRadius: 14, padding: '24px 26px', boxShadow: '0 2px 12px rgba(22,38,63,0.06)' }}&gt;&#10;          &lt;Box style={{ flexDirection: 'row', alignItems: 'center', gap: 12, marginBottom: 12 }}&gt;&#10;            &lt;FAIcon name='flask' style={{ fill: '#FF9F1C', width: 24, height: 24 }} /&gt;&#10;            &lt;Text style={{ fontSize: 20, fontWeight: 'bold', color: '#16263F' }}&gt;ML 工程师&lt;/Text&gt;&#10;          &lt;/Box&gt;&#10;          &lt;Text style={{ fontSize: 15, color: '#5B6B7A', lineHeight: 1.8 }}&gt;&#10;            训练模型：钻研算法与数学，产出模型本身。&lt;span style={{ fontWeight: 'bold', color: '#16263F' }}&gt;门槛高，非本系列重点&lt;/span&gt;。&#10;          &lt;/Text&gt;&#10;        &lt;/Box&gt;&#10;      &lt;/Box&gt;&#10;&#10;      &lt;Box style={{ flex: 5, background: '#16263F', borderRadius: 14, padding: '26px 28px' }}&gt;&#10;        &lt;Box style={{ flexDirection: 'row', alignItems: 'center', gap: 12, marginBottom: 18 }}&gt;&#10;          &lt;FAIcon name='book' style={{ fill: '#22D3EE', width: 24, height: 24 }} /&gt;&#10;          &lt;Text style={{ fontSize: 20, fontWeight: 'bold', color: '#FFFFFF' }}&gt;10 个术语，先混个脸熟&lt;/Text&gt;&#10;        &lt;/Box&gt;&#10;        &lt;Box style={{ flexDirection: 'row', flexWrap: 'wrap', gap: 12 }}&gt;&#10;          {['LLM', 'GPT', 'Transformer', 'RAG', '知识库', '召回', 'Prompt', 'Agent', 'Function Calling', '重写'].map((t, idx) =&gt; (&#10;            &lt;Box key={idx} style={{ background: 'rgba(255,255,255,0.08)', border: '1px solid rgba(220,231,245,0.18)', borderRadius: 10, padding: '12px 18px' }}&gt;&#10;              &lt;Text style={{ fontSize: 16, color: '#DCE7F5', fontWeight: 'bold' }}&gt;{t}&lt;/Text&gt;&#10;            &lt;/Box&gt;&#10;          ))}&#10;        &lt;/Box&gt;&#10;        &lt;Box style={{ marginTop: 20, background: 'rgba(255,159,28,0.12)', border: '1px solid rgba(255,159,28,0.3)', borderRadius: 10, padding: '12px 16px' }}&gt;&#10;          &lt;Text style={{ fontSize: 14, color: '#FF9F1C', fontWeight: 'bold' }}&gt;&#10;            别被术语吓退：后面每讲都会拆开讲透&#10;          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0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PREREQUISITE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前置知识：先定位角色，再扫清术语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571500" y="1200150"/>
            <a:ext cx="4772025" cy="264795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428750"/>
            <a:ext cx="228600" cy="228600"/>
          </a:xfrm>
          <a:prstGeom prst="rect">
            <a:avLst/>
          </a:prstGeom>
          <a:ln/>
        </p:spPr>
      </p:pic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62050" y="1428750"/>
            <a:ext cx="828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AI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工程师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19150" y="1771650"/>
            <a:ext cx="4276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用模型做应用：拼装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API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、调用框架、落地产品。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本系列的主线目标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71500" y="4019550"/>
            <a:ext cx="4772025" cy="264795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4248150"/>
            <a:ext cx="228600" cy="22860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62050" y="424815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ML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工程师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19150" y="4591050"/>
            <a:ext cx="4276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训练模型：钻研算法与数学，产出模型本身。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门槛高，非本系列重点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648325" y="1200150"/>
            <a:ext cx="5972175" cy="5467350"/>
          </a:xfrm>
          <a:prstGeom prst="roundRect">
            <a:avLst>
              <a:gd name="adj" fmla="val 2439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915025" y="1447800"/>
            <a:ext cx="228600" cy="22860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257925" y="14478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10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个术语，先混个脸熟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915025" y="1847850"/>
            <a:ext cx="657225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86475" y="1962150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LLM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686550" y="1847850"/>
            <a:ext cx="657225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858000" y="1962150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GPT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458075" y="1847850"/>
            <a:ext cx="123825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29525" y="196215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Transformer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8810625" y="1847850"/>
            <a:ext cx="68580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982075" y="19621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RAG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9610725" y="1847850"/>
            <a:ext cx="809625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782175" y="19621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CE7F5"/>
                </a:solidFill>
                <a:latin typeface="思源黑体"/>
                <a:ea typeface="思源黑体"/>
              </a:rPr>
              <a:t>知识库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10534650" y="1847850"/>
            <a:ext cx="657225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706100" y="1962150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CE7F5"/>
                </a:solidFill>
                <a:latin typeface="思源黑体"/>
                <a:ea typeface="思源黑体"/>
              </a:rPr>
              <a:t>召回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915025" y="2381250"/>
            <a:ext cx="87630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86475" y="249555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Prompt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905625" y="2381250"/>
            <a:ext cx="78105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077075" y="249555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Agent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7800975" y="2381250"/>
            <a:ext cx="154305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972425" y="249555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Function Calling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9458325" y="2381250"/>
            <a:ext cx="657225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CE7F5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629775" y="2495550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CE7F5"/>
                </a:solidFill>
                <a:latin typeface="思源黑体"/>
                <a:ea typeface="思源黑体"/>
              </a:rPr>
              <a:t>重写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915025" y="2990850"/>
            <a:ext cx="5438775" cy="390525"/>
          </a:xfrm>
          <a:prstGeom prst="roundRect">
            <a:avLst>
              <a:gd name="adj" fmla="val 24390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67425" y="3105150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别被术语吓退：后面每讲都会拆开讲透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NTRY LEVEL&lt;/Text&gt;&#10;    &lt;Text style={{ fontSize: 34, color: '#16263F', fontWeight: 'bold', marginBottom: 14 }}&gt;入门能力：会调用、会提问、会用框架&lt;/Text&gt;&#10;    &lt;Box style={{ width: 56, height: 4, background: '#22D3EE', marginBottom: 22 }} /&gt;&#10;&#10;    &lt;Box style={{ flexDirection: 'row', gap: 22 }}&gt;&#10;      {[&#10;        { t: 'GPT-5', v: 'OpenAI', d: '综合旗舰 · 生态最成熟', c: '#16263F' },&#10;        { t: 'Claude Opus 5', v: 'Anthropic', d: '代码与长文强 · 风格克制', c: '#16263F' },&#10;        { t: 'DeepSeek V4-Flash', v: '开源', d: '$0.14/M · 小参数反超大参数', c: '#FF9F1C' },&#10;      ].map((item, idx) =&gt; (&#10;        &lt;Box key={idx} style={{ flex: 1, background: '#FFFFFF', borderRadius: 14, padding: '24px 26px', boxShadow: '0 2px 12px rgba(22,38,63,0.06)' }}&gt;&#10;          &lt;Text style={{ fontSize: 13, color: '#22D3EE', fontWeight: 'bold', letterSpacing: 1, marginBottom: 10 }}&gt;{item.v}&lt;/Text&gt;&#10;          &lt;Text style={{ fontSize: 21, fontWeight: 'bold', color: '#16263F', marginBottom: 8 }}&gt;{item.t}&lt;/Text&gt;&#10;          &lt;Text style={{ fontSize: 14, color: '#5B6B7A' }}&gt;{item.d}&lt;/Text&gt;&#10;        &lt;/Box&gt;&#10;      ))}&#10;    &lt;/Box&gt;&#10;&#10;    &lt;Box style={{ flexDirection: 'row', gap: 22, marginTop: 22, flex: 1 }}&gt;&#10;      &lt;Box style={{ flex: 1, background: '#DCE7F5', borderRadius: 12, padding: '20px 24px' }}&gt;&#10;        &lt;Box style={{ flexDirection: 'row', alignItems: 'center', gap: 10, marginBottom: 10 }}&gt;&#10;          &lt;FAIcon name='coins' style={{ fill: '#16263F', width: 22, height: 22 }} /&gt;&#10;          &lt;Text style={{ fontSize: 18, fontWeight: 'bold', color: '#16263F' }}&gt;Token 规则&lt;/Text&gt;&#10;        &lt;/Box&gt;&#10;        &lt;Text style={{ fontSize: 15, color: '#1B2733', lineHeight: 1.8 }}&gt;&#10;          文本被切成 Token 计费；中文更贵（1 汉字 ≈ 1-2 Token）。&lt;span style={{ fontWeight: 'bold' }}&gt;先懂计费单位，再谈省钱&lt;/span&gt;。&#10;        &lt;/Text&gt;&#10;      &lt;/Box&gt;&#10;      &lt;Box style={{ flex: 1, background: '#16263F', borderRadius: 12, padding: '20px 24px' }}&gt;&#10;        &lt;Box style={{ flexDirection: 'row', alignItems: 'center', gap: 10, marginBottom: 10 }}&gt;&#10;          &lt;FAIcon name='cubes' style={{ fill: '#FF9F1C', width: 22, height: 22 }} /&gt;&#10;          &lt;Text style={{ fontSize: 18, fontWeight: 'bold', color: '#FFFFFF' }}&gt;开发框架&lt;/Text&gt;&#10;        &lt;/Box&gt;&#10;        &lt;Text style={{ fontSize: 15, color: '#DCE7F5', lineHeight: 1.8 }}&gt;&#10;          LangChain / LlamaIndex 拼装应用，从「裸调 API」升级到「工程化开发」。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0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ENTRY LEVEL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入门能力：会调用、会提问、会用框架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571500" y="1200150"/>
            <a:ext cx="35433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19150" y="1428750"/>
            <a:ext cx="304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22D3EE"/>
                </a:solidFill>
                <a:latin typeface="思源黑体"/>
                <a:ea typeface="思源黑体"/>
              </a:rPr>
              <a:t>OpenAI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19150" y="1676400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GPT-5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20002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综合旗舰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生态最成熟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324350" y="1200150"/>
            <a:ext cx="35433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72000" y="1428750"/>
            <a:ext cx="304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22D3EE"/>
                </a:solidFill>
                <a:latin typeface="思源黑体"/>
                <a:ea typeface="思源黑体"/>
              </a:rPr>
              <a:t>Anthropic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72000" y="1676400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Claude Opus 5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572000" y="20002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代码与长文强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风格克制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077200" y="1200150"/>
            <a:ext cx="35433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24850" y="1428750"/>
            <a:ext cx="304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22D3EE"/>
                </a:solidFill>
                <a:latin typeface="思源黑体"/>
                <a:ea typeface="思源黑体"/>
              </a:rPr>
              <a:t>开源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324850" y="1676400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DeepSeek V4-Flash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324850" y="20002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$0.14/M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小参数反超大参数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71500" y="2600325"/>
            <a:ext cx="5419725" cy="4067175"/>
          </a:xfrm>
          <a:prstGeom prst="roundRect">
            <a:avLst>
              <a:gd name="adj" fmla="val 2810"/>
            </a:avLst>
          </a:prstGeom>
          <a:solidFill>
            <a:srgbClr val="DCE7F5"/>
          </a:solidFill>
          <a:ln/>
        </p:spPr>
        <p:txBody>
          <a:bodyPr/>
          <a:p/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2790825"/>
            <a:ext cx="209550" cy="209550"/>
          </a:xfrm>
          <a:prstGeom prst="rect">
            <a:avLst/>
          </a:prstGeom>
          <a:ln/>
        </p:spPr>
      </p:pic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04900" y="2790825"/>
            <a:ext cx="895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Token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规则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00100" y="3095625"/>
            <a:ext cx="49625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1B2733"/>
                </a:solidFill>
                <a:latin typeface="思源黑体"/>
                <a:ea typeface="思源黑体"/>
              </a:rPr>
              <a:t>文本被切成</a:t>
            </a:r>
            <a:r>
              <a:rPr lang="en-US" sz="1125">
                <a:solidFill>
                  <a:srgbClr val="1B2733"/>
                </a:solidFill>
                <a:latin typeface="思源黑体"/>
                <a:ea typeface="思源黑体"/>
              </a:rPr>
              <a:t> Token </a:t>
            </a:r>
            <a:r>
              <a:rPr lang="zh-CN" sz="1125">
                <a:solidFill>
                  <a:srgbClr val="1B2733"/>
                </a:solidFill>
                <a:latin typeface="思源黑体"/>
                <a:ea typeface="思源黑体"/>
              </a:rPr>
              <a:t>计费；中文更贵（</a:t>
            </a:r>
            <a:r>
              <a:rPr lang="en-US" sz="1125">
                <a:solidFill>
                  <a:srgbClr val="1B2733"/>
                </a:solidFill>
                <a:latin typeface="思源黑体"/>
                <a:ea typeface="思源黑体"/>
              </a:rPr>
              <a:t>1 </a:t>
            </a:r>
            <a:r>
              <a:rPr lang="zh-CN" sz="1125">
                <a:solidFill>
                  <a:srgbClr val="1B2733"/>
                </a:solidFill>
                <a:latin typeface="思源黑体"/>
                <a:ea typeface="思源黑体"/>
              </a:rPr>
              <a:t>汉字</a:t>
            </a:r>
            <a:r>
              <a:rPr lang="en-US" sz="1125">
                <a:solidFill>
                  <a:srgbClr val="1B2733"/>
                </a:solidFill>
                <a:latin typeface="思源黑体"/>
                <a:ea typeface="思源黑体"/>
              </a:rPr>
              <a:t> ≈ 1-2 Token</a:t>
            </a:r>
            <a:r>
              <a:rPr lang="zh-CN" sz="1125">
                <a:solidFill>
                  <a:srgbClr val="1B2733"/>
                </a:solidFill>
                <a:latin typeface="思源黑体"/>
                <a:ea typeface="思源黑体"/>
              </a:rPr>
              <a:t>）。</a:t>
            </a:r>
            <a:r>
              <a:rPr lang="zh-CN" sz="1125" b="1">
                <a:solidFill>
                  <a:srgbClr val="1B2733"/>
                </a:solidFill>
                <a:latin typeface="思源黑体"/>
                <a:ea typeface="思源黑体"/>
              </a:rPr>
              <a:t>先懂计费单位，再谈省钱</a:t>
            </a:r>
            <a:r>
              <a:rPr lang="zh-CN" sz="1125">
                <a:solidFill>
                  <a:srgbClr val="1B2733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200775" y="2600325"/>
            <a:ext cx="5419725" cy="4067175"/>
          </a:xfrm>
          <a:prstGeom prst="roundRect">
            <a:avLst>
              <a:gd name="adj" fmla="val 2810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29375" y="2790825"/>
            <a:ext cx="209550" cy="20955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734175" y="2790825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开发框架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429375" y="3095625"/>
            <a:ext cx="4962525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LangChain / LlamaIndex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拼装应用，从「裸调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API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」升级到「工程化开发」。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0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width: 340, paddingTop: 24 }}&gt;&#10;      &lt;Text style={{ fontSize: 14, color: '#FF9F1C', fontWeight: 'bold', letterSpacing: 2, marginBottom: 12 }}&gt;ADVANCED LEVEL&lt;/Text&gt;&#10;      &lt;Text style={{ fontSize: 34, color: '#16263F', fontWeight: 'bold', lineHeight: 1.35, marginBottom: 20 }}&gt;&#10;        进阶能力：&lt;br /&gt;从「会用」到「会调」&#10;      &lt;/Text&gt;&#10;      &lt;Box style={{ width: 56, height: 4, background: '#22D3EE', marginBottom: 20 }} /&gt;&#10;      &lt;Text style={{ fontSize: 16, color: '#5B6B7A', lineHeight: 1.7 }}&gt;&#10;        掌握开源模型、本地部署与 AI 安全三件事，就能&lt;span style={{ fontWeight: 'bold', color: '#16263F' }}&gt;把 AI 真正捏在自己手里&lt;/span&gt;。&#10;      &lt;/Text&gt;&#10;    &lt;/Box&gt;&#10;&#10;    &lt;Box style={{ flex: 1, flexDirection: 'column', gap: 18, justifyContent: 'center' }}&gt;&#10;      &lt;Box style={{ flexDirection: 'row', gap: 16, background: '#FFFFFF', borderRadius: 12, padding: '22px 26px', boxShadow: '0 2px 12px rgba(22,38,63,0.06)' }}&gt;&#10;        &lt;Box style={{ width: 56, height: 56, borderRadius: 14, background: '#EAF2FB', justifyContent: 'center', alignItems: 'center' }}&gt;&#10;          &lt;FAIcon name='code-branch' style={{ fill: '#22D3EE', width: 28, height: 28 }} /&gt;&#10;        &lt;/Box&gt;&#10;        &lt;Box style={{ flex: 1 }}&gt;&#10;          &lt;Text style={{ fontSize: 20, fontWeight: 'bold', color: '#16263F', marginBottom: 6 }}&gt;开源模型&lt;/Text&gt;&#10;          &lt;Text style={{ fontSize: 15, color: '#5B6B7A' }}&gt;DeepSeek / Qwen / GLM · 可商用、可魔改、可本地&lt;/Text&gt;&#10;        &lt;/Box&gt;&#10;      &lt;/Box&gt;&#10;      &lt;Box style={{ flexDirection: 'row', gap: 16, background: '#FFFFFF', borderRadius: 12, padding: '22px 26px', boxShadow: '0 2px 12px rgba(22,38,63,0.06)' }}&gt;&#10;        &lt;Box style={{ width: 56, height: 56, borderRadius: 14, background: '#EAF2FB', justifyContent: 'center', alignItems: 'center' }}&gt;&#10;          &lt;FAIcon name='server' style={{ fill: '#22D3EE', width: 28, height: 28 }} /&gt;&#10;        &lt;/Box&gt;&#10;        &lt;Box style={{ flex: 1 }}&gt;&#10;          &lt;Text style={{ fontSize: 20, fontWeight: 'bold', color: '#16263F', marginBottom: 6 }}&gt;本地部署&lt;/Text&gt;&#10;          &lt;Text style={{ fontSize: 15, color: '#5B6B7A' }}&gt;Ollama 一条命令拉模型 · 数据不出门 · 免费无限&lt;/Text&gt;&#10;        &lt;/Box&gt;&#10;      &lt;/Box&gt;&#10;      &lt;Box style={{ flexDirection: 'row', gap: 16, background: '#16263F', borderRadius: 12, padding: '22px 26px' }}&gt;&#10;        &lt;Box style={{ width: 56, height: 56, borderRadius: 14, background: 'rgba(255,159,28,0.15)', justifyContent: 'center', alignItems: 'center' }}&gt;&#10;          &lt;FAIcon name='shield' style={{ fill: '#FF9F1C', width: 28, height: 28 }} /&gt;&#10;        &lt;/Box&gt;&#10;        &lt;Box style={{ flex: 1 }}&gt;&#10;          &lt;Text style={{ fontSize: 20, fontWeight: 'bold', color: '#FFFFFF', marginBottom: 6 }}&gt;AI 安全&lt;/Text&gt;&#10;          &lt;Text style={{ fontSize: 15, color: '#DCE7F5' }}&gt;Prompt 注入、越权、幻觉治理——会用更要会防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0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ADVANCED LEVEL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71500" y="695325"/>
            <a:ext cx="32385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进阶能力：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从「会用」到「会调」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71500" y="2466975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2695575"/>
            <a:ext cx="3238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掌握开源模型、本地部署与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安全三件事，就能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把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AI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真正捏在自己手里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152900" y="1828800"/>
            <a:ext cx="74676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4400550" y="20383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33900" y="2171700"/>
            <a:ext cx="266700" cy="266700"/>
          </a:xfrm>
          <a:prstGeom prst="rect">
            <a:avLst/>
          </a:prstGeom>
          <a:ln/>
        </p:spPr>
      </p:pic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86350" y="203835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开源模型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086350" y="23241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DeepSeek / Qwen / GLM ·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可商用、可魔改、可本地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152900" y="2952750"/>
            <a:ext cx="74676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4400550" y="31623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33900" y="3295650"/>
            <a:ext cx="266700" cy="26670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086350" y="316230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本地部署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086350" y="344805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Ollama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一条命令拉模型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数据不出门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免费无限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152900" y="4076700"/>
            <a:ext cx="7467600" cy="9525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4400550" y="42862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2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33900" y="4419600"/>
            <a:ext cx="266700" cy="266700"/>
          </a:xfrm>
          <a:prstGeom prst="rect">
            <a:avLst/>
          </a:prstGeom>
          <a:ln/>
        </p:spPr>
      </p:pic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086350" y="428625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安全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086350" y="45720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Prompt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注入、越权、幻觉治理——会用更要会防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XPERT LEVEL&lt;/Text&gt;&#10;    &lt;Text style={{ fontSize: 34, color: '#16263F', fontWeight: 'bold', marginBottom: 14 }}&gt;高级能力：从「会调」到「会造」&lt;/Text&gt;&#10;    &lt;Box style={{ width: 56, height: 4, background: '#22D3EE', marginBottom: 22 }} /&gt;&#10;&#10;    &lt;Box style={{ flexDirection: 'row', flexWrap: 'wrap', gap: 18, flex: 1 }}&gt;&#10;      {[&#10;        { t: 'Embedding', d: '文字变向量，机器才懂相近', icon: 'cube' },&#10;        { t: '向量库', d: '语义检索，找「意思」不找字', icon: 'database' },&#10;        { t: 'RAG', d: '检索增强，给模型补知识', icon: 'book-open' },&#10;        { t: 'Agent', d: '自主规划 + 调用工具执行', icon: 'robot' },&#10;        { t: '多模态', d: '图文音视频一起理解', icon: 'images' },&#10;        { t: '微调', d: '领域数据定制专属模型', icon: 'sliders' },&#10;      ].map((item, idx) =&gt; (&#10;        &lt;Box key={idx} style={{ width: '32%', background: '#FFFFFF', borderRadius: 12, padding: '20px 22px', boxShadow: '0 2px 12px rgba(22,38,63,0.06)' }}&gt;&#10;          &lt;Box style={{ flexDirection: 'row', alignItems: 'center', gap: 12, marginBottom: 10 }}&gt;&#10;            &lt;Box style={{ width: 40, height: 40, borderRadius: 10, background: '#EAF2FB', justifyContent: 'center', alignItems: 'center' }}&gt;&#10;              &lt;FAIcon name={item.icon} style={{ fill: '#22D3EE', width: 20, height: 20 }} /&gt;&#10;            &lt;/Box&gt;&#10;            &lt;Text style={{ fontSize: 19, fontWeight: 'bold', color: '#16263F' }}&gt;{item.t}&lt;/Text&gt;&#10;          &lt;/Box&gt;&#10;          &lt;Text style={{ fontSize: 14, color: '#5B6B7A', lineHeight: 1.6 }}&gt;{item.d}&lt;/Text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0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EXPERT LEVEL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高级能力：从「会调」到「会造」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571500" y="1200150"/>
            <a:ext cx="3533775" cy="2647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81050" y="1390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485900"/>
            <a:ext cx="190500" cy="190500"/>
          </a:xfrm>
          <a:prstGeom prst="rect">
            <a:avLst/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276350" y="1476375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Embedding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81050" y="186690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文字变向量，机器才懂相近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276725" y="1200150"/>
            <a:ext cx="3533775" cy="2647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4486275" y="1390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485900"/>
            <a:ext cx="190500" cy="190500"/>
          </a:xfrm>
          <a:prstGeom prst="rect">
            <a:avLst/>
          </a:prstGeom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981575" y="1476375"/>
            <a:ext cx="561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向量库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486275" y="186690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语义检索，找「意思」不找字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981950" y="1200150"/>
            <a:ext cx="3543300" cy="2647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8191500" y="1390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86750" y="1485900"/>
            <a:ext cx="190500" cy="190500"/>
          </a:xfrm>
          <a:prstGeom prst="rect">
            <a:avLst/>
          </a:prstGeom>
          <a:ln/>
        </p:spPr>
      </p:pic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686800" y="1476375"/>
            <a:ext cx="409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RAG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191500" y="18669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检索增强，给模型补知识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571500" y="4019550"/>
            <a:ext cx="3533775" cy="2647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781050" y="4210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76300" y="4305300"/>
            <a:ext cx="190500" cy="19050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276350" y="4295775"/>
            <a:ext cx="514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Agent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81050" y="468630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自主规划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调用工具执行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4276725" y="4019550"/>
            <a:ext cx="3533775" cy="2647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4486275" y="4210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581525" y="4305300"/>
            <a:ext cx="190500" cy="190500"/>
          </a:xfrm>
          <a:prstGeom prst="rect">
            <a:avLst/>
          </a:prstGeom>
          <a:ln/>
        </p:spPr>
      </p:pic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981575" y="4295775"/>
            <a:ext cx="561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多模态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486275" y="468630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图文音视频一起理解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981950" y="4019550"/>
            <a:ext cx="3543300" cy="2647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8191500" y="4210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86750" y="4305300"/>
            <a:ext cx="190500" cy="190500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686800" y="4295775"/>
            <a:ext cx="371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微调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191500" y="46863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领域数据定制专属模型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0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CAREER PATH&lt;/Text&gt;&#10;    &lt;Text style={{ fontSize: 34, color: '#16263F', fontWeight: 'bold', marginBottom: 14 }}&gt;学完去哪：三条职业路线&lt;/Text&gt;&#10;    &lt;Box style={{ width: 56, height: 4, background: '#22D3EE', marginBottom: 24 }} /&gt;&#10;&#10;    &lt;Box style={{ flexDirection: 'row', alignItems: 'stretch', gap: 0, flex: 1 }}&gt;&#10;      {[&#10;        { t: 'Prompt 工程师', d: '写好提示词，榨干模型能力', l: '入门 · 2-4 周', icon: 'pen', c: '#FFFFFF', bg: '#16263F' },&#10;        { t: 'Agent 工程师', d: '编排多智能体工作流', l: '进阶 · 3-6 月', icon: 'network-wired', c: '#FFFFFF', bg: '#1E3A5F' },&#10;        { t: 'AI 专家', d: '造模型、定架构、带团队', l: '高级 · 1-3 年', icon: 'crown', c: '#16263F', bg: '#FF9F1C' },&#10;      ].map((item, idx) =&gt; (&#10;        &lt;Box key={idx} style={{ flexDirection: 'row', alignItems: 'stretch', flex: 1 }}&gt;&#10;          &lt;Box style={{ flex: 1, background: item.bg, borderRadius: 14, padding: '28px 26px', justifyContent: 'center' }}&gt;&#10;            &lt;FAIcon name={item.icon} style={{ fill: item.c, width: 30, height: 30, marginBottom: 16 }} /&gt;&#10;            &lt;Text style={{ fontSize: 21, fontWeight: 'bold', color: item.c, marginBottom: 10 }}&gt;{item.t}&lt;/Text&gt;&#10;            &lt;Text style={{ fontSize: 15, color: item.bg === '#FF9F1C' ? '#16263F' : '#DCE7F5', lineHeight: 1.7, marginBottom: 12 }}&gt;{item.d}&lt;/Text&gt;&#10;            &lt;Text style={{ fontSize: 13, color: item.bg === '#FF9F1C' ? '#16263F' : '#8FA4B8', fontWeight: 'bold' }}&gt;{item.l}&lt;/Text&gt;&#10;          &lt;/Box&gt;&#10;          {idx &lt; 2 &amp;&amp; (&#10;            &lt;Box style={{ width: 40, justifyContent: 'center', alignItems: 'center' }}&gt;&#10;              &lt;FAIcon name='arrow-right' style={{ fill: '#FF9F1C', width: 24, height: 24 }} /&gt;&#10;            &lt;/Box&gt;&#10;          )}&#10;        &lt;/Box&gt;&#10;      ))}&#10;    &lt;/Box&gt;&#10;&#10;    &lt;Box style={{ marginTop: 20, background: '#DCE7F5', borderRadius: 10, padding: '14px 20px' }}&gt;&#10;      &lt;Text style={{ fontSize: 15, color: '#16263F', fontWeight: 'bold' }}&gt;&#10;        三条路线不是互斥，而是递进：先会写，再会排，最后会造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0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CAREER PATH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学完去哪：三条职业路线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571500" y="1219200"/>
            <a:ext cx="3305175" cy="4819650"/>
          </a:xfrm>
          <a:prstGeom prst="roundRect">
            <a:avLst>
              <a:gd name="adj" fmla="val 4035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962275"/>
            <a:ext cx="285750" cy="285750"/>
          </a:xfrm>
          <a:prstGeom prst="rect">
            <a:avLst/>
          </a:prstGeom>
          <a:ln/>
        </p:spPr>
      </p:pic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19150" y="3400425"/>
            <a:ext cx="2809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Prompt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工程师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19150" y="3743325"/>
            <a:ext cx="28098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写好提示词，榨干模型能力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19150" y="4152900"/>
            <a:ext cx="2809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FA4B8"/>
                </a:solidFill>
                <a:latin typeface="思源黑体"/>
                <a:ea typeface="思源黑体"/>
              </a:rPr>
              <a:t>入门</a:t>
            </a:r>
            <a:r>
              <a:rPr lang="en-US" sz="975" b="1">
                <a:solidFill>
                  <a:srgbClr val="8FA4B8"/>
                </a:solidFill>
                <a:latin typeface="思源黑体"/>
                <a:ea typeface="思源黑体"/>
              </a:rPr>
              <a:t> · 2-4 </a:t>
            </a:r>
            <a:r>
              <a:rPr lang="zh-CN" sz="975" b="1">
                <a:solidFill>
                  <a:srgbClr val="8FA4B8"/>
                </a:solidFill>
                <a:latin typeface="思源黑体"/>
                <a:ea typeface="思源黑体"/>
              </a:rPr>
              <a:t>周</a:t>
            </a:r>
            <a:endParaRPr/>
          </a:p>
        </p:txBody>
      </p:sp>
      <p:pic>
        <p:nvPicPr>
          <p:cNvPr id="2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52875" y="3514725"/>
            <a:ext cx="228600" cy="228600"/>
          </a:xfrm>
          <a:prstGeom prst="rect">
            <a:avLst/>
          </a:prstGeom>
          <a:ln/>
        </p:spPr>
      </p:pic>
      <p:sp>
        <p:nvSpPr>
          <p:cNvPr id="271" name=""/>
          <p:cNvSpPr/>
          <p:nvPr/>
        </p:nvSpPr>
        <p:spPr>
          <a:xfrm rot="0" flipH="0" flipV="0">
            <a:off x="4257675" y="1219200"/>
            <a:ext cx="3295650" cy="4819650"/>
          </a:xfrm>
          <a:prstGeom prst="roundRect">
            <a:avLst>
              <a:gd name="adj" fmla="val 4046"/>
            </a:avLst>
          </a:prstGeom>
          <a:solidFill>
            <a:srgbClr val="1E3A5F"/>
          </a:solidFill>
          <a:ln/>
        </p:spPr>
        <p:txBody>
          <a:bodyPr/>
          <a:p/>
        </p:txBody>
      </p:sp>
      <p:pic>
        <p:nvPicPr>
          <p:cNvPr id="2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05325" y="2962275"/>
            <a:ext cx="285750" cy="285750"/>
          </a:xfrm>
          <a:prstGeom prst="rect">
            <a:avLst/>
          </a:prstGeom>
          <a:ln/>
        </p:spPr>
      </p:pic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505325" y="3400425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Agent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工程师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505325" y="3743325"/>
            <a:ext cx="28003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编排多智能体工作流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505325" y="4152900"/>
            <a:ext cx="280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FA4B8"/>
                </a:solidFill>
                <a:latin typeface="思源黑体"/>
                <a:ea typeface="思源黑体"/>
              </a:rPr>
              <a:t>进阶</a:t>
            </a:r>
            <a:r>
              <a:rPr lang="en-US" sz="975" b="1">
                <a:solidFill>
                  <a:srgbClr val="8FA4B8"/>
                </a:solidFill>
                <a:latin typeface="思源黑体"/>
                <a:ea typeface="思源黑体"/>
              </a:rPr>
              <a:t> · 3-6 </a:t>
            </a:r>
            <a:r>
              <a:rPr lang="zh-CN" sz="975" b="1">
                <a:solidFill>
                  <a:srgbClr val="8FA4B8"/>
                </a:solidFill>
                <a:latin typeface="思源黑体"/>
                <a:ea typeface="思源黑体"/>
              </a:rPr>
              <a:t>月</a:t>
            </a:r>
            <a:endParaRPr/>
          </a:p>
        </p:txBody>
      </p:sp>
      <p:pic>
        <p:nvPicPr>
          <p:cNvPr id="2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9525" y="3514725"/>
            <a:ext cx="228600" cy="228600"/>
          </a:xfrm>
          <a:prstGeom prst="rect">
            <a:avLst/>
          </a:prstGeom>
          <a:ln/>
        </p:spPr>
      </p:pic>
      <p:sp>
        <p:nvSpPr>
          <p:cNvPr id="277" name=""/>
          <p:cNvSpPr/>
          <p:nvPr/>
        </p:nvSpPr>
        <p:spPr>
          <a:xfrm rot="0" flipH="0" flipV="0">
            <a:off x="7934325" y="1219200"/>
            <a:ext cx="3686175" cy="4819650"/>
          </a:xfrm>
          <a:prstGeom prst="roundRect">
            <a:avLst>
              <a:gd name="adj" fmla="val 3618"/>
            </a:avLst>
          </a:prstGeom>
          <a:solidFill>
            <a:srgbClr val="FF9F1C"/>
          </a:solidFill>
          <a:ln/>
        </p:spPr>
        <p:txBody>
          <a:bodyPr/>
          <a:p/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81975" y="2962275"/>
            <a:ext cx="285750" cy="28575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181975" y="3400425"/>
            <a:ext cx="3190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AI </a:t>
            </a:r>
            <a:r>
              <a:rPr lang="zh-CN" sz="1575" b="1">
                <a:solidFill>
                  <a:srgbClr val="16263F"/>
                </a:solidFill>
                <a:latin typeface="思源黑体"/>
                <a:ea typeface="思源黑体"/>
              </a:rPr>
              <a:t>专家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181975" y="3743325"/>
            <a:ext cx="31908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16263F"/>
                </a:solidFill>
                <a:latin typeface="思源黑体"/>
                <a:ea typeface="思源黑体"/>
              </a:rPr>
              <a:t>造模型、定架构、带团队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181975" y="4152900"/>
            <a:ext cx="3190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6263F"/>
                </a:solidFill>
                <a:latin typeface="思源黑体"/>
                <a:ea typeface="思源黑体"/>
              </a:rPr>
              <a:t>高级</a:t>
            </a:r>
            <a:r>
              <a:rPr lang="en-US" sz="975" b="1">
                <a:solidFill>
                  <a:srgbClr val="16263F"/>
                </a:solidFill>
                <a:latin typeface="思源黑体"/>
                <a:ea typeface="思源黑体"/>
              </a:rPr>
              <a:t> · 1-3 </a:t>
            </a:r>
            <a:r>
              <a:rPr lang="zh-CN" sz="975" b="1">
                <a:solidFill>
                  <a:srgbClr val="16263F"/>
                </a:solidFill>
                <a:latin typeface="思源黑体"/>
                <a:ea typeface="思源黑体"/>
              </a:rPr>
              <a:t>年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62000" y="636270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三条路线不是互斥，而是递进：先会写，再会排，最后会造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86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HOW TO LEARN&lt;/Text&gt;&#10;    &lt;Text style={{ fontSize: 34, color: '#16263F', fontWeight: 'bold', marginBottom: 14 }}&gt;学习方法：比喻先行 + 动手实验 + 冷知识收尾&lt;/Text&gt;&#10;    &lt;Box style={{ width: 56, height: 4, background: '#22D3EE', marginBottom: 24 }} /&gt;&#10;&#10;    &lt;Box style={{ flexDirection: 'row', gap: 24, flex: 1 }}&gt;&#10;      {[&#10;        { n: '01', t: '比喻先行', d: '把抽象概念换成生活比喻，先建立直觉，再补术语。', ex: 'Transformer = 答题时圈重点', icon: 'lightbulb', c: '#22D3EE' },&#10;        { n: '02', t: '动手实验', d: '每讲一个能跑通的 Demo，看代码比看 PPT 记得牢。', ex: '先跑起来，再理解原理', icon: 'laptop-code', c: '#FF9F1C' },&#10;        { n: '03', t: '冷知识收尾', d: '用有趣的数字与反差事实收尾，强化记忆点。', ex: '中文 Token 税 40%~100%', icon: 'snowflake', c: '#22D3EE' },&#10;      ].map((item, idx) =&gt; (&#10;        &lt;Box key={idx} style={{ flex: 1, background: '#FFFFFF', borderRadius: 14, padding: '28px 26px', boxShadow: '0 2px 12px rgba(22,38,63,0.06)' }}&gt;&#10;          &lt;Text style={{ fontSize: 14, color: item.c, fontWeight: 'bold', marginBottom: 14 }}&gt;{item.n}&lt;/Text&gt;&#10;          &lt;Box style={{ flexDirection: 'row', alignItems: 'center', gap: 12, marginBottom: 14 }}&gt;&#10;            &lt;FAIcon name={item.icon} style={{ fill: item.c, width: 26, height: 26 }} /&gt;&#10;            &lt;Text style={{ fontSize: 22, fontWeight: 'bold', color: '#16263F' }}&gt;{item.t}&lt;/Text&gt;&#10;          &lt;/Box&gt;&#10;          &lt;Text style={{ fontSize: 15, color: '#5B6B7A', lineHeight: 1.8, marginBottom: 14 }}&gt;{item.d}&lt;/Text&gt;&#10;          &lt;Box style={{ marginTop: 'auto', background: '#F5F7FA', borderRadius: 8, padding: '10px 14px' }}&gt;&#10;            &lt;Text style={{ fontSize: 14, color: '#16263F', fontWeight: 'bold' }}&gt;{item.ex}&lt;/Text&gt;&#10;          &lt;/Box&gt;&#10;        &lt;/Box&gt;&#10;      ))}&#10;    &lt;/Box&gt;&#10;&#10;    &lt;Box style={{ marginTop: 20, background: '#16263F', borderRadius: 12, padding: '16px 22px', flexDirection: 'row', alignItems: 'center', gap: 12 }}&gt;&#10;      &lt;FAIcon name='key' style={{ fill: '#FF9F1C', width: 20, height: 20 }} /&gt;&#10;      &lt;Text style={{ fontSize: 15, color: '#DCE7F5', fontWeight: 'bold' }}&gt;&#10;        一句话记住：先懂比喻，再动手跑，最后用冷知识封存记忆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0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HOW TO LEARN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学习方法：比喻先行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动手实验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冷知识收尾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571500" y="1219200"/>
            <a:ext cx="3533775" cy="47625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790700"/>
            <a:ext cx="247650" cy="247650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81100" y="1781175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6263F"/>
                </a:solidFill>
                <a:latin typeface="思源黑体"/>
                <a:ea typeface="思源黑体"/>
              </a:rPr>
              <a:t>比喻先行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19150" y="2171700"/>
            <a:ext cx="3038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把抽象概念换成生活比喻，先建立直觉，再补术语。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819150" y="5362575"/>
            <a:ext cx="3038475" cy="352425"/>
          </a:xfrm>
          <a:prstGeom prst="roundRect">
            <a:avLst>
              <a:gd name="adj" fmla="val 216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52500" y="5457825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Transformer =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答题时圈重点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333875" y="1219200"/>
            <a:ext cx="3524250" cy="47625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581525" y="148590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790700"/>
            <a:ext cx="247650" cy="247650"/>
          </a:xfrm>
          <a:prstGeom prst="rect">
            <a:avLst/>
          </a:prstGeom>
          <a:ln/>
        </p:spPr>
      </p:pic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943475" y="1781175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6263F"/>
                </a:solidFill>
                <a:latin typeface="思源黑体"/>
                <a:ea typeface="思源黑体"/>
              </a:rPr>
              <a:t>动手实验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81525" y="2171700"/>
            <a:ext cx="30289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每讲一个能跑通的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Demo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，看代码比看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PPT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记得牢。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4581525" y="5362575"/>
            <a:ext cx="3028950" cy="352425"/>
          </a:xfrm>
          <a:prstGeom prst="roundRect">
            <a:avLst>
              <a:gd name="adj" fmla="val 216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714875" y="545782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先跑起来，再理解原理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8086725" y="1219200"/>
            <a:ext cx="3533775" cy="47625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34375" y="148590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34375" y="1790700"/>
            <a:ext cx="247650" cy="24765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696325" y="1781175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6263F"/>
                </a:solidFill>
                <a:latin typeface="思源黑体"/>
                <a:ea typeface="思源黑体"/>
              </a:rPr>
              <a:t>冷知识收尾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34375" y="2171700"/>
            <a:ext cx="3038475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用有趣的数字与反差事实收尾，强化记忆点。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8334375" y="5362575"/>
            <a:ext cx="3038475" cy="352425"/>
          </a:xfrm>
          <a:prstGeom prst="roundRect">
            <a:avLst>
              <a:gd name="adj" fmla="val 21622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467725" y="5457825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中文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Token </a:t>
            </a: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税</a:t>
            </a:r>
            <a:r>
              <a:rPr lang="en-US" sz="1050" b="1">
                <a:solidFill>
                  <a:srgbClr val="16263F"/>
                </a:solidFill>
                <a:latin typeface="思源黑体"/>
                <a:ea typeface="思源黑体"/>
              </a:rPr>
              <a:t> 40%~100%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71500" y="6172200"/>
            <a:ext cx="11049000" cy="495300"/>
          </a:xfrm>
          <a:prstGeom prst="roundRect">
            <a:avLst>
              <a:gd name="adj" fmla="val 23077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3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1050" y="6324600"/>
            <a:ext cx="190500" cy="190500"/>
          </a:xfrm>
          <a:prstGeom prst="rect">
            <a:avLst/>
          </a:prstGeom>
          <a:ln/>
        </p:spPr>
      </p:pic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85850" y="6334125"/>
            <a:ext cx="3790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CE7F5"/>
                </a:solidFill>
                <a:latin typeface="思源黑体"/>
                <a:ea typeface="思源黑体"/>
              </a:rPr>
              <a:t>一句话记住：先懂比喻，再动手跑，最后用冷知识封存记忆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USE AI WELL&lt;/Text&gt;&#10;    &lt;Text style={{ fontSize: 34, color: '#16263F', fontWeight: 'bold', marginBottom: 14 }}&gt;先用好 AI：九招心法&lt;/Text&gt;&#10;    &lt;Box style={{ width: 56, height: 4, background: '#22D3EE', marginBottom: 22 }} /&gt;&#10;&#10;    &lt;Box style={{ flexDirection: 'row', flexWrap: 'wrap', gap: 16, flex: 1 }}&gt;&#10;      {[&#10;        { t: '会提问', d: '问题说清楚，答案才靠谱' },&#10;        { t: '懂审美', d: '能判断产出好坏' },&#10;        { t: '会交底', d: '给足背景再提问' },&#10;        { t: '会迭代', d: '一次不行就追问' },&#10;        { t: '会立规矩', d: '定好输出规则' },&#10;        { t: '会听骂', d: '让 AI 挑你的错' },&#10;        { t: '会压缩', d: '长文先提炼再投喂' },&#10;        { t: '会整理', d: '对话沉淀成资产' },&#10;        { t: '请私教', d: '让 AI 当专属老师' },&#10;      ].map((item, idx) =&gt; (&#10;        &lt;Box key={idx} style={{ width: '32%', background: '#FFFFFF', borderRadius: 12, padding: '16px 20px', boxShadow: '0 2px 12px rgba(22,38,63,0.06)', flexDirection: 'row', alignItems: 'center', gap: 14 }}&gt;&#10;          &lt;Text style={{ fontSize: 15, color: '#FF9F1C', fontWeight: 'bold', width: 26 }}&gt;{idx + 1}&lt;/Text&gt;&#10;          &lt;Box style={{ flex: 1 }}&gt;&#10;            &lt;Text style={{ fontSize: 18, fontWeight: 'bold', color: '#16263F', marginBottom: 4 }}&gt;{item.t}&lt;/Text&gt;&#10;            &lt;Text style={{ fontSize: 13, color: '#5B6B7A' }}&gt;{item.d}&lt;/Text&gt;&#10;          &lt;/Box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0 讲&lt;/Text&gt;&#10;    &lt;Text style={{ fontSize: 14, color: '#5B6B7A' }}&gt;10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USE AI WELL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先用好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AI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：九招心法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71500" y="1200150"/>
            <a:ext cx="3533775" cy="1724025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62000" y="19812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43000" y="1866900"/>
            <a:ext cx="2771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会提问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43000" y="2114550"/>
            <a:ext cx="2771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问题说清楚，答案才靠谱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4257675" y="1200150"/>
            <a:ext cx="3533775" cy="1724025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448175" y="19812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829175" y="1866900"/>
            <a:ext cx="2771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懂审美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829175" y="2114550"/>
            <a:ext cx="2771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能判断产出好坏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7943850" y="1200150"/>
            <a:ext cx="3543300" cy="1724025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134350" y="19812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515350" y="18669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会交底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15350" y="2114550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给足背景再提问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71500" y="3076575"/>
            <a:ext cx="3533775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62000" y="38481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43000" y="3733800"/>
            <a:ext cx="2771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会迭代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43000" y="3981450"/>
            <a:ext cx="2771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一次不行就追问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257675" y="3076575"/>
            <a:ext cx="3533775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448175" y="38481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5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829175" y="3733800"/>
            <a:ext cx="2771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会立规矩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829175" y="3981450"/>
            <a:ext cx="2771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定好输出规则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943850" y="3076575"/>
            <a:ext cx="35433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134350" y="38481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6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515350" y="37338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会听骂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515350" y="3981450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让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挑你的错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71500" y="4943475"/>
            <a:ext cx="3533775" cy="1724025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62000" y="572452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7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43000" y="5610225"/>
            <a:ext cx="2771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会压缩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000" y="5857875"/>
            <a:ext cx="2771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长文先提炼再投喂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257675" y="4943475"/>
            <a:ext cx="3533775" cy="1724025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448175" y="572452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8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829175" y="5610225"/>
            <a:ext cx="2771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会整理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829175" y="5857875"/>
            <a:ext cx="2771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对话沉淀成资产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943850" y="4943475"/>
            <a:ext cx="3543300" cy="1724025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134350" y="572452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9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515350" y="5610225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请私教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515350" y="5857875"/>
            <a:ext cx="278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让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AI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当专属老师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55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SERIES PREVIEW&lt;/Text&gt;&#10;    &lt;Text style={{ fontSize: 40, color: '#FFFFFF', fontWeight: 'bold', marginBottom: 30 }}&gt;系列预告：10 场正片 + 3 里程碑&lt;/Text&gt;&#10;&#10;    &lt;Box style={{ flexDirection: 'row', gap: 24, marginBottom: 28 }}&gt;&#10;      &lt;Box style={{ flex: 1, background: 'rgba(255,255,255,0.07)', border: '1px solid rgba(220,231,245,0.2)', borderRadius: 14, padding: '24px 26px' }}&gt;&#10;        &lt;Text style={{ fontSize: 14, color: '#FF9F1C', fontWeight: 'bold', letterSpacing: 1, marginBottom: 10 }}&gt;M1 · 会用&lt;/Text&gt;&#10;        &lt;Text style={{ fontSize: 20, fontWeight: 'bold', color: '#FFFFFF', marginBottom: 10 }}&gt;提问与调用&lt;/Text&gt;&#10;        &lt;Text style={{ fontSize: 14, color: '#DCE7F5', lineHeight: 1.8 }}&gt;第 0-3 讲：认知、术语、Prompt、API&lt;/Text&gt;&#10;      &lt;/Box&gt;&#10;      &lt;Box style={{ flex: 1, background: 'rgba(255,255,255,0.07)', border: '1px solid rgba(220,231,245,0.2)', borderRadius: 14, padding: '24px 26px' }}&gt;&#10;        &lt;Text style={{ fontSize: 14, color: '#22D3EE', fontWeight: 'bold', letterSpacing: 1, marginBottom: 10 }}&gt;M2 · 会调&lt;/Text&gt;&#10;        &lt;Text style={{ fontSize: 20, fontWeight: 'bold', color: '#FFFFFF', marginBottom: 10 }}&gt;部署与框架&lt;/Text&gt;&#10;        &lt;Text style={{ fontSize: 14, color: '#DCE7F5', lineHeight: 1.8 }}&gt;第 4-7 讲：环境、本地部署、框架、安全&lt;/Text&gt;&#10;      &lt;/Box&gt;&#10;      &lt;Box style={{ flex: 1, background: 'rgba(255,159,28,0.12)', border: '1px solid rgba(255,159,28,0.3)', borderRadius: 14, padding: '24px 26px' }}&gt;&#10;        &lt;Text style={{ fontSize: 14, color: '#FF9F1C', fontWeight: 'bold', letterSpacing: 1, marginBottom: 10 }}&gt;M3 · 会造&lt;/Text&gt;&#10;        &lt;Text style={{ fontSize: 20, fontWeight: 'bold', color: '#FFFFFF', marginBottom: 10 }}&gt;实战与进阶&lt;/Text&gt;&#10;        &lt;Text style={{ fontSize: 14, color: '#DCE7F5', lineHeight: 1.8 }}&gt;第 8-10 讲：RAG、Agent、多模态、实战&lt;/Text&gt;&#10;      &lt;/Box&gt;&#10;    &lt;/Box&gt;&#10;&#10;    &lt;Box style={{ background: 'rgba(255,255,255,0.06)', borderRadius: 12, padding: '18px 24px' }}&gt;&#10;      &lt;Text style={{ fontSize: 15, color: '#DCE7F5', lineHeight: 1.9 }}&gt;&#10;        &lt;span style={{ color: '#FF9F1C', fontWeight: 'bold' }}&gt;10 场正片：&lt;/span&gt;&#10;        认知 → 环境 → Prompt → 部署 → 框架 → 安全 → RAG → Agent → 多模态 → 实战&#10;      &lt;/Text&gt;&#10;      &lt;Text style={{ fontSize: 14, color: '#8FA4B8', marginTop: 10 }}&gt;&#10;        第 0 讲到此结束——下一讲，我们一起把「AI 认知与生态」彻底扫清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164782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SERIES PREVIEW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系列预告：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10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场正片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+ 3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里程碑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2686050"/>
            <a:ext cx="3533775" cy="133350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9150" y="291465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FF9F1C"/>
                </a:solidFill>
                <a:latin typeface="思源黑体"/>
                <a:ea typeface="思源黑体"/>
              </a:rPr>
              <a:t>M1 · </a:t>
            </a:r>
            <a:r>
              <a:rPr lang="zh-CN" sz="1050" b="1" spc="75">
                <a:solidFill>
                  <a:srgbClr val="FF9F1C"/>
                </a:solidFill>
                <a:latin typeface="思源黑体"/>
                <a:ea typeface="思源黑体"/>
              </a:rPr>
              <a:t>会用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19150" y="3171825"/>
            <a:ext cx="3038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提问与调用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9150" y="3495675"/>
            <a:ext cx="3038475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0-3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讲：认知、术语、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Prompt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、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API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333875" y="2686050"/>
            <a:ext cx="3524250" cy="133350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581525" y="291465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22D3EE"/>
                </a:solidFill>
                <a:latin typeface="思源黑体"/>
                <a:ea typeface="思源黑体"/>
              </a:rPr>
              <a:t>M2 · </a:t>
            </a:r>
            <a:r>
              <a:rPr lang="zh-CN" sz="1050" b="1" spc="75">
                <a:solidFill>
                  <a:srgbClr val="22D3EE"/>
                </a:solidFill>
                <a:latin typeface="思源黑体"/>
                <a:ea typeface="思源黑体"/>
              </a:rPr>
              <a:t>会调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581525" y="3171825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部署与框架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581525" y="3495675"/>
            <a:ext cx="302895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4-7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讲：环境、本地部署、框架、安全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8086725" y="2686050"/>
            <a:ext cx="3533775" cy="1333500"/>
          </a:xfrm>
          <a:prstGeom prst="roundRect">
            <a:avLst>
              <a:gd name="adj" fmla="val 10000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34375" y="291465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FF9F1C"/>
                </a:solidFill>
                <a:latin typeface="思源黑体"/>
                <a:ea typeface="思源黑体"/>
              </a:rPr>
              <a:t>M3 · </a:t>
            </a:r>
            <a:r>
              <a:rPr lang="zh-CN" sz="1050" b="1" spc="75">
                <a:solidFill>
                  <a:srgbClr val="FF9F1C"/>
                </a:solidFill>
                <a:latin typeface="思源黑体"/>
                <a:ea typeface="思源黑体"/>
              </a:rPr>
              <a:t>会造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34375" y="3171825"/>
            <a:ext cx="3038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实战与进阶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334375" y="3495675"/>
            <a:ext cx="3038475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8-10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讲：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RAG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、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Agent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、多模态、实战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71500" y="4286250"/>
            <a:ext cx="11049000" cy="933450"/>
          </a:xfrm>
          <a:prstGeom prst="roundRect">
            <a:avLst>
              <a:gd name="adj" fmla="val 12245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10 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场正片：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认知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环境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Prompt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部署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框架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安全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RAG → Agent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多模态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实战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00100" y="4886325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0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讲到此结束——下一讲，我们一起把「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认知与生态」彻底扫清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2026-08-13T21:31:05Z</dcterms:created>
  <dcterms:modified xsi:type="dcterms:W3CDTF">2026-08-13T21:31:05Z</dcterms:modified>
</cp:coreProperties>
</file>