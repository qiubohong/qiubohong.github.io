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14" Type="http://schemas.openxmlformats.org/officeDocument/2006/relationships/tableStyles" Target="tableStyles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5" Type="http://schemas.openxmlformats.org/officeDocument/2006/relationships/viewProps" Target="viewProps.xml" /><Relationship Id="rId13" Type="http://schemas.openxmlformats.org/officeDocument/2006/relationships/presProps" Target="presProps.xml" /><Relationship Id="rId8" Type="http://schemas.openxmlformats.org/officeDocument/2006/relationships/slide" Target="slides/slide8.xml" /><Relationship Id="rId1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10.svg" /><Relationship Id="rId2" Type="http://schemas.openxmlformats.org/officeDocument/2006/relationships/image" Target="media/image9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3.svg" /><Relationship Id="rId2" Type="http://schemas.openxmlformats.org/officeDocument/2006/relationships/image" Target="media/image12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16.svg" /><Relationship Id="rId2" Type="http://schemas.openxmlformats.org/officeDocument/2006/relationships/image" Target="media/image15.svg" /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21.svg" /><Relationship Id="rId3" Type="http://schemas.openxmlformats.org/officeDocument/2006/relationships/image" Target="media/image12.svg" /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10 讲&lt;/Text&gt;&#10;    &lt;Text style={{ fontSize: 52, color: '#FFFFFF', fontWeight: 'bold', lineHeight: 1.25, marginBottom: 20 }}&gt;&#10;      我们正站在&lt;br /&gt;哪一步&#10;    &lt;/Text&gt;&#10;    &lt;Box style={{ width: 80, height: 4, background: '#FF9F1C', marginBottom: 28 }} /&gt;&#10;    &lt;Text style={{ fontSize: 22, color: '#DCE7F5', lineHeight: 1.6 }}&gt;&#10;      行业前沿与趋势：回看历史、看清格局、预见方向&#10;    &lt;/Text&gt;&#10;    &lt;Text style={{ fontSize: 15, color: '#8FA4B8', marginTop: 36 }}&gt;&#10;      学完能建立对 AI 行业的全景坐标系，串联整个系列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10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我们正站在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哪一步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行业前沿与趋势：回看历史、看清格局、预见方向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学完能建立对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行业的全景坐标系，串联整个系列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1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OPENAI DEVDAY 2023&lt;/Text&gt;&#10;      &lt;Text style={{ fontSize: 34, color: '#16263F', fontWeight: 'bold', lineHeight: 1.35, marginBottom: 24 }}&gt;&#10;        历史回看：&lt;br /&gt;一切 Agent 的起点&#10;      &lt;/Text&gt;&#10;      &lt;Box style={{ width: 56, height: 4, background: '#22D3EE', marginBottom: 24 }} /&gt;&#10;      &lt;Text style={{ fontSize: 16, color: '#5B6B7A', lineHeight: 1.7 }}&gt;&#10;        2023 年 DevDay 是分水岭：模型能力、应用生态、Agent 雏形，三大件一次发布。三年后看，都在为「Agent 时代」铺路。&#10;      &lt;/Text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bolt' style={{ fill: '#22D3EE', width: 26, height: 26 }} /&gt;&#10;        &lt;/Box&gt;&#10;        &lt;Box style={{ flex: 1 }}&gt;&#10;          &lt;Text style={{ fontSize: 18, fontWeight: 'bold', color: '#16263F', marginBottom: 6 }}&gt;GPT-4 Turbo&lt;/Text&gt;&#10;          &lt;Text style={{ fontSize: 14, color: '#5B6B7A', lineHeight: 1.6 }}&gt;128K 上下文 + JSON 模式，为「结构化输出」立了标准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store' style={{ fill: '#22D3EE', width: 26, height: 26 }} /&gt;&#10;        &lt;/Box&gt;&#10;        &lt;Box style={{ flex: 1 }}&gt;&#10;          &lt;Text style={{ fontSize: 18, fontWeight: 'bold', color: '#16263F', marginBottom: 6 }}&gt;GPTs + GPT Store + Builder&lt;/Text&gt;&#10;          &lt;Text style={{ fontSize: 14, color: '#5B6B7A', lineHeight: 1.6 }}&gt;无代码定制助手 + 应用商店，第一次把「造 AI」开放给大众。&lt;/Text&gt;&#10;        &lt;/Box&gt;&#10;      &lt;/Box&gt;&#10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robot' style={{ fill: '#FF9F1C', width: 26, height: 26 }} /&gt;&#10;        &lt;/Box&gt;&#10;        &lt;Box style={{ flex: 1 }}&gt;&#10;          &lt;Text style={{ fontSize: 18, fontWeight: 'bold', color: '#FFFFFF', marginBottom: 6 }}&gt;Assistants API&lt;/Text&gt;&#10;          &lt;Text style={{ fontSize: 14, color: '#DCE7F5', lineHeight: 1.6 }}&gt;工具调用 + 线程 + 检索，Agent 的雏形——三年后被 Agent 全面演进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OPENAI DEVDAY 2023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历史回看：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一切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的起点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2023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年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DevDay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是分水岭：模型能力、应用生态、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雏形，三大件一次发布。三年后看，都在为「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时代」铺路。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GPT-4 Turbo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128K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上下文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JSON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模式，为「结构化输出」立了标准。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GPTs + GPT Store + Builder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无代码定制助手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应用商店，第一次把「造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AI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」开放给大众。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Assistants API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工具调用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线程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检索，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的雏形——三年后被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全面演进。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4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DEEPSEEK EVOLUTION&lt;/Text&gt;&#10;    &lt;Text style={{ fontSize: 34, color: '#16263F', fontWeight: 'bold', marginBottom: 28 }}&gt;DeepSeek 演进深水区：从追赶到开源领跑&lt;/Text&gt;&#10;    &lt;Box style={{ width: 56, height: 4, background: '#22D3EE', marginBottom: 30 }} /&gt;&#10;&#10;    &lt;Box style={{ flexDirection: 'row', alignItems: 'center', gap: 0 }}&gt;&#10;      {[&#10;        { t: 'R1', y: '思维链推理', d: '先想再说\n对标 OpenAI o1' },&#10;        { t: 'V3', y: 'MoE 架构', d: '混合专家\n671B / 37B 激活' },&#10;        { t: 'V4-Flash', y: '2026 正式版', d: '小参数反超\n1M 上下文' },&#10;      ].map((item, idx) =&gt; (&#10;        &lt;Box key={idx} style={{ flexDirection: 'row', alignItems: 'center', flex: 1 }}&gt;&#10;          &lt;Box style={{ flex: 1, background: idx === 2 ? '#16263F' : '#FFFFFF', borderRadius: 12, padding: '22px 24px', boxShadow: idx === 2 ? undefined : '0 2px 12px rgba(22,38,63,0.06)' }}&gt;&#10;            &lt;Text style={{ fontSize: 21, fontWeight: 'bold', color: idx === 2 ? '#FFFFFF' : '#16263F', marginBottom: 4 }}&gt;{item.t}&lt;/Text&gt;&#10;            &lt;Text style={{ fontSize: 13, color: idx === 2 ? '#FF9F1C' : '#22D3EE', fontWeight: 'bold', marginBottom: 10 }}&gt;{item.y}&lt;/Text&gt;&#10;            &lt;Text style={{ fontSize: 14, color: idx === 2 ? '#DCE7F5' : '#5B6B7A', lineHeight: 1.6, whiteSpace: 'pre-line' }}&gt;{item.d}&lt;/Text&gt;&#10;          &lt;/Box&gt;&#10;          {idx &lt; 2 &amp;&amp; (&#10;            &lt;Box style={{ width: 44, justifyContent: 'center', alignItems: 'center' }}&gt;&#10;              &lt;FAIcon name='arrow-right' style={{ fill: '#FF9F1C', width: 26, height: 26 }} /&gt;&#10;            &lt;/Box&gt;&#10;          )}&#10;        &lt;/Box&gt;&#10;      ))}&#10;    &lt;/Box&gt;&#10;&#10;    &lt;Box style={{ marginTop: 30, background: '#16263F', borderRadius: 14, padding: '24px 30px' }}&gt;&#10;      &lt;Box style={{ flexDirection: 'row', alignItems: 'center', gap: 16, marginBottom: 12 }}&gt;&#10;        &lt;FAIcon name='chart-line' style={{ fill: '#FF9F1C', width: 30, height: 30 }} /&gt;&#10;        &lt;Text style={{ fontSize: 21, fontWeight: 'bold', color: '#FFFFFF' }}&gt;V4-Flash 正式版：开源旗舰&lt;/Text&gt;&#10;      &lt;/Box&gt;&#10;      &lt;Box style={{ flexDirection: 'row', gap: 32 }}&gt;&#10;        &lt;Box&gt;&lt;Text style={{ fontSize: 30, color: '#FF9F1C', fontWeight: 'bold' }}&gt;284B&lt;/Text&gt;&lt;Text style={{ fontSize: 13, color: '#DCE7F5' }}&gt;总参 / 13B 激活&lt;/Text&gt;&lt;/Box&gt;&#10;        &lt;Box&gt;&lt;Text style={{ fontSize: 30, color: '#22D3EE', fontWeight: 'bold' }}&gt;1M&lt;/Text&gt;&lt;Text style={{ fontSize: 13, color: '#DCE7F5' }}&gt;上下文 · MIT · FP4+FP8&lt;/Text&gt;&lt;/Box&gt;&#10;        &lt;Box&gt;&lt;Text style={{ fontSize: 30, color: '#FF9F1C', fontWeight: 'bold' }}&gt;54.4&lt;/Text&gt;&lt;Text style={{ fontSize: 13, color: '#DCE7F5' }}&gt;DeepSWE · +640%&lt;/Text&gt;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DEEPSEEK EVOLUTION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DeepSeek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演进深水区：从追赶到开源领跑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10858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571500" y="1409700"/>
            <a:ext cx="32670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0100" y="1619250"/>
            <a:ext cx="2809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R1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00100" y="1905000"/>
            <a:ext cx="2809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思维链推理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2809875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先想再说
对标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OpenAI o1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24300" y="2019300"/>
            <a:ext cx="247650" cy="247650"/>
          </a:xfrm>
          <a:prstGeom prst="rect">
            <a:avLst/>
          </a:prstGeom>
          <a:ln/>
        </p:spPr>
      </p:pic>
      <p:sp>
        <p:nvSpPr>
          <p:cNvPr id="94" name=""/>
          <p:cNvSpPr/>
          <p:nvPr/>
        </p:nvSpPr>
        <p:spPr>
          <a:xfrm rot="0" flipH="0" flipV="0">
            <a:off x="4257675" y="1409700"/>
            <a:ext cx="32575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86275" y="161925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V3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86275" y="1905000"/>
            <a:ext cx="280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MoE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架构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486275" y="2152650"/>
            <a:ext cx="28003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混合专家
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671B / 37B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激活</a:t>
            </a:r>
            <a:endParaRPr/>
          </a:p>
        </p:txBody>
      </p:sp>
      <p:pic>
        <p:nvPicPr>
          <p:cNvPr id="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2019300"/>
            <a:ext cx="247650" cy="247650"/>
          </a:xfrm>
          <a:prstGeom prst="rect">
            <a:avLst/>
          </a:prstGeom>
          <a:ln/>
        </p:spPr>
      </p:pic>
      <p:sp>
        <p:nvSpPr>
          <p:cNvPr id="99" name=""/>
          <p:cNvSpPr/>
          <p:nvPr/>
        </p:nvSpPr>
        <p:spPr>
          <a:xfrm rot="0" flipH="0" flipV="0">
            <a:off x="7934325" y="1409700"/>
            <a:ext cx="3686175" cy="1466850"/>
          </a:xfrm>
          <a:prstGeom prst="roundRect">
            <a:avLst>
              <a:gd name="adj" fmla="val 779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62925" y="1619250"/>
            <a:ext cx="3228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V4-Flash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162925" y="190500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2026 </a:t>
            </a: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正式版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162925" y="2152650"/>
            <a:ext cx="3228975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小参数反超
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1M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上下文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71500" y="3162300"/>
            <a:ext cx="11049000" cy="1352550"/>
          </a:xfrm>
          <a:prstGeom prst="roundRect">
            <a:avLst>
              <a:gd name="adj" fmla="val 9859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3390900"/>
            <a:ext cx="285750" cy="285750"/>
          </a:xfrm>
          <a:prstGeom prst="rect">
            <a:avLst/>
          </a:prstGeom>
          <a:ln/>
        </p:spPr>
      </p:pic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295400" y="3409950"/>
            <a:ext cx="2524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V4-Flash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正式版：开源旗舰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57250" y="3790950"/>
            <a:ext cx="866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9F1C"/>
                </a:solidFill>
                <a:latin typeface="思源黑体"/>
                <a:ea typeface="思源黑体"/>
              </a:rPr>
              <a:t>284B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57250" y="41338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总参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/ 13B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激活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028825" y="3790950"/>
            <a:ext cx="1333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思源黑体"/>
                <a:ea typeface="思源黑体"/>
              </a:rPr>
              <a:t>1M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028825" y="413385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上下文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· MIT · FP4+FP8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667125" y="3790950"/>
            <a:ext cx="107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9F1C"/>
                </a:solidFill>
                <a:latin typeface="思源黑体"/>
                <a:ea typeface="思源黑体"/>
              </a:rPr>
              <a:t>54.4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667125" y="4133850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DeepSWE · +640%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14" name="" descr="&lt;Slide&#10;  style={{&#10;    width: '1280px', height: '720px',&#10;    background: '#16263F',&#10;    padding: '20px 60px',&#10;    fontFamily: '&quot;思源黑体&quot;, sans-serif',&#10;  }}&#10;&gt;&#10;  &lt;Box style={{ width: '100%', height: '100%' }}&gt;&#10;    &lt;Text style={{ fontSize: 14, color: '#22D3EE', fontWeight: 'bold', letterSpacing: 3, marginBottom: 10 }}&gt;MODEL LANDSCAPE 2026&lt;/Text&gt;&#10;    &lt;Text style={{ fontSize: 34, color: '#FFFFFF', fontWeight: 'bold', marginBottom: 26 }}&gt;2026 模型格局：三足鼎立，各卡一个身位&lt;/Text&gt;&#10;&#10;    &lt;Box style={{ flexDirection: 'row', gap: 24, flex: 1 }}&gt;&#10;      &lt;Box style={{ flex: 1, background: 'rgba(255,255,255,0.06)', border: '1px solid rgba(220,231,245,0.15)', borderRadius: 14, padding: '26px 24px' }}&gt;&#10;        &lt;Text style={{ fontSize: 22, fontWeight: 'bold', color: '#FFFFFF', marginBottom: 6 }}&gt;GPT-5&lt;/Text&gt;&#10;        &lt;Text style={{ fontSize: 13, color: '#22D3EE', fontWeight: 'bold', marginBottom: 16 }}&gt;闭源 · 全能&lt;/Text&gt;&#10;        &lt;Text style={{ fontSize: 14, color: '#DCE7F5', lineHeight: 2 }}&gt;&#10;          400K 上下文&lt;br /&gt;内置思考能力&lt;br /&gt;text + vision 多模态&#10;        &lt;/Text&gt;&#10;      &lt;/Box&gt;&#10;&#10;      &lt;Box style={{ flex: 1, background: 'rgba(255,255,255,0.06)', border: '1px solid rgba(220,231,245,0.15)', borderRadius: 14, padding: '26px 24px' }}&gt;&#10;        &lt;Text style={{ fontSize: 22, fontWeight: 'bold', color: '#FFFFFF', marginBottom: 6 }}&gt;Claude Opus 5&lt;/Text&gt;&#10;        &lt;Text style={{ fontSize: 13, color: '#22D3EE', fontWeight: 'bold', marginBottom: 16 }}&gt;闭源 · 长上下文&lt;/Text&gt;&#10;        &lt;Text style={{ fontSize: 14, color: '#DCE7F5', lineHeight: 2 }}&gt;&#10;          1M 上下文&lt;br /&gt;thinking 默认开启&lt;br /&gt;复杂 Agent 任务强项&#10;        &lt;/Text&gt;&#10;      &lt;/Box&gt;&#10;&#10;      &lt;Box style={{ flex: 1, background: 'rgba(255,159,28,0.12)', border: '1px solid rgba(255,159,28,0.3)', borderRadius: 14, padding: '26px 24px' }}&gt;&#10;        &lt;Text style={{ fontSize: 22, fontWeight: 'bold', color: '#FF9F1C', marginBottom: 6 }}&gt;DeepSeek V4-Flash&lt;/Text&gt;&#10;        &lt;Text style={{ fontSize: 13, color: '#FF9F1C', fontWeight: 'bold', marginBottom: 16 }}&gt;开源 · 高性价比&lt;/Text&gt;&#10;        &lt;Text style={{ fontSize: 14, color: '#DCE7F5', lineHeight: 2 }}&gt;&#10;          $0.14 / 百万 token&lt;br /&gt;脱离 CUDA · 适配昇腾&lt;br /&gt;MIT 开源可商用&#10;        &lt;/Text&gt;&#10;      &lt;/Box&gt;&#10;    &lt;/Box&gt;&#10;&#10;    &lt;Box style={{ marginTop: 20, background: 'rgba(255,255,255,0.06)', borderRadius: 10, padding: '14px 22px' }}&gt;&#10;      &lt;Text style={{ fontSize: 15, color: '#DCE7F5', fontWeight: 'bold' }}&gt;&#10;        选型看三个维度：上下文 × 成本 × 开源——没有最好，只有最合适&#10;      &lt;/Text&gt;&#10;    &lt;/Box&gt;&#10;  &lt;/Box&gt;&#10;  &lt;Box style={{ position: 'absolute', bottom: 14, left: 60, width: 1160, flexDirection: 'row', justifyContent: 'space-between' }}&gt;&#10;    &lt;Text style={{ fontSize: 14, color: '#8FA4B8' }}&gt;AI 从零开始 · 第 10 讲 · 数据截至 2026-08&lt;/Text&gt;&#10;    &lt;Text style={{ fontSize: 14, color: '#8FA4B8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MODEL LANDSCAPE 2026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2026 </a:t>
            </a: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模型格局：三足鼎立，各卡一个身位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1085850"/>
            <a:ext cx="3533775" cy="4953000"/>
          </a:xfrm>
          <a:prstGeom prst="roundRect">
            <a:avLst>
              <a:gd name="adj" fmla="val 377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00100" y="133350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GPT-5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0100" y="1647825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闭源</a:t>
            </a: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全能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3076575" cy="9620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400K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上下文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内置思考能力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text + vision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多模态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333875" y="1085850"/>
            <a:ext cx="3524250" cy="4953000"/>
          </a:xfrm>
          <a:prstGeom prst="roundRect">
            <a:avLst>
              <a:gd name="adj" fmla="val 378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562475" y="133350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Claude Opus 5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562475" y="1647825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闭源</a:t>
            </a: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长上下文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562475" y="1952625"/>
            <a:ext cx="3067050" cy="9620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1M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上下文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thinking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默认开启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复杂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任务强项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086725" y="1085850"/>
            <a:ext cx="3533775" cy="4953000"/>
          </a:xfrm>
          <a:prstGeom prst="roundRect">
            <a:avLst>
              <a:gd name="adj" fmla="val 3774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15325" y="133350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9F1C"/>
                </a:solidFill>
                <a:latin typeface="思源黑体"/>
                <a:ea typeface="思源黑体"/>
              </a:rPr>
              <a:t>DeepSeek V4-Flash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15325" y="1647825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开源</a:t>
            </a: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高性价比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15325" y="1952625"/>
            <a:ext cx="3076575" cy="9620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$0.14 /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百万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脱离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CUDA 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适配昇腾</a:t>
            </a:r>
            <a:endParaRPr/>
          </a:p>
          <a:p>
            <a:pPr>
              <a:lnSpc>
                <a:spcPct val="2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MIT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开源可商用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1050" y="63627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选型看三个维度：上下文</a:t>
            </a:r>
            <a:r>
              <a:rPr lang="en-US" sz="1125" b="1">
                <a:solidFill>
                  <a:srgbClr val="DCE7F5"/>
                </a:solidFill>
                <a:latin typeface="思源黑体"/>
                <a:ea typeface="思源黑体"/>
              </a:rPr>
              <a:t> × </a:t>
            </a: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成本</a:t>
            </a:r>
            <a:r>
              <a:rPr lang="en-US" sz="1125" b="1">
                <a:solidFill>
                  <a:srgbClr val="DCE7F5"/>
                </a:solidFill>
                <a:latin typeface="思源黑体"/>
                <a:ea typeface="思源黑体"/>
              </a:rPr>
              <a:t> × </a:t>
            </a: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开源——没有最好，只有最合适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数据截至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2026-08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4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REASONING ERA&lt;/Text&gt;&#10;      &lt;Text style={{ fontSize: 34, color: '#16263F', fontWeight: 'bold', lineHeight: 1.35, marginBottom: 24 }}&gt;&#10;        推理模型时代：&lt;br /&gt;先想，再说&#10;      &lt;/Text&gt;&#10;      &lt;Box style={{ width: 56, height: 4, background: '#22D3EE', marginBottom: 24 }} /&gt;&#10;      &lt;Text style={{ fontSize: 16, color: '#5B6B7A', lineHeight: 1.7 }}&gt;&#10;        模型不再「张口就来」，而是先在内部走一遍思维链，&lt;span style={{ fontWeight: 'bold', color: '#16263F' }}&gt;想清楚了再输出&lt;/span&gt;——准确率大幅提升。&#10;      &lt;/Text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brain' style={{ fill: '#22D3EE', width: 26, height: 26 }} /&gt;&#10;        &lt;/Box&gt;&#10;        &lt;Box style={{ flex: 1 }}&gt;&#10;          &lt;Text style={{ fontSize: 18, fontWeight: 'bold', color: '#16263F', marginBottom: 6 }}&gt;先想再说&lt;/Text&gt;&#10;          &lt;Text style={{ fontSize: 14, color: '#5B6B7A', lineHeight: 1.6 }}&gt;内部思维链是「草稿纸」，看不见但决定了对错。&lt;/Text&gt;&#10;        &lt;/Box&gt;&#10;      &lt;/Box&gt;&#10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sliders-h' style={{ fill: '#FF9F1C', width: 26, height: 26 }} /&gt;&#10;        &lt;/Box&gt;&#10;        &lt;Box style={{ flex: 1 }}&gt;&#10;          &lt;Text style={{ fontSize: 18, fontWeight: 'bold', color: '#FFFFFF', marginBottom: 6 }}&gt;思考强度可调&lt;/Text&gt;&#10;          &lt;Text style={{ fontSize: 14, color: '#DCE7F5', lineHeight: 1.6 }}&gt;reasoning_effort / effort 参数，从「快答」到「深想」自由切换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dollar' style={{ fill: '#22D3EE', width: 26, height: 26 }} /&gt;&#10;        &lt;/Box&gt;&#10;        &lt;Box style={{ flex: 1 }}&gt;&#10;          &lt;Text style={{ fontSize: 18, fontWeight: 'bold', color: '#16263F', marginBottom: 6 }}&gt;管理推理 token 成本&lt;/Text&gt;&#10;          &lt;Text style={{ fontSize: 14, color: '#5B6B7A', lineHeight: 1.6 }}&gt;想得越久越贵——简单问题关掉思考，复杂问题才加满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REASONING ERA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推理模型时代：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先想，再说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模型不再「张口就来」，而是先在内部走一遍思维链，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想清楚了再输出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——准确率大幅提升。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先想再说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内部思维链是「草稿纸」，看不见但决定了对错。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思考强度可调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reasoning_effort / effort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参数，从「快答」到「深想」自由切换。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管理推理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token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成本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想得越久越贵——简单问题关掉思考，复杂问题才加满。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7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ONTOLOGY&lt;/Text&gt;&#10;      &lt;Text style={{ fontSize: 34, color: '#16263F', fontWeight: 'bold', lineHeight: 1.35, marginBottom: 24 }}&gt;&#10;        Ontology 语义地基：&lt;br /&gt;让 Agent 说「同一种话」&#10;      &lt;/Text&gt;&#10;      &lt;Box style={{ width: 56, height: 4, background: '#22D3EE', marginBottom: 24 }} /&gt;&#10;      &lt;Text style={{ fontSize: 16, color: '#5B6B7A', lineHeight: 1.7 }}&gt;&#10;        Agent 跨系统协作时，各说各话、词义打架。&lt;span style={{ fontWeight: 'bold', color: '#16263F' }}&gt;本体（Ontology）统一词汇与关系&lt;/span&gt;，是语义层面的「共同字典」。&#10;      &lt;/Text&gt;&#10;    &lt;/Box&gt;&#10;&#10;    &lt;Box style={{ flex: 1, flexDirection: 'column', gap: 16, justifyContent: 'center' }}&gt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project-diagram' style={{ fill: '#FF9F1C', width: 26, height: 26 }} /&gt;&#10;        &lt;/Box&gt;&#10;        &lt;Box style={{ flex: 1 }}&gt;&#10;          &lt;Text style={{ fontSize: 18, fontWeight: 'bold', color: '#FFFFFF', marginBottom: 6 }}&gt;三元组：主语 - 谓语 - 宾语&lt;/Text&gt;&#10;          &lt;Text style={{ fontSize: 14, color: '#DCE7F5', lineHeight: 1.6 }}&gt;如「用户 - 拥有 - 订单」，用最简结构描述世界的关系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lock' style={{ fill: '#22D3EE', width: 26, height: 26 }} /&gt;&#10;        &lt;/Box&gt;&#10;        &lt;Box style={{ flex: 1 }}&gt;&#10;          &lt;Text style={{ fontSize: 18, fontWeight: 'bold', color: '#16263F', marginBottom: 6 }}&gt;本体绑定 = 权限边界&lt;/Text&gt;&#10;          &lt;Text style={{ fontSize: 14, color: '#5B6B7A', lineHeight: 1.6 }}&gt;谁有权访问哪类实体，绑定在本体上，越界即拦截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rocket' style={{ fill: '#22D3EE', width: 26, height: 26 }} /&gt;&#10;        &lt;/Box&gt;&#10;        &lt;Box style={{ flex: 1 }}&gt;&#10;          &lt;Text style={{ fontSize: 18, fontWeight: 'bold', color: '#16263F', marginBottom: 6 }}&gt;Demo 用 RAG，规模化才上本体&lt;/Text&gt;&#10;          &lt;Text style={{ fontSize: 14, color: '#5B6B7A', lineHeight: 1.6 }}&gt;小项目检索够用；多系统协作到一定规模，本体才是地基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ONTOLOGY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Ontology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语义地基：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让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说「同一种话」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2733675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跨系统协作时，各说各话、词义打架。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本体（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Ontology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）统一词汇与关系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，是语义层面的「共同字典」。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三元组：主语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 -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谓语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 -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宾语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如「用户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-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拥有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-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订单」，用最简结构描述世界的关系。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本体绑定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=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权限边界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谁有权访问哪类实体，绑定在本体上，越界即拦截。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Demo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用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RAG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，规模化才上本体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小项目检索够用；多系统协作到一定规模，本体才是地基。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0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ULTIMODAL + STRUCTURED&lt;/Text&gt;&#10;    &lt;Text style={{ fontSize: 34, color: '#16263F', fontWeight: 'bold', marginBottom: 24 }}&gt;多模态与结构化输出：打通 AI 的「进出两端」&lt;/Text&gt;&#10;    &lt;Box style={{ width: 56, height: 4, background: '#22D3EE', marginBottom: 26 }} /&gt;&#10;&#10;    &lt;Box style={{ flexDirection: 'row', gap: 28, flex: 1 }}&gt;&#10;      &lt;Box style={{ flex: 1, flexDirection: 'column', gap: 16, justifyContent: 'center' }}&gt;&#10;        &lt;Box style={{ background: '#FFFFFF', borderRadius: 12, padding: '20px 24px', boxShadow: '0 2px 12px rgba(22,38,63,0.06)' }}&gt;&#10;          &lt;Box style={{ flexDirection: 'row', alignItems: 'center', gap: 10, marginBottom: 10 }}&gt;&#10;            &lt;FAIcon name='image' style={{ fill: '#22D3EE', width: 24, height: 24 }} /&gt;&#10;            &lt;Text style={{ fontSize: 18, fontWeight: 'bold', color: '#16263F' }}&gt;多模态 · 打通输入端&lt;/Text&gt;&#10;          &lt;/Box&gt;&#10;          &lt;Text style={{ fontSize: 14, color: '#5B6B7A', lineHeight: 1.8 }}&gt;图、音、视频都能「看懂」，AI 不再只吃文字。&lt;/Text&gt;&#10;        &lt;/Box&gt;&#10;        &lt;Box style={{ background: '#16263F', borderRadius: 12, padding: '20px 24px' }}&gt;&#10;          &lt;Box style={{ flexDirection: 'row', alignItems: 'center', gap: 10, marginBottom: 10 }}&gt;&#10;            &lt;FAIcon name='code' style={{ fill: '#FF9F1C', width: 24, height: 24 }} /&gt;&#10;            &lt;Text style={{ fontSize: 18, fontWeight: 'bold', color: '#FFFFFF' }}&gt;json_schema · 打通输出端&lt;/Text&gt;&#10;          &lt;/Box&gt;&#10;          &lt;Text style={{ fontSize: 14, color: '#DCE7F5', lineHeight: 1.8 }}&gt;约束输出为结构化 JSON，直接进系统，不用再解析「人话」。&lt;/Text&gt;&#10;        &lt;/Box&gt;&#10;      &lt;/Box&gt;&#10;&#10;      &lt;Box style={{ flex: 1, background: '#FFFFFF', borderRadius: 14, padding: '26px 26px', boxShadow: '0 2px 12px rgba(22,38,63,0.06)' }}&gt;&#10;        &lt;Text style={{ fontSize: 18, fontWeight: 'bold', color: '#16263F', marginBottom: 16 }}&gt;场景：发票识别&lt;/Text&gt;&#10;        &lt;Box style={{ flexDirection: 'column', gap: 12 }}&gt;&#10;          &lt;Box style={{ background: '#F5F7FA', borderRadius: 10, padding: '14px 18px' }}&gt;&#10;            &lt;Text style={{ fontSize: 13, color: '#5B6B7A', marginBottom: 4 }}&gt;输入&lt;/Text&gt;&#10;            &lt;Text style={{ fontSize: 15, color: '#16263F', fontWeight: 'bold' }}&gt;一张发票照片（图像）&lt;/Text&gt;&#10;          &lt;/Box&gt;&#10;          &lt;Box style={{ justifyContent: 'center', alignItems: 'center', padding: 4 }}&gt;&#10;            &lt;FAIcon name='arrow-down' style={{ fill: '#FF9F1C', width: 20, height: 20 }} /&gt;&#10;          &lt;/Box&gt;&#10;          &lt;Box style={{ background: '#16263F', borderRadius: 10, padding: '14px 18px' }}&gt;&#10;            &lt;Text style={{ fontSize: 13, color: '#22D3EE', marginBottom: 6 }}&gt;输出（json_schema 约束）&lt;/Text&gt;&#10;            &lt;Text style={{ fontSize: 13, color: '#DCE7F5', fontFamily: '&quot;JetBrains Mono&quot;, monospace', lineHeight: 1.8 }}&gt;&#10;              {`{&quot;amount&quot;: 1280.00, &quot;date&quot;: &quot;2026-08-01&quot;, &quot;seller&quot;: &quot;XX公司&quot;}`}&#10;            &lt;/Text&gt;&#10;          &lt;/Box&gt;&#10;        &lt;/Box&gt;&#10;        &lt;Box style={{ marginTop: 16, background: '#DCE7F5', borderRadius: 8, padding: '12px 16px' }}&gt;&#10;          &lt;Text style={{ fontSize: 13, color: '#16263F', fontWeight: 'bold' }}&gt;从「看懂图」到「吐出可用数据」，一步到位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MULTIMODAL + STRUCTURED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多模态与结构化输出：打通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的「进出两端」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571500" y="2924175"/>
            <a:ext cx="53911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3114675"/>
            <a:ext cx="228600" cy="2286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3950" y="312420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多模态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打通输入端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49339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图、音、视频都能「看懂」，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不再只吃文字。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71500" y="4076700"/>
            <a:ext cx="5391150" cy="1000125"/>
          </a:xfrm>
          <a:prstGeom prst="roundRect">
            <a:avLst>
              <a:gd name="adj" fmla="val 11429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4267200"/>
            <a:ext cx="228600" cy="22860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23950" y="4276725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json_schema ·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打通输出端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4591050"/>
            <a:ext cx="49339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约束输出为结构化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JSON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，直接进系统，不用再解析「人话」。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229350" y="1333500"/>
            <a:ext cx="5391150" cy="533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77000" y="1581150"/>
            <a:ext cx="489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场景：发票识别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477000" y="1943100"/>
            <a:ext cx="4895850" cy="628650"/>
          </a:xfrm>
          <a:prstGeom prst="roundRect">
            <a:avLst>
              <a:gd name="adj" fmla="val 1515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48450" y="2076450"/>
            <a:ext cx="455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输入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648450" y="22669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一张发票照片（图像）</a:t>
            </a:r>
            <a:endParaRPr/>
          </a:p>
        </p:txBody>
      </p:sp>
      <p:pic>
        <p:nvPicPr>
          <p:cNvPr id="1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829675" y="2724150"/>
            <a:ext cx="190500" cy="190500"/>
          </a:xfrm>
          <a:prstGeom prst="rect">
            <a:avLst/>
          </a:prstGeom>
          <a:ln/>
        </p:spPr>
      </p:pic>
      <p:sp>
        <p:nvSpPr>
          <p:cNvPr id="199" name=""/>
          <p:cNvSpPr/>
          <p:nvPr/>
        </p:nvSpPr>
        <p:spPr>
          <a:xfrm rot="0" flipH="0" flipV="0">
            <a:off x="6477000" y="3067050"/>
            <a:ext cx="4895850" cy="752475"/>
          </a:xfrm>
          <a:prstGeom prst="roundRect">
            <a:avLst>
              <a:gd name="adj" fmla="val 12658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48450" y="3200400"/>
            <a:ext cx="455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思源黑体"/>
                <a:ea typeface="思源黑体"/>
              </a:rPr>
              <a:t>输出（</a:t>
            </a:r>
            <a:r>
              <a:rPr lang="en-US" sz="975">
                <a:solidFill>
                  <a:srgbClr val="22D3EE"/>
                </a:solidFill>
                <a:latin typeface="思源黑体"/>
                <a:ea typeface="思源黑体"/>
              </a:rPr>
              <a:t>json_schema </a:t>
            </a:r>
            <a:r>
              <a:rPr lang="zh-CN" sz="975">
                <a:solidFill>
                  <a:srgbClr val="22D3EE"/>
                </a:solidFill>
                <a:latin typeface="思源黑体"/>
                <a:ea typeface="思源黑体"/>
              </a:rPr>
              <a:t>约束）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648450" y="3409950"/>
            <a:ext cx="45529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{"amount": 1280.00, "date": "2026-08-01", "seller": "XX</a:t>
            </a:r>
            <a:r>
              <a:rPr lang="zh-CN" sz="975">
                <a:solidFill>
                  <a:srgbClr val="DCE7F5"/>
                </a:solidFill>
                <a:latin typeface="JetBrains Mono"/>
                <a:ea typeface="JetBrains Mono"/>
              </a:rPr>
              <a:t>公司</a:t>
            </a: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"}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477000" y="3971925"/>
            <a:ext cx="4895850" cy="381000"/>
          </a:xfrm>
          <a:prstGeom prst="roundRect">
            <a:avLst>
              <a:gd name="adj" fmla="val 20000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629400" y="4086225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263F"/>
                </a:solidFill>
                <a:latin typeface="思源黑体"/>
                <a:ea typeface="思源黑体"/>
              </a:rPr>
              <a:t>从「看懂图」到「吐出可用数据」，一步到位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6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DOMESTIC COMPUTING&lt;/Text&gt;&#10;      &lt;Text style={{ fontSize: 34, color: '#16263F', fontWeight: 'bold', lineHeight: 1.35, marginBottom: 24 }}&gt;&#10;        国产算力与生态：&lt;br /&gt;不再只有一条路&#10;      &lt;/Text&gt;&#10;      &lt;Box style={{ width: 56, height: 4, background: '#22D3EE', marginBottom: 24 }} /&gt;&#10;      &lt;Text style={{ fontSize: 16, color: '#5B6B7A', lineHeight: 1.7 }}&gt;&#10;        算力是 AI 的「发动机」。&lt;span style={{ fontWeight: 'bold', color: '#16263F' }}&gt;国产 NPU 与自研算子&lt;/span&gt;正在打破对单一生态的依赖，多一条路就多一分主动权。&#10;      &lt;/Text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microchip' style={{ fill: '#22D3EE', width: 26, height: 26 }} /&gt;&#10;        &lt;/Box&gt;&#10;        &lt;Box style={{ flex: 1 }}&gt;&#10;          &lt;Text style={{ fontSize: 18, fontWeight: 'bold', color: '#16263F', marginBottom: 6 }}&gt;昇腾 NPU&lt;/Text&gt;&#10;          &lt;Text style={{ fontSize: 14, color: '#5B6B7A', lineHeight: 1.6 }}&gt;华为昇腾系列国产 AI 芯片，为模型推理提供自主算力底座。&lt;/Text&gt;&#10;        &lt;/Box&gt;&#10;      &lt;/Box&gt;&#10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cogs' style={{ fill: '#FF9F1C', width: 26, height: 26 }} /&gt;&#10;        &lt;/Box&gt;&#10;        &lt;Box style={{ flex: 1 }}&gt;&#10;          &lt;Text style={{ fontSize: 18, fontWeight: 'bold', color: '#FFFFFF', marginBottom: 6 }}&gt;Triton 自研算子，脱离 CUDA&lt;/Text&gt;&#10;          &lt;Text style={{ fontSize: 14, color: '#DCE7F5', lineHeight: 1.6 }}&gt;DeepSeek 用自研算子跑在非英伟达硬件上，摆脱对 CUDA 的绑定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leaf' style={{ fill: '#22D3EE', width: 26, height: 26 }} /&gt;&#10;        &lt;/Box&gt;&#10;        &lt;Box style={{ flex: 1 }}&gt;&#10;          &lt;Text style={{ fontSize: 18, fontWeight: 'bold', color: '#16263F', marginBottom: 6 }}&gt;国产模型生态&lt;/Text&gt;&#10;          &lt;Text style={{ fontSize: 14, color: '#5B6B7A', lineHeight: 1.6 }}&gt;开源模型 + 国产芯片 + 本地部署，一条完整自主链路正在成型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DOMESTIC COMPUTING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国产算力与生态：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不再只有一条路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算力是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的「发动机」。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国产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NPU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与自研算子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正在打破对单一生态的依赖，多一条路就多一分主动权。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昇腾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NPU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华为昇腾系列国产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芯片，为模型推理提供自主算力底座。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Triton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自研算子，脱离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 CUDA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DeepSeek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用自研算子跑在非英伟达硬件上，摆脱对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CUDA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的绑定。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国产模型生态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开源模型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国产芯片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本地部署，一条完整自主链路正在成型。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9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AI SAFETY &amp; ETHICS&lt;/Text&gt;&#10;      &lt;Text style={{ fontSize: 34, color: '#16263F', fontWeight: 'bold', lineHeight: 1.35, marginBottom: 24 }}&gt;&#10;        AI 安全与伦理：&lt;br /&gt;能力越大，责任越大&#10;      &lt;/Text&gt;&#10;      &lt;Box style={{ width: 56, height: 4, background: '#22D3EE', marginBottom: 24 }} /&gt;&#10;      &lt;Text style={{ fontSize: 16, color: '#5B6B7A', lineHeight: 1.7 }}&gt;&#10;        模型越强，滥用风险越高。&lt;span style={{ fontWeight: 'bold', color: '#16263F' }}&gt;注入攻击、隐私泄露、偏见放大&lt;/span&gt;——三大隐患必须在设计之初就防。&#10;      &lt;/Text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shield' style={{ fill: '#22D3EE', width: 26, height: 26 }} /&gt;&#10;        &lt;/Box&gt;&#10;        &lt;Box style={{ flex: 1 }}&gt;&#10;          &lt;Text style={{ fontSize: 18, fontWeight: 'bold', color: '#16263F', marginBottom: 6 }}&gt;注入攻击 / 隐私 / 偏见&lt;/Text&gt;&#10;          &lt;Text style={{ fontSize: 14, color: '#5B6B7A', lineHeight: 1.6 }}&gt;提示词注入、敏感数据外泄、模型偏见——三大风险要设防。&lt;/Text&gt;&#10;        &lt;/Box&gt;&#10;      &lt;/Box&gt;&#10;&#10;      &lt;Box style={{ flexDirection: 'row', gap: 16, background: '#16263F', borderRadius: 12, padding: '20px 24px' }}&gt;&#10;        &lt;Box style={{ width: 52, height: 52, borderRadius: 13, background: 'rgba(255,159,28,0.15)', justifyContent: 'center', alignItems: 'center' }}&gt;&#10;          &lt;FAIcon name='filter' style={{ fill: '#FF9F1C', width: 26, height: 26 }} /&gt;&#10;        &lt;/Box&gt;&#10;        &lt;Box style={{ flex: 1 }}&gt;&#10;          &lt;Text style={{ fontSize: 18, fontWeight: 'bold', color: '#FFFFFF', marginBottom: 6 }}&gt;Moderation API&lt;/Text&gt;&#10;          &lt;Text style={{ fontSize: 14, color: '#DCE7F5', lineHeight: 1.6 }}&gt;输入输出都过一道内容审核，把有害内容拦在门外。&lt;/Text&gt;&#10;        &lt;/Box&gt;&#10;      &lt;/Box&gt;&#10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lock' style={{ fill: '#22D3EE', width: 26, height: 26 }} /&gt;&#10;        &lt;/Box&gt;&#10;        &lt;Box style={{ flex: 1 }}&gt;&#10;          &lt;Text style={{ fontSize: 18, fontWeight: 'bold', color: '#16263F', marginBottom: 6 }}&gt;数据不出门&lt;/Text&gt;&#10;          &lt;Text style={{ fontSize: 14, color: '#5B6B7A', lineHeight: 1.6 }}&gt;敏感场景走本地部署或私有化，从物理上守住数据边界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AI SAFETY &amp; ETHICS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安全与伦理：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能力越大，责任越大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模型越强，滥用风险越高。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注入攻击、隐私泄露、偏见放大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——三大隐患必须在设计之初就防。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381500" y="192405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610100" y="21145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38375"/>
            <a:ext cx="247650" cy="2476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257800" y="21145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注入攻击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/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隐私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/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偏见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257800" y="2381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提示词注入、敏感数据外泄、模型偏见——三大风险要设防。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381500" y="2981325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4610100" y="3171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95650"/>
            <a:ext cx="247650" cy="247650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257800" y="317182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Moderation API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输入输出都过一道内容审核，把有害内容拦在门外。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381500" y="4038600"/>
            <a:ext cx="723900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数据不出门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257800" y="449580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敏感场景走本地部署或私有化，从物理上守住数据边界。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FUTURE&lt;/Text&gt;&#10;      &lt;Text style={{ fontSize: 34, color: '#16263F', fontWeight: 'bold', lineHeight: 1.35, marginBottom: 24 }}&gt;&#10;        未来展望：&lt;br /&gt;框架上移，人往上走&#10;      &lt;/Text&gt;&#10;      &lt;Box style={{ width: 56, height: 4, background: '#22D3EE', marginBottom: 24 }} /&gt;&#10;      &lt;Text style={{ fontSize: 16, color: '#5B6B7A', lineHeight: 1.7 }}&gt;&#10;        Harness 不会消失，只会&lt;span style={{ fontWeight: 'bold', color: '#16263F' }}&gt;越做越厚、越包越多&lt;/span&gt;；工程师的战场从「写代码」上移到「驾驭 AI」。&#10;      &lt;/Text&gt;&#10;    &lt;/Box&gt;&#10;&#10;    &lt;Box style={{ flex: 1, flexDirection: 'column', gap: 16, justifyContent: 'center' }}&gt;&#10;      &lt;Box style={{ background: '#16263F', borderRadius: 12, padding: '20px 24px' }}&gt;&#10;        &lt;Text style={{ fontSize: 18, fontWeight: 'bold', color: '#FFFFFF', marginBottom: 10 }}&gt;Harness 只会上移&lt;/Text&gt;&#10;        &lt;Box style={{ flexDirection: 'row', flexWrap: 'wrap', gap: 10 }}&gt;&#10;          {['自适应', '多模型', '记忆', '可观测'].map((item, idx) =&gt; (&#10;            &lt;Box key={idx} style={{ background: 'rgba(255,255,255,0.1)', borderRadius: 8, padding: '8px 14px' }}&gt;&#10;              &lt;Text style={{ fontSize: 13, color: '#DCE7F5' }}&gt;{item}&lt;/Text&gt;&#10;            &lt;/Box&gt;&#10;          ))}&#10;        &lt;/Box&gt;&#10;        &lt;Text style={{ fontSize: 14, color: '#DCE7F5', lineHeight: 1.7, marginTop: 12 }}&gt;底层能力被框架吸收，开发者站到更高的抽象层。&lt;/Text&gt;&#10;      &lt;/Box&gt;&#10;&#10;      &lt;Box style={{ flexDirection: 'row', gap: 16 }}&gt;&#10;        &lt;Box style={{ flex: 1, background: '#FFFFFF', borderRadius: 12, padding: '18px 20px', boxShadow: '0 2px 12px rgba(22,38,63,0.06)' }}&gt;&#10;          &lt;FAIcon name='user-cog' style={{ fill: '#22D3EE', width: 24, height: 24, marginBottom: 10 }} /&gt;&#10;          &lt;Text style={{ fontSize: 16, fontWeight: 'bold', color: '#16263F', marginBottom: 6 }}&gt;角色转变&lt;/Text&gt;&#10;          &lt;Text style={{ fontSize: 13, color: '#5B6B7A', lineHeight: 1.6 }}&gt;从写代码，到定义规范、评审、驾驭 AI&lt;/Text&gt;&#10;        &lt;/Box&gt;&#10;        &lt;Box style={{ flex: 1, background: '#FFFFFF', borderRadius: 12, padding: '18px 20px', boxShadow: '0 2px 12px rgba(22,38,63,0.06)' }}&gt;&#10;          &lt;FAIcon name='users' style={{ fill: '#22D3EE', width: 24, height: 24, marginBottom: 10 }} /&gt;&#10;          &lt;Text style={{ fontSize: 16, fontWeight: 'bold', color: '#16263F', marginBottom: 6 }}&gt;多智能体成主流&lt;/Text&gt;&#10;          &lt;Text style={{ fontSize: 13, color: '#5B6B7A', lineHeight: 1.6 }}&gt;分工协作的 Agent 团队成为常态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10 讲&lt;/Text&gt;&#10;    &lt;Text style={{ fontSize: 14, color: '#5B6B7A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FUTURE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未来展望：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框架上移，人往上走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Harness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不会消失，只会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越做越厚、越包越多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；工程师的战场从「写代码」上移到「驾驭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AI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」。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381500" y="2085975"/>
            <a:ext cx="7239000" cy="1381125"/>
          </a:xfrm>
          <a:prstGeom prst="roundRect">
            <a:avLst>
              <a:gd name="adj" fmla="val 8276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610100" y="2276475"/>
            <a:ext cx="678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Harness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只会上移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610100" y="2581275"/>
            <a:ext cx="647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743450" y="26574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自适应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353050" y="2581275"/>
            <a:ext cx="647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486400" y="26574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多模型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0" y="2581275"/>
            <a:ext cx="5238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229350" y="26574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记忆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715125" y="2581275"/>
            <a:ext cx="647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48475" y="26574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可观测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610100" y="3000375"/>
            <a:ext cx="67818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底层能力被框架吸收，开发者站到更高的抽象层。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381500" y="3619500"/>
            <a:ext cx="35433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72000" y="3790950"/>
            <a:ext cx="228600" cy="2286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572000" y="4114800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角色转变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572000" y="4362450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从写代码，到定义规范、评审、驾驭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AI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077200" y="3619500"/>
            <a:ext cx="35433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67700" y="3790950"/>
            <a:ext cx="228600" cy="2286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267700" y="4114800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多智能体成主流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267700" y="4362450"/>
            <a:ext cx="31623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分工协作的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团队成为常态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9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SERIES FINALE · 系列收官&lt;/Text&gt;&#10;    &lt;Text style={{ fontSize: 38, color: '#FFFFFF', fontWeight: 'bold', marginBottom: 26 }}&gt;从零到驾驭：M1 → M2 → M3 一路串起来&lt;/Text&gt;&#10;&#10;    &lt;Box style={{ flexDirection: 'row', gap: 20, marginBottom: 26 }}&gt;&#10;      &lt;Box style={{ flex: 1, background: 'rgba(255,255,255,0.07)', border: '1px solid rgba(220,231,245,0.2)', borderRadius: 14, padding: '22px 22px' }}&gt;&#10;        &lt;Text style={{ fontSize: 14, color: '#FF9F1C', fontWeight: 'bold', marginBottom: 10 }}&gt;M1 · 基础&lt;/Text&gt;&#10;        &lt;Text style={{ fontSize: 17, fontWeight: 'bold', color: '#FFFFFF', marginBottom: 8 }}&gt;认识并跑起 AI&lt;/Text&gt;&#10;        &lt;Text style={{ fontSize: 13, color: '#DCE7F5', lineHeight: 1.8 }}&gt;大模型原理 · 提示词&lt;br /&gt;环境部署 · 本地模型&lt;/Text&gt;&#10;      &lt;/Box&gt;&#10;      &lt;Box style={{ flex: 1, background: 'rgba(255,255,255,0.07)', border: '1px solid rgba(220,231,245,0.2)', borderRadius: 14, padding: '22px 22px' }}&gt;&#10;        &lt;Text style={{ fontSize: 14, color: '#FF9F1C', fontWeight: 'bold', marginBottom: 10 }}&gt;M2 · 应用&lt;/Text&gt;&#10;        &lt;Text style={{ fontSize: 17, fontWeight: 'bold', color: '#FFFFFF', marginBottom: 8 }}&gt;让 AI 真正干活&lt;/Text&gt;&#10;        &lt;Text style={{ fontSize: 13, color: '#DCE7F5', lineHeight: 1.8 }}&gt;RAG 检索增强&lt;br /&gt;Agent 运行机制 Loop&lt;/Text&gt;&#10;      &lt;/Box&gt;&#10;      &lt;Box style={{ flex: 1, background: 'rgba(255,159,28,0.12)', border: '1px solid rgba(255,159,28,0.3)', borderRadius: 14, padding: '22px 22px' }}&gt;&#10;        &lt;Text style={{ fontSize: 14, color: '#FF9F1C', fontWeight: 'bold', marginBottom: 10 }}&gt;M3 · 工程化&lt;/Text&gt;&#10;        &lt;Text style={{ fontSize: 17, fontWeight: 'bold', color: '#FF9F1C', marginBottom: 8 }}&gt;驯服并驾驭 AI&lt;/Text&gt;&#10;        &lt;Text style={{ fontSize: 13, color: '#DCE7F5', lineHeight: 1.8 }}&gt;Harness · 评测 · 安全&lt;br /&gt;AI 编程 · 前沿趋势&lt;/Text&gt;&#10;      &lt;/Box&gt;&#10;    &lt;/Box&gt;&#10;&#10;    &lt;Box style={{ background: 'rgba(255,159,28,0.12)', border: '1px solid rgba(255,159,28,0.3)', borderRadius: 14, padding: '20px 26px', marginBottom: 14 }}&gt;&#10;      &lt;Text style={{ fontSize: 17, fontWeight: 'bold', color: '#FF9F1C', marginBottom: 8 }}&gt;动手练习 · 收官挑战&lt;/Text&gt;&#10;      &lt;Text style={{ fontSize: 14, color: '#DCE7F5', lineHeight: 1.8 }}&gt;&#10;        挑一个真实小需求，独立完成：Spec 驱动写规格 → Agent Loop 实现 → 加评测与安全防线，截图存档。&#10;      &lt;/Text&gt;&#10;    &lt;/Box&gt;&#10;&#10;    &lt;Box style={{ background: 'rgba(255,255,255,0.06)', borderRadius: 12, padding: '16px 24px' }}&gt;&#10;      &lt;Text style={{ fontSize: 14, color: '#DCE7F5', lineHeight: 1.9 }}&gt;&#10;        自测 3 题：Agent Loop 四步循环？Harness 六大组件？2026 三足鼎立是哪三家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1500" y="12192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SERIES FINALE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系列收官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71500" y="1514475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从零到驾驭：</a:t>
            </a:r>
            <a:r>
              <a:rPr lang="en-US" sz="2850" b="1">
                <a:solidFill>
                  <a:srgbClr val="FFFFFF"/>
                </a:solidFill>
                <a:latin typeface="思源黑体"/>
                <a:ea typeface="思源黑体"/>
              </a:rPr>
              <a:t>M1 → M2 → M3 </a:t>
            </a:r>
            <a:r>
              <a:rPr lang="zh-CN" sz="2850" b="1">
                <a:solidFill>
                  <a:srgbClr val="FFFFFF"/>
                </a:solidFill>
                <a:latin typeface="思源黑体"/>
                <a:ea typeface="思源黑体"/>
              </a:rPr>
              <a:t>一路串起来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2200275"/>
            <a:ext cx="3552825" cy="1495425"/>
          </a:xfrm>
          <a:prstGeom prst="roundRect">
            <a:avLst>
              <a:gd name="adj" fmla="val 891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M1 ·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基础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2667000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认识并跑起</a:t>
            </a: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 AI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3133725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大模型原理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提示词</a:t>
            </a:r>
            <a:endParaRPr/>
          </a:p>
          <a:p>
            <a:pPr>
              <a:lnSpc>
                <a:spcPct val="18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环境部署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本地模型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314825" y="2200275"/>
            <a:ext cx="3562350" cy="1495425"/>
          </a:xfrm>
          <a:prstGeom prst="roundRect">
            <a:avLst>
              <a:gd name="adj" fmla="val 891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24375" y="24098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M2 ·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应用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524375" y="2667000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让</a:t>
            </a: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 AI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真正干活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524375" y="2943225"/>
            <a:ext cx="31432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RAG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检索增强</a:t>
            </a:r>
            <a:endParaRPr/>
          </a:p>
          <a:p>
            <a:pPr>
              <a:lnSpc>
                <a:spcPct val="18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Agent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运行机制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Loop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8067675" y="2200275"/>
            <a:ext cx="3552825" cy="1495425"/>
          </a:xfrm>
          <a:prstGeom prst="roundRect">
            <a:avLst>
              <a:gd name="adj" fmla="val 8917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277225" y="24098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M3 ·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工程化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277225" y="2667000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驯服并驾驭</a:t>
            </a:r>
            <a:r>
              <a:rPr lang="en-US" sz="1275" b="1">
                <a:solidFill>
                  <a:srgbClr val="FF9F1C"/>
                </a:solidFill>
                <a:latin typeface="思源黑体"/>
                <a:ea typeface="思源黑体"/>
              </a:rPr>
              <a:t> AI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277225" y="2943225"/>
            <a:ext cx="3133725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Harness ·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评测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安全</a:t>
            </a:r>
            <a:endParaRPr/>
          </a:p>
          <a:p>
            <a:pPr>
              <a:lnSpc>
                <a:spcPct val="18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AI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编程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前沿趋势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71500" y="3943350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19150" y="41338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r>
              <a:rPr lang="en-US" sz="1275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收官挑战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105537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挑一个真实小需求，独立完成：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Spec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驱动写规格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Agent Loop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实现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加评测与安全防线，截图存档。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50292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5181600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Agent Loop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四步循环？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Harness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六大组件？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2026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三足鼎立是哪三家？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2026-08-13T21:42:48Z</dcterms:created>
  <dcterms:modified xsi:type="dcterms:W3CDTF">2026-08-13T21:42:48Z</dcterms:modified>
</cp:coreProperties>
</file>