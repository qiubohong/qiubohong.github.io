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6" Type="http://schemas.openxmlformats.org/officeDocument/2006/relationships/viewProps" Target="viewProps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8.svg" /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2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2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2 讲&lt;/Text&gt;&#10;    &lt;Text style={{ fontSize: 52, color: '#FFFFFF', fontWeight: 'bold', lineHeight: 1.25, marginBottom: 20 }}&gt;&#10;      环境准备与&lt;br /&gt;本地大模型部署&#10;    &lt;/Text&gt;&#10;    &lt;Box style={{ width: 80, height: 4, background: '#FF9F1C', marginBottom: 28 }} /&gt;&#10;    &lt;Text style={{ fontSize: 22, color: '#DCE7F5', lineHeight: 1.6 }}&gt;&#10;      在本地跑起属于自己的 AI：免费、可控、数据不出门&#10;    &lt;/Text&gt;&#10;    &lt;Text style={{ fontSize: 15, color: '#8FA4B8', marginTop: 36 }}&gt;&#10;      学完能独立完成 Python 环境 + Ollama 部署 + Dify 对话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2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环境准备与</a:t>
            </a:r>
            <a:endParaRPr/>
          </a:p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本地大模型部署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259080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在本地跑起属于自己的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AI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：免费、可控、数据不出门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36480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学完能独立完成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Python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环境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+ Ollama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部署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+ Dify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对话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3" name="" descr="&lt;Slide&#10;  style={{&#10;    width: '1280px', height: '720px',&#10;    background: '#F5F7FA',&#10;    padding: '20px 60px',&#10;    fontFamily: '&quot;思源黑体&quot;, sans-serif',&#10;  }}&#10;&gt;&#10;  &lt;Box style={{ flexDirection: 'row', width: '100%', height: '100%', gap: 40 }}&gt;&#10;    &lt;Box style={{ width: 360, paddingTop: 20 }}&gt;&#10;      &lt;Text style={{ fontSize: 14, color: '#FF9F1C', fontWeight: 'bold', letterSpacing: 2, marginBottom: 12 }}&gt;WHY LOCAL&lt;/Text&gt;&#10;      &lt;Text style={{ fontSize: 34, color: '#16263F', fontWeight: 'bold', lineHeight: 1.35, marginBottom: 24 }}&gt;&#10;        为什么需要&lt;br /&gt;本地大模型&#10;      &lt;/Text&gt;&#10;      &lt;Box style={{ width: 56, height: 4, background: '#22D3EE', marginBottom: 24 }} /&gt;&#10;      &lt;Text style={{ fontSize: 16, color: '#5B6B7A', lineHeight: 1.7 }}&gt;&#10;        本地不是替代云，而是多一种选择——&lt;span style={{ fontWeight: 'bold', color: '#16263F' }}&gt;免费、可控、隐私&lt;/span&gt;三大理由，让开发者愿意自建。&#10;      &lt;/Text&gt;&#10;    &lt;/Box&gt;&#10;&#10;    &lt;Box style={{ flex: 1, flexDirection: 'column', gap: 20, justifyContent: 'center' }}&gt;&#10;      &lt;Box style={{ flexDirection: 'row', gap: 16, background: '#FFFFFF', borderRadius: 12, padding: '22px 26px', boxShadow: '0 2px 12px rgba(22,38,63,0.06)' }}&gt;&#10;        &lt;Box style={{ width: 56, height: 56, borderRadius: 14, background: '#EAF2FB', justifyContent: 'center', alignItems: 'center' }}&gt;&#10;          &lt;FAIcon name='dollar' style={{ fill: '#22D3EE', width: 28, height: 28 }} /&gt;&#10;        &lt;/Box&gt;&#10;        &lt;Box style={{ flex: 1 }}&gt;&#10;          &lt;Text style={{ fontSize: 20, fontWeight: 'bold', color: '#16263F', marginBottom: 6 }}&gt;免费&lt;/Text&gt;&#10;          &lt;Text style={{ fontSize: 15, color: '#5B6B7A' }}&gt;不按 API 计费 · 调用次数无限制&lt;/Text&gt;&#10;        &lt;/Box&gt;&#10;      &lt;/Box&gt;&#10;      &lt;Box style={{ flexDirection: 'row', gap: 16, background: '#FFFFFF', borderRadius: 12, padding: '22px 26px', boxShadow: '0 2px 12px rgba(22,38,63,0.06)' }}&gt;&#10;        &lt;Box style={{ width: 56, height: 56, borderRadius: 14, background: '#EAF2FB', justifyContent: 'center', alignItems: 'center' }}&gt;&#10;          &lt;FAIcon name='cog' style={{ fill: '#22D3EE', width: 28, height: 28 }} /&gt;&#10;        &lt;/Box&gt;&#10;        &lt;Box style={{ flex: 1 }}&gt;&#10;          &lt;Text style={{ fontSize: 20, fontWeight: 'bold', color: '#16263F', marginBottom: 6 }}&gt;可控&lt;/Text&gt;&#10;          &lt;Text style={{ fontSize: 15, color: '#5B6B7A' }}&gt;自己掌控模型与调用 · 不受厂商限流&lt;/Text&gt;&#10;        &lt;/Box&gt;&#10;      &lt;/Box&gt;&#10;      &lt;Box style={{ flexDirection: 'row', gap: 16, background: '#FFFFFF', borderRadius: 12, padding: '22px 26px', boxShadow: '0 2px 12px rgba(22,38,63,0.06)' }}&gt;&#10;        &lt;Box style={{ width: 56, height: 56, borderRadius: 14, background: '#EAF2FB', justifyContent: 'center', alignItems: 'center' }}&gt;&#10;          &lt;FAIcon name='lock' style={{ fill: '#22D3EE', width: 28, height: 28 }} /&gt;&#10;        &lt;/Box&gt;&#10;        &lt;Box style={{ flex: 1 }}&gt;&#10;          &lt;Text style={{ fontSize: 20, fontWeight: 'bold', color: '#16263F', marginBottom: 6 }}&gt;隐私&lt;/Text&gt;&#10;          &lt;Text style={{ fontSize: 15, color: '#5B6B7A' }}&gt;数据不出门 · 企业敏感信息更安全&lt;/Text&gt;&#10;        &lt;/Box&gt;&#10;      &lt;/Box&gt;&#10;      &lt;Box style={{ background: '#16263F', borderRadius: 12, padding: '18px 26px', marginTop: 6 }}&gt;&#10;        &lt;Text style={{ fontSize: 15, color: '#FF9F1C', fontWeight: 'bold' }}&gt;&#10;          云 API 也要了解：DeepSeek V4-Flash 官方 API 仅 $0.14 / 百万 input token&#10;        &lt;/Text&gt;&#10;      &lt;/Box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WHY LOCAL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34290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为什么需要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本地大模型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71500" y="19431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429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本地不是替代云，而是多一种选择——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免费、可控、隐私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三大理由，让开发者愿意自建。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381500" y="1428750"/>
            <a:ext cx="7239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4629150" y="16383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0" y="1771650"/>
            <a:ext cx="266700" cy="26670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314950" y="1638300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免费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314950" y="1924050"/>
            <a:ext cx="605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不按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API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计费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调用次数无限制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4381500" y="2571750"/>
            <a:ext cx="7239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4629150" y="27813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762500" y="2914650"/>
            <a:ext cx="266700" cy="26670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314950" y="2781300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可控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14950" y="3067050"/>
            <a:ext cx="605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自己掌控模型与调用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不受厂商限流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81500" y="3714750"/>
            <a:ext cx="7239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629150" y="39243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62500" y="4057650"/>
            <a:ext cx="266700" cy="26670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14950" y="3924300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隐私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314950" y="4210050"/>
            <a:ext cx="6057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数据不出门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企业敏感信息更安全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381500" y="4914900"/>
            <a:ext cx="7239000" cy="514350"/>
          </a:xfrm>
          <a:prstGeom prst="roundRect">
            <a:avLst>
              <a:gd name="adj" fmla="val 22222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629150" y="5086350"/>
            <a:ext cx="674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云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 API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也要了解：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DeepSeek V4-Flash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官方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 API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仅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 $0.14 / 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百万</a:t>
            </a:r>
            <a:r>
              <a:rPr lang="en-US" sz="1125" b="1">
                <a:solidFill>
                  <a:srgbClr val="FF9F1C"/>
                </a:solidFill>
                <a:latin typeface="思源黑体"/>
                <a:ea typeface="思源黑体"/>
              </a:rPr>
              <a:t> input token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8" name="" descr="&lt;Slide&#10;  style={{&#10;    width: '1280px', height: '720px',&#10;    background: '#16263F',&#10;    padding: '20px 60px',&#10;    fontFamily: '&quot;思源黑体&quot;, sans-serif',&#10;  }}&#10;&gt;&#10;  &lt;Box style={{ flexDirection: 'column', height: '100%', justifyContent: 'center' }}&gt;&#10;    &lt;Text style={{ fontSize: 14, color: '#22D3EE', fontWeight: 'bold', letterSpacing: 3, marginBottom: 14 }}&gt;CHAPTER 01 · 环境准备&lt;/Text&gt;&#10;    &lt;Text style={{ fontSize: 44, color: '#FFFFFF', fontWeight: 'bold', marginBottom: 40 }}&gt;环境四件套，一条链路串起学习主线&lt;/Text&gt;&#10;&#10;    &lt;Box style={{ flexDirection: 'row', gap: 24 }}&gt;&#10;      {[&#10;        { n: '01', t: 'Python', d: 'Anaconda 发行版\nconda 管理环境' },&#10;        { n: '02', t: 'PyTorch', d: '深度学习框架\n本地推理依赖' },&#10;        { n: '03', t: 'Transformers', d: 'Hugging Face 库\n加载预训练模型' },&#10;        { n: '04', t: 'LangChain', d: 'LLM 应用框架\n后续实战主力' },&#10;      ].map((item, idx) =&gt; (&#10;        &lt;Box key={idx} style={{ flex: 1, background: 'rgba(255,255,255,0.06)', border: '1px solid rgba(220,231,245,0.15)', borderRadius: 12, padding: '26px 22px' }}&gt;&#10;          &lt;Text style={{ fontSize: 13, color: '#FF9F1C', fontWeight: 'bold', marginBottom: 10 }}&gt;{item.n}&lt;/Text&gt;&#10;          &lt;Text style={{ fontSize: 24, color: '#FFFFFF', fontWeight: 'bold', marginBottom: 14 }}&gt;{item.t}&lt;/Text&gt;&#10;          &lt;Text style={{ fontSize: 15, color: '#DCE7F5', lineHeight: 1.7, whiteSpace: 'pre-line' }}&gt;{item.d}&lt;/Text&gt;&#10;        &lt;/Box&gt;&#10;      ))}&#10;    &lt;/Box&gt;&#10;&#10;    &lt;Box style={{ marginTop: 40, flexDirection: 'row', alignItems: 'center', gap: 12 }}&gt;&#10;      &lt;FAIcon name='lightbulb' style={{ fill: '#FF9F1C', width: 20, height: 20 }} /&gt;&#10;      &lt;Text style={{ fontSize: 16, color: '#DCE7F5' }}&gt;&#10;        小白提示：建议用 Anaconda 统一管理，避免环境冲突&#10;      &lt;/Text&gt;&#10;    &lt;/Box&gt;&#10;  &lt;/Box&gt;&#10;  &lt;Box style={{ position: 'absolute', bottom: 14, left: 60, flexDirection: 'row', justifyContent: 'space-between', width: 'calc(100% - 120px)' }}&gt;&#10;    &lt;Text style={{ fontSize: 14, color: '#8FA4B8' }}&gt;AI 从零开始 · 第 2 讲&lt;/Text&gt;&#10;    &lt;Text style={{ fontSize: 14, color: '#8FA4B8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1500" y="16859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01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环境准备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1981200"/>
            <a:ext cx="110490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环境四件套，一条链路串起学习主线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571500" y="2867025"/>
            <a:ext cx="2590800" cy="1743075"/>
          </a:xfrm>
          <a:prstGeom prst="roundRect">
            <a:avLst>
              <a:gd name="adj" fmla="val 655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3114675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217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Python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1050" y="3771900"/>
            <a:ext cx="21717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Anaconda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发行版
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conda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管理环境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390900" y="2867025"/>
            <a:ext cx="2590800" cy="1743075"/>
          </a:xfrm>
          <a:prstGeom prst="roundRect">
            <a:avLst>
              <a:gd name="adj" fmla="val 655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600450" y="3114675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600450" y="3362325"/>
            <a:ext cx="217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PyTorch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600450" y="3771900"/>
            <a:ext cx="21717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深度学习框架
本地推理依赖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210300" y="2867025"/>
            <a:ext cx="2590800" cy="1743075"/>
          </a:xfrm>
          <a:prstGeom prst="roundRect">
            <a:avLst>
              <a:gd name="adj" fmla="val 655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419850" y="3114675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419850" y="3362325"/>
            <a:ext cx="217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Transformers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19850" y="3771900"/>
            <a:ext cx="21717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Hugging Face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库
加载预训练模型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9029700" y="2867025"/>
            <a:ext cx="2590800" cy="1743075"/>
          </a:xfrm>
          <a:prstGeom prst="roundRect">
            <a:avLst>
              <a:gd name="adj" fmla="val 655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239250" y="3114675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9F1C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239250" y="3362325"/>
            <a:ext cx="2171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LangChain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239250" y="3771900"/>
            <a:ext cx="21717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LLM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应用框架
后续实战主力</a:t>
            </a:r>
            <a:endParaRPr/>
          </a:p>
        </p:txBody>
      </p:sp>
      <p:pic>
        <p:nvPicPr>
          <p:cNvPr id="1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4991100"/>
            <a:ext cx="190500" cy="190500"/>
          </a:xfrm>
          <a:prstGeom prst="rect">
            <a:avLst/>
          </a:prstGeom>
          <a:ln/>
        </p:spPr>
      </p:pic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76300" y="49911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小白提示：建议用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Anaconda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统一管理，避免环境冲突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INSTALL PYTHON&lt;/Text&gt;&#10;    &lt;Text style={{ fontSize: 34, color: '#16263F', fontWeight: 'bold', marginBottom: 24 }}&gt;安装 Python：官网直装 or Anaconda（推荐）&lt;/Text&gt;&#10;    &lt;Box style={{ width: 56, height: 4, background: '#22D3EE', marginBottom: 28 }} /&gt;&#10;&#10;    &lt;Box style={{ flexDirection: 'row', gap: 28, flex: 1 }}&gt;&#10;      &lt;Box style={{ flex: 3, background: '#FFFFFF', borderRadius: 14, padding: '30px 32px', boxShadow: '0 2px 12px rgba(22,38,63,0.06)' }}&gt;&#10;        &lt;Box style={{ flexDirection: 'row', alignItems: 'center', gap: 12, marginBottom: 18 }}&gt;&#10;          &lt;FAIcon name='globe' style={{ fill: '#22D3EE', width: 26, height: 26 }} /&gt;&#10;          &lt;Text style={{ fontSize: 22, fontWeight: 'bold', color: '#16263F' }}&gt;方式一：官网直装&lt;/Text&gt;&#10;        &lt;/Box&gt;&#10;        &lt;Text style={{ fontSize: 17, color: '#1B2733', lineHeight: 1.9 }}&gt;&#10;          · python.org 下载安装包&lt;br /&gt;&#10;          · 勾选 Add to PATH&lt;br /&gt;&#10;          · 验证：python --version&#10;        &lt;/Text&gt;&#10;      &lt;/Box&gt;&#10;&#10;      &lt;Box style={{ flex: 4, background: '#16263F', borderRadius: 14, padding: '30px 32px' }}&gt;&#10;        &lt;Box style={{ flexDirection: 'row', alignItems: 'center', gap: 12, marginBottom: 18 }}&gt;&#10;          &lt;FAIcon name='star' style={{ fill: '#FF9F1C', width: 26, height: 26 }} /&gt;&#10;          &lt;Text style={{ fontSize: 22, fontWeight: 'bold', color: '#FFFFFF' }}&gt;方式二：Anaconda（推荐）&lt;/Text&gt;&#10;        &lt;/Box&gt;&#10;        &lt;Text style={{ fontSize: 17, color: '#DCE7F5', lineHeight: 1.9 }}&gt;&#10;          · 国内用清华源下载&lt;br /&gt;&#10;          · 内置 conda 环境管理&lt;br /&gt;&#10;          · 方便切换 Python 版本&#10;        &lt;/Text&gt;&#10;        &lt;Box style={{ marginTop: 18, background: 'rgba(255,255,255,0.08)', borderRadius: 8, padding: '12px 16px' }}&gt;&#10;          &lt;Text style={{ fontSize: 15, color: '#22D3EE', fontFamily: '&quot;JetBrains Mono&quot;, monospace' }}&gt;&#10;            bash Anaconda3-xxx.sh&#10;          &lt;/Text&gt;&#10;        &lt;/Box&gt;&#10;      &lt;/Box&gt;&#10;    &lt;/Box&gt;&#10;&#10;    &lt;Box style={{ marginTop: 20, background: '#DCE7F5', borderRadius: 10, padding: '14px 22px' }}&gt;&#10;      &lt;Text style={{ fontSize: 16, color: '#16263F', fontWeight: 'bold' }}&gt;&#10;        环境管理是新手第一课：一个项目一个环境，互不污染&#10;      &lt;/Text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INSTALL PYTHON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安装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Python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：官网直装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or Anaconda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（推荐）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571500" y="1352550"/>
            <a:ext cx="4619625" cy="466725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647825"/>
            <a:ext cx="247650" cy="247650"/>
          </a:xfrm>
          <a:prstGeom prst="rect">
            <a:avLst/>
          </a:prstGeom>
          <a:ln/>
        </p:spPr>
      </p:pic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238250" y="1638300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6263F"/>
                </a:solidFill>
                <a:latin typeface="思源黑体"/>
                <a:ea typeface="思源黑体"/>
              </a:rPr>
              <a:t>方式一：官网直装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76300" y="2066925"/>
            <a:ext cx="4010025" cy="1114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75">
                <a:solidFill>
                  <a:srgbClr val="1B2733"/>
                </a:solidFill>
                <a:latin typeface="思源黑体"/>
                <a:ea typeface="思源黑体"/>
              </a:rPr>
              <a:t>· python.org </a:t>
            </a:r>
            <a:r>
              <a:rPr lang="zh-CN" sz="1275">
                <a:solidFill>
                  <a:srgbClr val="1B2733"/>
                </a:solidFill>
                <a:latin typeface="思源黑体"/>
                <a:ea typeface="思源黑体"/>
              </a:rPr>
              <a:t>下载安装包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1B2733"/>
                </a:solidFill>
                <a:latin typeface="思源黑体"/>
                <a:ea typeface="思源黑体"/>
              </a:rPr>
              <a:t>· </a:t>
            </a:r>
            <a:r>
              <a:rPr lang="zh-CN" sz="1275">
                <a:solidFill>
                  <a:srgbClr val="1B2733"/>
                </a:solidFill>
                <a:latin typeface="思源黑体"/>
                <a:ea typeface="思源黑体"/>
              </a:rPr>
              <a:t>勾选</a:t>
            </a:r>
            <a:r>
              <a:rPr lang="en-US" sz="1275">
                <a:solidFill>
                  <a:srgbClr val="1B2733"/>
                </a:solidFill>
                <a:latin typeface="思源黑体"/>
                <a:ea typeface="思源黑体"/>
              </a:rPr>
              <a:t> Add to PATH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1B2733"/>
                </a:solidFill>
                <a:latin typeface="思源黑体"/>
                <a:ea typeface="思源黑体"/>
              </a:rPr>
              <a:t>· </a:t>
            </a:r>
            <a:r>
              <a:rPr lang="zh-CN" sz="1275">
                <a:solidFill>
                  <a:srgbClr val="1B2733"/>
                </a:solidFill>
                <a:latin typeface="思源黑体"/>
                <a:ea typeface="思源黑体"/>
              </a:rPr>
              <a:t>验证：</a:t>
            </a:r>
            <a:r>
              <a:rPr lang="en-US" sz="1275">
                <a:solidFill>
                  <a:srgbClr val="1B2733"/>
                </a:solidFill>
                <a:latin typeface="思源黑体"/>
                <a:ea typeface="思源黑体"/>
              </a:rPr>
              <a:t>python --version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457825" y="1352550"/>
            <a:ext cx="6162675" cy="4667250"/>
          </a:xfrm>
          <a:prstGeom prst="roundRect">
            <a:avLst>
              <a:gd name="adj" fmla="val 285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62625" y="1647825"/>
            <a:ext cx="247650" cy="24765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124575" y="1638300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方式二：</a:t>
            </a: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Anaconda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（推荐）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62625" y="2066925"/>
            <a:ext cx="5553075" cy="1114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7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275">
                <a:solidFill>
                  <a:srgbClr val="DCE7F5"/>
                </a:solidFill>
                <a:latin typeface="思源黑体"/>
                <a:ea typeface="思源黑体"/>
              </a:rPr>
              <a:t>国内用清华源下载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275">
                <a:solidFill>
                  <a:srgbClr val="DCE7F5"/>
                </a:solidFill>
                <a:latin typeface="思源黑体"/>
                <a:ea typeface="思源黑体"/>
              </a:rPr>
              <a:t>内置</a:t>
            </a:r>
            <a:r>
              <a:rPr lang="en-US" sz="1275">
                <a:solidFill>
                  <a:srgbClr val="DCE7F5"/>
                </a:solidFill>
                <a:latin typeface="思源黑体"/>
                <a:ea typeface="思源黑体"/>
              </a:rPr>
              <a:t> conda </a:t>
            </a:r>
            <a:r>
              <a:rPr lang="zh-CN" sz="1275">
                <a:solidFill>
                  <a:srgbClr val="DCE7F5"/>
                </a:solidFill>
                <a:latin typeface="思源黑体"/>
                <a:ea typeface="思源黑体"/>
              </a:rPr>
              <a:t>环境管理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275">
                <a:solidFill>
                  <a:srgbClr val="DCE7F5"/>
                </a:solidFill>
                <a:latin typeface="思源黑体"/>
                <a:ea typeface="思源黑体"/>
              </a:rPr>
              <a:t>方便切换</a:t>
            </a:r>
            <a:r>
              <a:rPr lang="en-US" sz="1275">
                <a:solidFill>
                  <a:srgbClr val="DCE7F5"/>
                </a:solidFill>
                <a:latin typeface="思源黑体"/>
                <a:ea typeface="思源黑体"/>
              </a:rPr>
              <a:t> Python </a:t>
            </a:r>
            <a:r>
              <a:rPr lang="zh-CN" sz="1275">
                <a:solidFill>
                  <a:srgbClr val="DCE7F5"/>
                </a:solidFill>
                <a:latin typeface="思源黑体"/>
                <a:ea typeface="思源黑体"/>
              </a:rPr>
              <a:t>版本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762625" y="3352800"/>
            <a:ext cx="5553075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915025" y="3467100"/>
            <a:ext cx="524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bash Anaconda3-xxx.sh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571500" y="6210300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1050" y="6343650"/>
            <a:ext cx="10629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环境管理是新手第一课：一个项目一个环境，互不污染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3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INSTALL LIBRARIES&lt;/Text&gt;&#10;    &lt;Text style={{ fontSize: 34, color: '#16263F', fontWeight: 'bold', marginBottom: 24 }}&gt;安装深度学习库：PyTorch + Transformers + LangChain&lt;/Text&gt;&#10;    &lt;Box style={{ width: 56, height: 4, background: '#22D3EE', marginBottom: 24 }} /&gt;&#10;&#10;    &lt;Box style={{ flexDirection: 'row', gap: 28, flex: 1 }}&gt;&#10;      &lt;Box style={{ flex: 3, flexDirection: 'column', gap: 16 }}&gt;&#10;        {[&#10;          { t: 'PyTorch', c: 'conda install pytorch torchvision cudatoolkit', d: '深度学习框架' },&#10;          { t: 'Transformers', c: 'pip install transformers', d: 'Hugging Face 模型库' },&#10;          { t: 'LangChain', c: 'pip install langchain', d: 'LLM 应用框架' },&#10;        ].map((item, idx) =&gt; (&#10;          &lt;Box key={idx} style={{ background: '#FFFFFF', borderRadius: 12, padding: '18px 24px', boxShadow: '0 2px 12px rgba(22,38,63,0.06)' }}&gt;&#10;            &lt;Box style={{ flexDirection: 'row', justifyContent: 'space-between', alignItems: 'center', marginBottom: 8 }}&gt;&#10;              &lt;Text style={{ fontSize: 19, fontWeight: 'bold', color: '#16263F' }}&gt;{item.t}&lt;/Text&gt;&#10;              &lt;Text style={{ fontSize: 14, color: '#5B6B7A' }}&gt;{item.d}&lt;/Text&gt;&#10;            &lt;/Box&gt;&#10;            &lt;Text style={{ fontSize: 15, color: '#22D3EE', fontFamily: '&quot;JetBrains Mono&quot;, monospace' }}&gt;{item.c}&lt;/Text&gt;&#10;          &lt;/Box&gt;&#10;        ))}&#10;        &lt;Box style={{ background: '#DCE7F5', borderRadius: 10, padding: '14px 20px', marginTop: 4 }}&gt;&#10;          &lt;Text style={{ fontSize: 15, color: '#16263F', fontWeight: 'bold', fontFamily: '&quot;JetBrains Mono&quot;, monospace' }}&gt;&#10;            python -c &quot;import torch; print(torch.__version__)&quot;&#10;          &lt;/Text&gt;&#10;        &lt;/Box&gt;&#10;      &lt;/Box&gt;&#10;&#10;      &lt;Box style={{ flex: 2, background: '#16263F', borderRadius: 14, padding: '28px 26px', justifyContent: 'space-between' }}&gt;&#10;        &lt;Text style={{ fontSize: 20, fontWeight: 'bold', color: '#FFFFFF', marginBottom: 14 }}&gt;安装顺序的为什么&lt;/Text&gt;&#10;        &lt;Text style={{ fontSize: 15, color: '#DCE7F5', lineHeight: 1.9 }}&gt;&#10;          Python 是地基 → PyTorch 提供推理引擎 → Transformers 帮你加载模型 → LangChain 让你写应用。&#10;          &lt;br /&gt;&lt;br /&gt;&#10;          每一层都建立在上一层之上，顺序错了会踩坑。&#10;        &lt;/Text&gt;&#10;        &lt;Box style={{ marginTop: 16, background: 'rgba(255,159,28,0.15)', borderRadius: 8, padding: '12px 16px' }}&gt;&#10;          &lt;Text style={{ fontSize: 14, color: '#FF9F1C', fontWeight: 'bold' }}&gt;&#10;            验证安装是习惯：装完必验，报错先查版本&#10;          &lt;/Text&gt;&#10;        &lt;/Box&gt;&#10;      &lt;/Box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INSTALL LIBRARIES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安装深度学习库：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PyTorch + Transformers + LangChain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571500" y="1314450"/>
            <a:ext cx="64674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714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PyTorch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991225" y="15144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深度学习框架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601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conda install pytorch torchvision cudatoolkit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571500" y="2276475"/>
            <a:ext cx="64674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00100" y="2447925"/>
            <a:ext cx="116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Transformers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534025" y="2476500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Hugging Face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模型库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00100" y="2743200"/>
            <a:ext cx="601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pip install transformers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71500" y="3238500"/>
            <a:ext cx="646747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94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LangChain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962650" y="343852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LLM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应用框架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601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pip install langchain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71500" y="4238625"/>
            <a:ext cx="6467475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2000" y="4371975"/>
            <a:ext cx="608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JetBrains Mono"/>
                <a:ea typeface="JetBrains Mono"/>
              </a:rPr>
              <a:t>python -c "import torch; print(torch.__version__)"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305675" y="1314450"/>
            <a:ext cx="4314825" cy="5353050"/>
          </a:xfrm>
          <a:prstGeom prst="roundRect">
            <a:avLst>
              <a:gd name="adj" fmla="val 3091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553325" y="1581150"/>
            <a:ext cx="3819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安装顺序的为什么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553325" y="3248025"/>
            <a:ext cx="3819525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Python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是地基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PyTorch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提供推理引擎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Transformers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帮你加载模型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LangChain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让你写应用。</a:t>
            </a:r>
            <a:endParaRPr/>
          </a:p>
          <a:p>
            <a:pPr>
              <a:lnSpc>
                <a:spcPct val="190000"/>
              </a:lnSpc>
            </a:pPr>
            <a:r>
              <a:rPr sz="1125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每一层都建立在上一层之上，顺序错了会踩坑。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553325" y="6010275"/>
            <a:ext cx="3819525" cy="390525"/>
          </a:xfrm>
          <a:prstGeom prst="roundRect">
            <a:avLst>
              <a:gd name="adj" fmla="val 19512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705725" y="6124575"/>
            <a:ext cx="351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验证安装是习惯：装完必验，报错先查版本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57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DEEPSEEK V4-FLASH · 2026 开源旗舰&lt;/Text&gt;&#10;      &lt;Box style={{ flexDirection: 'row', gap: 36, alignItems: 'flex-end', marginBottom: 20 }}&gt;&#10;        &lt;Box&gt;&#10;          &lt;Text style={{ fontSize: 68, color: '#FF9F1C', fontWeight: 'bold', lineHeight: 1 }}&gt;284B&lt;/Text&gt;&#10;          &lt;Text style={{ fontSize: 16, color: '#DCE7F5', marginTop: 8 }}&gt;总参 / 13B 激活 · MoE&lt;/Text&gt;&#10;        &lt;/Box&gt;&#10;        &lt;Box&gt;&#10;          &lt;Text style={{ fontSize: 68, color: '#22D3EE', fontWeight: 'bold', lineHeight: 1 }}&gt;1M&lt;/Text&gt;&#10;          &lt;Text style={{ fontSize: 16, color: '#DCE7F5', marginTop: 8 }}&gt;上下文窗口&lt;/Text&gt;&#10;        &lt;/Box&gt;&#10;      &lt;/Box&gt;&#10;      &lt;Text style={{ fontSize: 20, color: '#FFFFFF', fontWeight: 'bold', lineHeight: 1.5, marginBottom: 10 }}&gt;&#10;        小参数反超大参数&#10;      &lt;/Text&gt;&#10;      &lt;Text style={{ fontSize: 15, color: '#DCE7F5', lineHeight: 1.8 }}&gt;&#10;        2026 的竞争从「更大」转向「更聪明」——选型不必追最大模型，看架构与效率。&#10;      &lt;/Text&gt;&#10;    &lt;/Box&gt;&#10;&#10;    &lt;Box style={{ flex: 1, flexDirection: 'column', justifyContent: 'center', gap: 14 }}&gt;&#10;      &lt;Box style={{ background: 'rgba(255,255,255,0.06)', border: '1px solid rgba(220,231,245,0.15)', borderRadius: 12, padding: '18px 22px' }}&gt;&#10;        &lt;Text style={{ fontSize: 17, color: '#FFFFFF', fontWeight: 'bold', marginBottom: 6 }}&gt;MIT 开源协议&lt;/Text&gt;&#10;        &lt;Text style={{ fontSize: 14, color: '#DCE7F5' }}&gt;免费使用 + 可商用 + 可修改&lt;/Text&gt;&#10;      &lt;/Box&gt;&#10;      &lt;Box style={{ background: 'rgba(255,255,255,0.06)', border: '1px solid rgba(220,231,245,0.15)', borderRadius: 12, padding: '18px 22px' }}&gt;&#10;        &lt;Text style={{ fontSize: 17, color: '#FFFFFF', fontWeight: 'bold', marginBottom: 6 }}&gt;FP4 + FP8 混合量化&lt;/Text&gt;&#10;        &lt;Text style={{ fontSize: 14, color: '#DCE7F5' }}&gt;算力消耗仅前代 27% · 显存降至 10%&lt;/Text&gt;&#10;      &lt;/Box&gt;&#10;      &lt;Box style={{ background: 'rgba(255,255,255,0.06)', border: '1px solid rgba(220,231,245,0.15)', borderRadius: 12, padding: '18px 22px' }}&gt;&#10;        &lt;Text style={{ fontSize: 17, color: '#FFFFFF', fontWeight: 'bold', marginBottom: 6 }}&gt;双协议 API&lt;/Text&gt;&#10;        &lt;Text style={{ fontSize: 14, color: '#DCE7F5' }}&gt;同时兼容 OpenAI 与 Anthropic 接口&lt;/Text&gt;&#10;      &lt;/Box&gt;&#10;      &lt;Box style={{ background: 'rgba(255,159,28,0.12)', border: '1px solid rgba(255,159,28,0.3)', borderRadius: 12, padding: '18px 22px' }}&gt;&#10;        &lt;Text style={{ fontSize: 17, color: '#FF9F1C', fontWeight: 'bold', marginBottom: 6 }}&gt;价格 $0.14 / 百万 input&lt;/Text&gt;&#10;        &lt;Text style={{ fontSize: 14, color: '#DCE7F5' }}&gt;云 API 成本低到可当「水电」用——本地与云双轨可行&lt;/Text&gt;&#10;      &lt;/Box&gt;&#10;    &lt;/Box&gt;&#10;  &lt;/Box&gt;&#10;  &lt;Box style={{ position: 'absolute', bottom: 14, left: 60, flexDirection: 'row', justifyContent: 'space-between', width: 'calc(100% - 120px)' }}&gt;&#10;    &lt;Text style={{ fontSize: 14, color: '#8FA4B8' }}&gt;AI 从零开始 · 第 2 讲 · 数据截至 2026-08&lt;/Text&gt;&#10;    &lt;Text style={{ fontSize: 14, color: '#8FA4B8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1500" y="2286000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DEEPSEEK V4-FLASH · 2026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开源旗舰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71500" y="2581275"/>
            <a:ext cx="15525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9F1C"/>
                </a:solidFill>
                <a:latin typeface="思源黑体"/>
                <a:ea typeface="思源黑体"/>
              </a:rPr>
              <a:t>284B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3438525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总参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/ 13B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激活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· MoE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466975" y="2581275"/>
            <a:ext cx="9048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22D3EE"/>
                </a:solidFill>
                <a:latin typeface="思源黑体"/>
                <a:ea typeface="思源黑体"/>
              </a:rPr>
              <a:t>1M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466975" y="3438525"/>
            <a:ext cx="904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上下文窗口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" y="3819525"/>
            <a:ext cx="53149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小参数反超大参数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" y="4257675"/>
            <a:ext cx="531495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2026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的竞争从「更大」转向「更聪明」——选型不必追最大模型，看架构与效率。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305550" y="1704975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515100" y="187642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MIT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开源协议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515100" y="213360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免费使用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可商用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+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可修改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305550" y="2600325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515100" y="277177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FP4 + FP8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混合量化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515100" y="302895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算力消耗仅前代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27% ·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显存降至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10%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305550" y="3495675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515100" y="366712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双协议</a:t>
            </a: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 API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515100" y="392430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同时兼容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OpenAI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与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Anthropic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接口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305550" y="4391025"/>
            <a:ext cx="5314950" cy="762000"/>
          </a:xfrm>
          <a:prstGeom prst="roundRect">
            <a:avLst>
              <a:gd name="adj" fmla="val 15000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515100" y="456247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价格</a:t>
            </a:r>
            <a:r>
              <a:rPr lang="en-US" sz="1275" b="1">
                <a:solidFill>
                  <a:srgbClr val="FF9F1C"/>
                </a:solidFill>
                <a:latin typeface="思源黑体"/>
                <a:ea typeface="思源黑体"/>
              </a:rPr>
              <a:t> $0.14 / </a:t>
            </a: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百万</a:t>
            </a:r>
            <a:r>
              <a:rPr lang="en-US" sz="1275" b="1">
                <a:solidFill>
                  <a:srgbClr val="FF9F1C"/>
                </a:solidFill>
                <a:latin typeface="思源黑体"/>
                <a:ea typeface="思源黑体"/>
              </a:rPr>
              <a:t> input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515100" y="4819650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云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API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成本低到可当「水电」用——本地与云双轨可行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数据截至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2026-08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0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VOLUTION&lt;/Text&gt;&#10;    &lt;Text style={{ fontSize: 34, color: '#16263F', fontWeight: 'bold', marginBottom: 28 }}&gt;模型演进：R1 → V3 → V4-Flash，蒸馏是捷径&lt;/Text&gt;&#10;    &lt;Box style={{ width: 56, height: 4, background: '#22D3EE', marginBottom: 32 }} /&gt;&#10;&#10;    &lt;Box style={{ flexDirection: 'row', alignItems: 'center', gap: 0 }}&gt;&#10;      {[&#10;        { t: 'R1', y: '2025.01', d: '思维链推理\n对标 OpenAI o1' },&#10;        { t: 'V3', y: '2025.11', d: 'MoE 架构\n671B / 37B 激活' },&#10;        { t: 'V4-Flash', y: '2026.07', d: '小参数反超\n1M 上下文' },&#10;      ].map((item, idx) =&gt; (&#10;        &lt;Box key={idx} style={{ flexDirection: 'row', alignItems: 'center', flex: 1 }}&gt;&#10;          &lt;Box style={{ flex: 1, background: '#FFFFFF', borderRadius: 12, padding: '22px 24px', boxShadow: '0 2px 12px rgba(22,38,63,0.06)' }}&gt;&#10;            &lt;Text style={{ fontSize: 21, fontWeight: 'bold', color: '#16263F', marginBottom: 4 }}&gt;{item.t}&lt;/Text&gt;&#10;            &lt;Text style={{ fontSize: 13, color: '#22D3EE', fontWeight: 'bold', marginBottom: 10 }}&gt;{item.y}&lt;/Text&gt;&#10;            &lt;Text style={{ fontSize: 14, color: '#5B6B7A', lineHeight: 1.6, whiteSpace: 'pre-line' }}&gt;{item.d}&lt;/Text&gt;&#10;          &lt;/Box&gt;&#10;          {idx &lt; 2 &amp;&amp; (&#10;            &lt;Box style={{ width: 44, justifyContent: 'center', alignItems: 'center' }}&gt;&#10;              &lt;FAIcon name='arrow-right' style={{ fill: '#FF9F1C', width: 26, height: 26 }} /&gt;&#10;            &lt;/Box&gt;&#10;          )}&#10;        &lt;/Box&gt;&#10;      ))}&#10;    &lt;/Box&gt;&#10;&#10;    &lt;Box style={{ marginTop: 34, background: '#16263F', borderRadius: 14, padding: '24px 30px' }}&gt;&#10;      &lt;Box style={{ flexDirection: 'row', alignItems: 'center', gap: 16, marginBottom: 12 }}&gt;&#10;        &lt;FAIcon name='graduation-cap' style={{ fill: '#FF9F1C', width: 30, height: 30 }} /&gt;&#10;        &lt;Text style={{ fontSize: 21, fontWeight: 'bold', color: '#FFFFFF' }}&gt;知识蒸馏 = 「老师教学生」&lt;/Text&gt;&#10;      &lt;/Box&gt;&#10;      &lt;Text style={{ fontSize: 16, color: '#DCE7F5', lineHeight: 1.8 }}&gt;&#10;        大模型（老师）训练出小模型（学生），学生继承能力、降低硬件门槛——这就是普通用户也能本地跑的原因。&#10;      &lt;/Text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EVOLUTION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模型演进：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R1 → V3 → V4-Flash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，蒸馏是捷径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71500" y="10858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571500" y="1428750"/>
            <a:ext cx="32670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00100" y="1638300"/>
            <a:ext cx="2809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R1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2809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2025.01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2171700"/>
            <a:ext cx="2809875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思维链推理
对标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OpenAI o1</a:t>
            </a:r>
            <a:endParaRPr/>
          </a:p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24300" y="2038350"/>
            <a:ext cx="247650" cy="247650"/>
          </a:xfrm>
          <a:prstGeom prst="rect">
            <a:avLst/>
          </a:prstGeom>
          <a:ln/>
        </p:spPr>
      </p:pic>
      <p:sp>
        <p:nvSpPr>
          <p:cNvPr id="190" name=""/>
          <p:cNvSpPr/>
          <p:nvPr/>
        </p:nvSpPr>
        <p:spPr>
          <a:xfrm rot="0" flipH="0" flipV="0">
            <a:off x="4257675" y="1428750"/>
            <a:ext cx="32575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486275" y="1638300"/>
            <a:ext cx="2800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V3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486275" y="1924050"/>
            <a:ext cx="2800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2025.11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486275" y="2171700"/>
            <a:ext cx="28003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MoE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架构
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671B / 37B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激活</a:t>
            </a:r>
            <a:endParaRPr/>
          </a:p>
        </p:txBody>
      </p:sp>
      <p:pic>
        <p:nvPicPr>
          <p:cNvPr id="1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2038350"/>
            <a:ext cx="247650" cy="247650"/>
          </a:xfrm>
          <a:prstGeom prst="rect">
            <a:avLst/>
          </a:prstGeom>
          <a:ln/>
        </p:spPr>
      </p:pic>
      <p:sp>
        <p:nvSpPr>
          <p:cNvPr id="195" name=""/>
          <p:cNvSpPr/>
          <p:nvPr/>
        </p:nvSpPr>
        <p:spPr>
          <a:xfrm rot="0" flipH="0" flipV="0">
            <a:off x="7934325" y="1428750"/>
            <a:ext cx="368617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62925" y="1638300"/>
            <a:ext cx="3228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6263F"/>
                </a:solidFill>
                <a:latin typeface="思源黑体"/>
                <a:ea typeface="思源黑体"/>
              </a:rPr>
              <a:t>V4-Flash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62925" y="1924050"/>
            <a:ext cx="3228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思源黑体"/>
                <a:ea typeface="思源黑体"/>
              </a:rPr>
              <a:t>2026.07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62925" y="2171700"/>
            <a:ext cx="3228975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小参数反超
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1M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上下文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71500" y="3219450"/>
            <a:ext cx="11049000" cy="1190625"/>
          </a:xfrm>
          <a:prstGeom prst="roundRect">
            <a:avLst>
              <a:gd name="adj" fmla="val 1120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3448050"/>
            <a:ext cx="285750" cy="285750"/>
          </a:xfrm>
          <a:prstGeom prst="rect">
            <a:avLst/>
          </a:prstGeom>
          <a:ln/>
        </p:spPr>
      </p:pic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295400" y="3467100"/>
            <a:ext cx="2466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知识蒸馏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=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「老师教学生」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57250" y="384810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大模型（老师）训练出小模型（学生），学生继承能力、降低硬件门槛——这就是普通用户也能本地跑的原因。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5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3, background: '#16263F', borderRadius: 14, padding: '30px 30px', justifyContent: 'space-between' }}&gt;&#10;      &lt;Text style={{ fontSize: 20, fontWeight: 'bold', color: '#FFFFFF', marginBottom: 16 }}&gt;V4-Flash 本地部署&lt;/Text&gt;&#10;      &lt;Text style={{ fontSize: 16, color: '#DCE7F5', lineHeight: 1.9 }}&gt;&#10;        4bit 量化：约 24GB+ 显存&lt;br /&gt;&#10;        （或 70GB 内存，Ollama 支持）&lt;br /&gt;&lt;br /&gt;&#10;        服务器级 GPU（2 张起）&lt;br /&gt;&#10;        消费级显卡可降级小模型&#10;      &lt;/Text&gt;&#10;      &lt;Box style={{ marginTop: 16, background: 'rgba(34,211,238,0.12)', borderRadius: 8, padding: '12px 16px' }}&gt;&#10;        &lt;Text style={{ fontSize: 14, color: '#22D3EE', fontWeight: 'bold' }}&gt;&#10;          4bit 量化 → 消费级门槛大降，本地部署不是服务器专属&#10;        &lt;/Text&gt;&#10;      &lt;/Box&gt;&#10;    &lt;/Box&gt;&#10;&#10;    &lt;Box style={{ flex: 4, flexDirection: 'column', gap: 16 }}&gt;&#10;      &lt;Box style={{ background: '#FFFFFF', borderRadius: 14, padding: '26px 28px', boxShadow: '0 2px 12px rgba(22,38,63,0.06)' }}&gt;&#10;        &lt;Box style={{ flexDirection: 'row', alignItems: 'center', gap: 12, marginBottom: 12 }}&gt;&#10;          &lt;FAIcon name='desktop' style={{ fill: '#22D3EE', width: 24, height: 24 }} /&gt;&#10;          &lt;Text style={{ fontSize: 20, fontWeight: 'bold', color: '#16263F' }}&gt;入门最低配置&lt;/Text&gt;&#10;        &lt;/Box&gt;&#10;        &lt;Text style={{ fontSize: 16, color: '#1B2733', lineHeight: 1.9 }}&gt;&#10;          · Windows：GTX 1650 4GB + 16GB 内存&lt;br /&gt;&#10;          · Mac：M2 8GB 内存起&lt;br /&gt;&#10;          · 实在不够：用云 API 兜底&#10;        &lt;/Text&gt;&#10;      &lt;/Box&gt;&#10;      &lt;Box style={{ background: '#FFFFFF', borderRadius: 14, padding: '26px 28px', boxShadow: '0 2px 12px rgba(22,38,63,0.06)' }}&gt;&#10;        &lt;Box style={{ flexDirection: 'row', alignItems: 'center', gap: 12, marginBottom: 12 }}&gt;&#10;          &lt;FAIcon name='seedling' style={{ fill: '#22D3EE', width: 24, height: 24 }} /&gt;&#10;          &lt;Text style={{ fontSize: 20, fontWeight: 'bold', color: '#16263F' }}&gt;双轨策略&lt;/Text&gt;&#10;        &lt;/Box&gt;&#10;        &lt;Text style={{ fontSize: 16, color: '#1B2733', lineHeight: 1.9 }}&gt;&#10;          本地 4bit 练手 + 云 API 兜底&lt;br /&gt;&#10;          成本最低，体验不妥协&#10;        &lt;/Text&gt;&#10;      &lt;/Box&gt;&#10;      &lt;Box style={{ background: '#DCE7F5', borderRadius: 10, padding: '14px 20px', marginTop: 4 }}&gt;&#10;        &lt;Text style={{ fontSize: 15, color: '#16263F', fontWeight: 'bold' }}&gt;&#10;          原则：硬件不够不是放弃的理由，先云后本地逐步迁移&#10;        &lt;/Text&gt;&#10;      &lt;/Box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571500" y="190500"/>
            <a:ext cx="4591050" cy="6477000"/>
          </a:xfrm>
          <a:prstGeom prst="roundRect">
            <a:avLst>
              <a:gd name="adj" fmla="val 2905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01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V4-Flash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本地部署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57250" y="2476500"/>
            <a:ext cx="4019550" cy="17430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4bit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量化：约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24GB+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显存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（或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70GB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内存，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Ollama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支持）</a:t>
            </a:r>
            <a:endParaRPr/>
          </a:p>
          <a:p>
            <a:pPr>
              <a:lnSpc>
                <a:spcPct val="190000"/>
              </a:lnSpc>
            </a:pPr>
            <a:r>
              <a:rPr sz="1200">
                <a:solidFill>
                  <a:srgbClr val="DCE7F5"/>
                </a:solidFill>
                <a:latin typeface="思源黑体"/>
                <a:ea typeface="思源黑体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服务器级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GPU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（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2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张起）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消费级显卡可降级小模型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857250" y="5991225"/>
            <a:ext cx="4019550" cy="390525"/>
          </a:xfrm>
          <a:prstGeom prst="roundRect">
            <a:avLst>
              <a:gd name="adj" fmla="val 19512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09650" y="610552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4bit 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量化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 → 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消费级门槛大降，本地部署不是服务器专属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5505450" y="190500"/>
            <a:ext cx="6115050" cy="1885950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72150" y="438150"/>
            <a:ext cx="228600" cy="2286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115050" y="438150"/>
            <a:ext cx="1171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入门最低配置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772150" y="781050"/>
            <a:ext cx="558165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· Windows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：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GTX 1650 4GB + 16GB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内存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· Mac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：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M2 8GB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内存起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·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实在不够：用云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 API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兜底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505450" y="2228850"/>
            <a:ext cx="6115050" cy="1533525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72150" y="2476500"/>
            <a:ext cx="228600" cy="22860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115050" y="2476500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双轨策略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72150" y="2819400"/>
            <a:ext cx="5581650" cy="6953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本地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 4bit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练手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云</a:t>
            </a:r>
            <a:r>
              <a:rPr lang="en-US" sz="1200">
                <a:solidFill>
                  <a:srgbClr val="1B2733"/>
                </a:solidFill>
                <a:latin typeface="思源黑体"/>
                <a:ea typeface="思源黑体"/>
              </a:rPr>
              <a:t> API </a:t>
            </a: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兜底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1B2733"/>
                </a:solidFill>
                <a:latin typeface="思源黑体"/>
                <a:ea typeface="思源黑体"/>
              </a:rPr>
              <a:t>成本最低，体验不妥协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505450" y="3952875"/>
            <a:ext cx="611505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695950" y="4086225"/>
            <a:ext cx="573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原则：硬件不够不是放弃的理由，先云后本地逐步迁移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24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4, flexDirection: 'column', gap: 16 }}&gt;&#10;      &lt;Text style={{ fontSize: 14, color: '#FF9F1C', fontWeight: 'bold', letterSpacing: 2, marginBottom: 8 }}&gt;INSTALL OLLAMA&lt;/Text&gt;&#10;      &lt;Text style={{ fontSize: 34, color: '#16263F', fontWeight: 'bold', marginBottom: 12 }}&gt;安装 Ollama：像 Docker 一样拉取模型&lt;/Text&gt;&#10;      &lt;Box style={{ width: 56, height: 4, background: '#22D3EE', marginBottom: 12 }} /&gt;&#10;      &lt;Text style={{ fontSize: 16, color: '#5B6B7A', lineHeight: 1.8 }}&gt;&#10;        开源的本地大语言模型运行框架（Go 开发）——类 Docker 的命令风格&#10;        &lt;span style={{ fontWeight: 'bold', color: '#16263F' }}&gt;list / pull / push / run&lt;/span&gt;。&#10;      &lt;/Text&gt;&#10;      &lt;Box style={{ background: '#16263F', borderRadius: 12, padding: '20px 24px', marginTop: 8 }}&gt;&#10;        &lt;Text style={{ fontSize: 14, color: '#22D3EE', marginBottom: 8 }}&gt;# 安装&lt;/Text&gt;&#10;        &lt;Text style={{ fontSize: 14, color: '#DCE7F5', fontFamily: '&quot;JetBrains Mono&quot;, monospace', lineHeight: 1.8 }}&gt;&#10;          curl -fsSL https://ollama.com/install.sh | sh&#10;        &lt;/Text&gt;&#10;        &lt;Text style={{ fontSize: 14, color: '#22D3EE', marginTop: 12, marginBottom: 8 }}&gt;# 拉取模型（可加 :4bit 量化版）&lt;/Text&gt;&#10;        &lt;Text style={{ fontSize: 14, color: '#DCE7F5', fontFamily: '&quot;JetBrains Mono&quot;, monospace', lineHeight: 1.8 }}&gt;&#10;          ollama pull deepseek-v4-flash&#10;        &lt;/Text&gt;&#10;      &lt;/Box&gt;&#10;    &lt;/Box&gt;&#10;&#10;    &lt;Box style={{ flex: 3, background: '#FFFFFF', borderRadius: 14, padding: '26px 26px', boxShadow: '0 2px 12px rgba(22,38,63,0.06)', justifyContent: 'center' }}&gt;&#10;      &lt;Text style={{ fontSize: 19, fontWeight: 'bold', color: '#16263F', marginBottom: 14 }}&gt;为什么类比 Docker&lt;/Text&gt;&#10;      &lt;Text style={{ fontSize: 15, color: '#5B6B7A', lineHeight: 1.9 }}&gt;&#10;        Docker 用「镜像」封装应用，Ollama 用「模型」封装权重——&lt;br /&gt;&lt;br /&gt;&#10;        一条命令下载、一条命令运行，&lt;br /&gt;&#10;        把「部署大模型」从运维难题变成一行命令。&#10;      &lt;/Text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611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INSTALL OLLAMA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1500" y="581025"/>
            <a:ext cx="6115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安装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Ollama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：像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Docker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一样拉取模型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12382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71500" y="1543050"/>
            <a:ext cx="6115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开源的本地大语言模型运行框架（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Go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开发）——类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 Docker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的命令风格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list / pull / push / run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71500" y="2438400"/>
            <a:ext cx="6115050" cy="1562100"/>
          </a:xfrm>
          <a:prstGeom prst="roundRect">
            <a:avLst>
              <a:gd name="adj" fmla="val 7317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00100" y="2628900"/>
            <a:ext cx="565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#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安装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0100" y="2867025"/>
            <a:ext cx="56578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JetBrains Mono"/>
                <a:ea typeface="JetBrains Mono"/>
              </a:rPr>
              <a:t>curl -fsSL https://ollama.com/install.sh | sh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565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#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拉取模型（可加</a:t>
            </a: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 :4bit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量化版）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565785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DCE7F5"/>
                </a:solidFill>
                <a:latin typeface="JetBrains Mono"/>
                <a:ea typeface="JetBrains Mono"/>
              </a:rPr>
              <a:t>ollama pull deepseek-v4-flash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029450" y="190500"/>
            <a:ext cx="4591050" cy="6477000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277100" y="2600325"/>
            <a:ext cx="4095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263F"/>
                </a:solidFill>
                <a:latin typeface="思源黑体"/>
                <a:ea typeface="思源黑体"/>
              </a:rPr>
              <a:t>为什么类比</a:t>
            </a: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 Docker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277100" y="2952750"/>
            <a:ext cx="409575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Docker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用「镜像」封装应用，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Ollama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用「模型」封装权重——</a:t>
            </a:r>
            <a:endParaRPr/>
          </a:p>
          <a:p>
            <a:pPr>
              <a:lnSpc>
                <a:spcPct val="190000"/>
              </a:lnSpc>
            </a:pPr>
            <a:r>
              <a:rPr sz="1125">
                <a:solidFill>
                  <a:srgbClr val="5B6B7A"/>
                </a:solidFill>
                <a:latin typeface="思源黑体"/>
                <a:ea typeface="思源黑体"/>
              </a:rPr>
              <a:t> 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一条命令下载、一条命令运行，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把「部署大模型」从运维难题变成一行命令。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Box style={{ width: 400, paddingTop: 8 }}&gt;&#10;      &lt;Text style={{ fontSize: 14, color: '#FF9F1C', fontWeight: 'bold', letterSpacing: 2, marginBottom: 8 }}&gt;RUN &amp; VERIFY&lt;/Text&gt;&#10;      &lt;Text style={{ fontSize: 34, color: '#16263F', fontWeight: 'bold', lineHeight: 1.3, marginBottom: 14 }}&gt;启动服务与验证：三步跑通本地模型&lt;/Text&gt;&#10;      &lt;Box style={{ width: 56, height: 4, background: '#22D3EE', marginBottom: 16 }} /&gt;&#10;      &lt;Text style={{ fontSize: 15, color: '#5B6B7A', lineHeight: 1.8 }}&gt;&#10;        serve 起服务 → run 进对话 → curl 验 API，&lt;span style={{ fontWeight: 'bold', color: '#16263F' }}&gt;一分钟后模型真正在本地响应&lt;/span&gt;。&#10;      &lt;/Text&gt;&#10;    &lt;/Box&gt;&#10;&#10;    &lt;Box style={{ marginTop: 20, background: '#16263F', borderRadius: 12, padding: '24px 28px' }}&gt;&#10;      &lt;Text style={{ fontSize: 14, color: '#22D3EE', marginBottom: 10 }}&gt;# ① 启动 API 服务（端口 11434）&lt;/Text&gt;&#10;      &lt;Text style={{ fontSize: 15, color: '#DCE7F5', fontFamily: '&quot;JetBrains Mono&quot;, monospace', lineHeight: 1.8 }}&gt;ollama serve&lt;/Text&gt;&#10;      &lt;Text style={{ fontSize: 14, color: '#22D3EE', marginTop: 16, marginBottom: 10 }}&gt;# ② 命令行对话&lt;/Text&gt;&#10;      &lt;Text style={{ fontSize: 15, color: '#DCE7F5', fontFamily: '&quot;JetBrains Mono&quot;, monospace', lineHeight: 1.8 }}&gt;ollama run deepseek-v4-flash&lt;/Text&gt;&#10;      &lt;Text style={{ fontSize: 14, color: '#22D3EE', marginTop: 16, marginBottom: 10 }}&gt;# ③ curl 验证 HTTP API&lt;/Text&gt;&#10;      &lt;Text style={{ fontSize: 13, color: '#DCE7F5', fontFamily: '&quot;JetBrains Mono&quot;, monospace', lineHeight: 1.7, wordBreak: 'break-all' }}&gt;&#10;        {`curl http://localhost:11434/api/generate -d '{&quot;model&quot;:&quot;deepseek-v4-flash&quot;,&quot;prompt&quot;:&quot;为什么天空是蓝色的？&quot;}'`}&#10;      &lt;/Text&gt;&#10;    &lt;/Box&gt;&#10;&#10;    &lt;Box style={{ marginTop: 16, background: '#DCE7F5', borderRadius: 10, padding: '14px 20px' }}&gt;&#10;      &lt;Text style={{ fontSize: 15, color: '#16263F', fontWeight: 'bold' }}&gt;&#10;        curl 通了 = 本地模型已就绪，可以接入任何应用&#10;      &lt;/Text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RUN &amp; VERIFY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504825"/>
            <a:ext cx="38100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启动服务与验证：三步跑通本地模型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16573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1847850"/>
            <a:ext cx="3810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serve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起服务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→ run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进对话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→ curl 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验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API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，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一分钟后模型真正在本地响应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71500" y="2657475"/>
            <a:ext cx="11049000" cy="2419350"/>
          </a:xfrm>
          <a:prstGeom prst="roundRect">
            <a:avLst>
              <a:gd name="adj" fmla="val 4724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38200" y="2886075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# ①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启动</a:t>
            </a: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 API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服务（端口</a:t>
            </a: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 11434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31432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DCE7F5"/>
                </a:solidFill>
                <a:latin typeface="JetBrains Mono"/>
                <a:ea typeface="JetBrains Mono"/>
              </a:rPr>
              <a:t>ollama serve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3609975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# ②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命令行对话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DCE7F5"/>
                </a:solidFill>
                <a:latin typeface="JetBrains Mono"/>
                <a:ea typeface="JetBrains Mono"/>
              </a:rPr>
              <a:t>ollama run deepseek-v4-flash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38200" y="4333875"/>
            <a:ext cx="1051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# ③ curl </a:t>
            </a:r>
            <a:r>
              <a:rPr lang="zh-CN" sz="1050">
                <a:solidFill>
                  <a:srgbClr val="22D3EE"/>
                </a:solidFill>
                <a:latin typeface="思源黑体"/>
                <a:ea typeface="思源黑体"/>
              </a:rPr>
              <a:t>验证</a:t>
            </a:r>
            <a:r>
              <a:rPr lang="en-US" sz="1050">
                <a:solidFill>
                  <a:srgbClr val="22D3EE"/>
                </a:solidFill>
                <a:latin typeface="思源黑体"/>
                <a:ea typeface="思源黑体"/>
              </a:rPr>
              <a:t> HTTP API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4591050"/>
            <a:ext cx="105156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curl http://localhost:11434/api/generate -d '{"model":"deepseek-v4-flash","prompt":"</a:t>
            </a:r>
            <a:r>
              <a:rPr lang="zh-CN" sz="975">
                <a:solidFill>
                  <a:srgbClr val="DCE7F5"/>
                </a:solidFill>
                <a:latin typeface="JetBrains Mono"/>
                <a:ea typeface="JetBrains Mono"/>
              </a:rPr>
              <a:t>为什么天空是蓝色的？</a:t>
            </a:r>
            <a:r>
              <a:rPr lang="en-US" sz="975">
                <a:solidFill>
                  <a:srgbClr val="DCE7F5"/>
                </a:solidFill>
                <a:latin typeface="JetBrains Mono"/>
                <a:ea typeface="JetBrains Mono"/>
              </a:rPr>
              <a:t>"}'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71500" y="5229225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62000" y="536257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curl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通了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 =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本地模型已就绪，可以接入任何应用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NETWORK + UI&lt;/Text&gt;&#10;    &lt;Text style={{ fontSize: 34, color: '#16263F', fontWeight: 'bold', marginBottom: 24 }}&gt;局域网开放 &amp; Dify 可视化对话&lt;/Text&gt;&#10;    &lt;Box style={{ width: 56, height: 4, background: '#22D3EE', marginBottom: 26 }} /&gt;&#10;&#10;    &lt;Box style={{ flexDirection: 'row', gap: 28, flex: 1 }}&gt;&#10;      &lt;Box style={{ flex: 1, background: '#FFFFFF', borderRadius: 14, padding: '24px 26px', boxShadow: '0 2px 12px rgba(22,38,63,0.06)' }}&gt;&#10;        &lt;Box style={{ flexDirection: 'row', alignItems: 'center', gap: 12, marginBottom: 14 }}&gt;&#10;          &lt;FAIcon name='network-wired' style={{ fill: '#22D3EE', width: 24, height: 24 }} /&gt;&#10;          &lt;Text style={{ fontSize: 20, fontWeight: 'bold', color: '#16263F' }}&gt;局域网开放&lt;/Text&gt;&#10;        &lt;/Box&gt;&#10;        &lt;Text style={{ fontSize: 14, color: '#1B2733', fontFamily: '&quot;JetBrains Mono&quot;, monospace', lineHeight: 1.9 }}&gt;&#10;          # 编辑 ollama.service&#10;          OLLAMA_HOST=0.0.0.0:11434&#10;        &lt;/Text&gt;&#10;        &lt;Text style={{ fontSize: 15, color: '#5B6B7A', lineHeight: 1.7, marginTop: 12 }}&gt;&#10;          其他机器即可访问你的模型服务——把本地模型变成团队共享能力。&#10;        &lt;/Text&gt;&#10;      &lt;/Box&gt;&#10;&#10;      &lt;Box style={{ flex: 1, background: '#16263F', borderRadius: 14, padding: '24px 26px' }}&gt;&#10;        &lt;Box style={{ flexDirection: 'row', alignItems: 'center', gap: 12, marginBottom: 14 }}&gt;&#10;          &lt;FAIcon name='comments' style={{ fill: '#FF9F1C', width: 24, height: 24 }} /&gt;&#10;          &lt;Text style={{ fontSize: 20, fontWeight: 'bold', color: '#FFFFFF' }}&gt;Dify 可视化&lt;/Text&gt;&#10;        &lt;/Box&gt;&#10;        &lt;Text style={{ fontSize: 15, color: '#DCE7F5', lineHeight: 1.9 }}&gt;&#10;          · docker-compose 部署 Dify&lt;br /&gt;&#10;          · 配置模型供应商（Ollama）&lt;br /&gt;&#10;          · 创建聊天助手应用&lt;br /&gt;&#10;          · 接入 V4-Flash 开始对话&#10;        &lt;/Text&gt;&#10;        &lt;Box style={{ marginTop: 14, background: 'rgba(255,159,28,0.12)', borderRadius: 8, padding: '10px 14px' }}&gt;&#10;          &lt;Text style={{ fontSize: 14, color: '#FF9F1C', fontWeight: 'bold' }}&gt;&#10;            告别命令行，网页聊天&#10;          &lt;/Text&gt;&#10;        &lt;/Box&gt;&#10;      &lt;/Box&gt;&#10;    &lt;/Box&gt;&#10;  &lt;/Box&gt;&#10;  &lt;Box style={{ position: 'absolute', bottom: 14, left: 60, flexDirection: 'row', justifyContent: 'space-between', width: 'calc(100% - 120px)' }}&gt;&#10;    &lt;Text style={{ fontSize: 14, color: '#5B6B7A' }}&gt;AI 从零开始 · 第 2 讲&lt;/Text&gt;&#10;    &lt;Text style={{ fontSize: 14, color: '#5B6B7A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NETWORK + UI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局域网开放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&amp; Dify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可视化对话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71500" y="10477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571500" y="1333500"/>
            <a:ext cx="5391150" cy="533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562100"/>
            <a:ext cx="228600" cy="22860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62050" y="15621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局域网开放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19150" y="1924050"/>
            <a:ext cx="4895850" cy="3048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1B2733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1B2733"/>
                </a:solidFill>
                <a:latin typeface="JetBrains Mono"/>
                <a:ea typeface="JetBrains Mono"/>
              </a:rPr>
              <a:t>编辑</a:t>
            </a:r>
            <a:r>
              <a:rPr lang="en-US" sz="1050">
                <a:solidFill>
                  <a:srgbClr val="1B2733"/>
                </a:solidFill>
                <a:latin typeface="JetBrains Mono"/>
                <a:ea typeface="JetBrains Mono"/>
              </a:rPr>
              <a:t> ollama.service OLLAMA_HOST=0.0.0.0:11434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19150" y="2343150"/>
            <a:ext cx="48958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其他机器即可访问你的模型服务——把本地模型变成团队共享能力。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229350" y="1333500"/>
            <a:ext cx="5391150" cy="5334000"/>
          </a:xfrm>
          <a:prstGeom prst="roundRect">
            <a:avLst>
              <a:gd name="adj" fmla="val 2500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77000" y="1562100"/>
            <a:ext cx="228600" cy="22860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19900" y="1562100"/>
            <a:ext cx="1000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Dify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可视化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477000" y="1924050"/>
            <a:ext cx="489585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· docker-compose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部署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Dify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配置模型供应商（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Ollama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）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创建聊天助手应用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接入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V4-Flash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开始对话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477000" y="3362325"/>
            <a:ext cx="4895850" cy="352425"/>
          </a:xfrm>
          <a:prstGeom prst="roundRect">
            <a:avLst>
              <a:gd name="adj" fmla="val 21622"/>
            </a:avLst>
          </a:prstGeom>
          <a:solidFill>
            <a:srgbClr val="FF9F1C">
              <a:alpha val="12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610350" y="3457575"/>
            <a:ext cx="462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告别命令行，网页聊天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7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position: 'absolute', top: -60, right: -60, width: 260, height: 260, borderRadius: 130, background: 'rgba(34,211,238,0.1)' }} /&gt;&#10;&#10;  &lt;Box style={{ position: 'relative', zIndex: 2, width: '100%', height: '100%', flexDirection: 'column', justifyContent: 'center' }}&gt;&#10;    &lt;Text style={{ fontSize: 14, color: '#22D3EE', fontWeight: 'bold', letterSpacing: 3, marginBottom: 14 }}&gt;CHAPTER 04 · CHOICE &amp; PRACTICE&lt;/Text&gt;&#10;    &lt;Text style={{ fontSize: 40, color: '#FFFFFF', fontWeight: 'bold', marginBottom: 30 }}&gt;本地 vs 云 API：双轨策略，动手开跑&lt;/Text&gt;&#10;&#10;    &lt;Box style={{ flexDirection: 'row', gap: 24, marginBottom: 30 }}&gt;&#10;      &lt;Box style={{ flex: 1, background: 'rgba(255,255,255,0.07)', border: '1px solid rgba(220,231,245,0.2)', borderRadius: 14, padding: '24px 26px' }}&gt;&#10;        &lt;Text style={{ fontSize: 20, fontWeight: 'bold', color: '#FFFFFF', marginBottom: 10 }}&gt;本地 Ollama&lt;/Text&gt;&#10;        &lt;Text style={{ fontSize: 15, color: '#DCE7F5', lineHeight: 1.9 }}&gt;&#10;          ✅ 免费无限 · 数据不出门&lt;br /&gt;&#10;          ⚠️ 吃硬件 · 需 24GB+ 显存&#10;        &lt;/Text&gt;&#10;      &lt;/Box&gt;&#10;      &lt;Box style={{ flex: 1, background: 'rgba(255,255,255,0.07)', border: '1px solid rgba(220,231,245,0.2)', borderRadius: 14, padding: '24px 26px' }}&gt;&#10;        &lt;Text style={{ fontSize: 20, fontWeight: 'bold', color: '#FFFFFF', marginBottom: 10 }}&gt;云 API&lt;/Text&gt;&#10;        &lt;Text style={{ fontSize: 15, color: '#DCE7F5', lineHeight: 1.9 }}&gt;&#10;          ✅ 免部署 · $0.14/M 成本低&lt;br /&gt;&#10;          ⚠️ 数据出境 · 按量计费&#10;        &lt;/Text&gt;&#10;      &lt;/Box&gt;&#10;    &lt;/Box&gt;&#10;&#10;    &lt;Box style={{ background: 'rgba(255,159,28,0.12)', border: '1px solid rgba(255,159,28,0.3)', borderRadius: 14, padding: '22px 26px', marginBottom: 14 }}&gt;&#10;      &lt;Text style={{ fontSize: 18, fontWeight: 'bold', color: '#FF9F1C', marginBottom: 10 }}&gt;动手练习 · 三步完成&lt;/Text&gt;&#10;      &lt;Text style={{ fontSize: 15, color: '#DCE7F5', lineHeight: 1.9 }}&gt;&#10;        ① 装好 Python 环境 → ② Ollama 拉取 V4-Flash（或降级小模型）→ ③ Dify 里对话，截图存档&#10;      &lt;/Text&gt;&#10;    &lt;/Box&gt;&#10;&#10;    &lt;Box style={{ background: 'rgba(255,255,255,0.06)', borderRadius: 12, padding: '18px 24px' }}&gt;&#10;      &lt;Text style={{ fontSize: 15, color: '#DCE7F5', lineHeight: 1.9 }}&gt;&#10;        自测 3 题：V4-Flash 参数特点？Ollama 与 Docker 类比？本地 vs 云 API 适用场景？&#10;      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10287000" y="-5715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71500" y="11144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CHAPTER 04 · CHOICE &amp; PRACTICE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11049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本地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vs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云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 API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：双轨策略，动手开跑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1500" y="2152650"/>
            <a:ext cx="5410200" cy="1438275"/>
          </a:xfrm>
          <a:prstGeom prst="roundRect">
            <a:avLst>
              <a:gd name="adj" fmla="val 927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19150" y="238125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本地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Ollama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19150" y="2705100"/>
            <a:ext cx="49149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✅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免费无限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数据不出门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⚠️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吃硬件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需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24GB+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显存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210300" y="2152650"/>
            <a:ext cx="5410200" cy="1438275"/>
          </a:xfrm>
          <a:prstGeom prst="roundRect">
            <a:avLst>
              <a:gd name="adj" fmla="val 927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DCE7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457950" y="238125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云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 API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457950" y="2705100"/>
            <a:ext cx="49149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✅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免部署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$0.14/M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成本低</a:t>
            </a:r>
            <a:endParaRPr/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⚠️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数据出境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按量计费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3876675"/>
            <a:ext cx="11049000" cy="1057275"/>
          </a:xfrm>
          <a:prstGeom prst="roundRect">
            <a:avLst>
              <a:gd name="adj" fmla="val 1261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9150" y="4086225"/>
            <a:ext cx="10553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动手练习</a:t>
            </a: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FF9F1C"/>
                </a:solidFill>
                <a:latin typeface="思源黑体"/>
                <a:ea typeface="思源黑体"/>
              </a:rPr>
              <a:t>三步完成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19150" y="4391025"/>
            <a:ext cx="105537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①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装好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Python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环境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→ ② Ollama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拉取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V4-Flash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（或降级小模型）→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③ Dify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里对话，截图存档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71500" y="5067300"/>
            <a:ext cx="11049000" cy="676275"/>
          </a:xfrm>
          <a:prstGeom prst="roundRect">
            <a:avLst>
              <a:gd name="adj" fmla="val 1690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0100" y="5238750"/>
            <a:ext cx="105918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自测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3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题：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V4-Flash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参数特点？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Ollama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与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Docker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类比？本地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vs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云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API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适用场景？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2026-08-12T08:13:40Z</dcterms:created>
  <dcterms:modified xsi:type="dcterms:W3CDTF">2026-08-12T08:13:40Z</dcterms:modified>
</cp:coreProperties>
</file>