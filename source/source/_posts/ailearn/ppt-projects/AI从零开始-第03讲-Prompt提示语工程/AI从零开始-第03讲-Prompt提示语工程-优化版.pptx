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15" Type="http://schemas.openxmlformats.org/officeDocument/2006/relationships/viewProps" Target="viewProps.xml" 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2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6" Type="http://schemas.openxmlformats.org/officeDocument/2006/relationships/image" Target="media/image10.svg" /><Relationship Id="rId5" Type="http://schemas.openxmlformats.org/officeDocument/2006/relationships/image" Target="media/image9.svg" /><Relationship Id="rId1" Type="http://schemas.openxmlformats.org/officeDocument/2006/relationships/image" Target="media/image5.svg" /><Relationship Id="rId4" Type="http://schemas.openxmlformats.org/officeDocument/2006/relationships/image" Target="media/image8.svg" /><Relationship Id="rId2" Type="http://schemas.openxmlformats.org/officeDocument/2006/relationships/image" Target="media/image6.svg" /><Relationship Id="rId3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5" Type="http://schemas.openxmlformats.org/officeDocument/2006/relationships/image" Target="media/image14.svg" /><Relationship Id="rId4" Type="http://schemas.openxmlformats.org/officeDocument/2006/relationships/image" Target="media/image13.svg" /><Relationship Id="rId3" Type="http://schemas.openxmlformats.org/officeDocument/2006/relationships/image" Target="media/image1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1.svg" /><Relationship Id="rId1" Type="http://schemas.openxmlformats.org/officeDocument/2006/relationships/image" Target="media/image5.svg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16.svg" /><Relationship Id="rId3" Type="http://schemas.openxmlformats.org/officeDocument/2006/relationships/image" Target="media/image17.svg" /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19.svg" /><Relationship Id="rId2" Type="http://schemas.openxmlformats.org/officeDocument/2006/relationships/image" Target="media/image18.svg" /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4" Type="http://schemas.openxmlformats.org/officeDocument/2006/relationships/image" Target="media/image10.svg" /><Relationship Id="rId3" Type="http://schemas.openxmlformats.org/officeDocument/2006/relationships/image" Target="media/image22.svg" /><Relationship Id="rId2" Type="http://schemas.openxmlformats.org/officeDocument/2006/relationships/image" Target="media/image21.svg" /><Relationship Id="rId1" Type="http://schemas.openxmlformats.org/officeDocument/2006/relationships/image" Target="media/image20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4" Type="http://schemas.openxmlformats.org/officeDocument/2006/relationships/image" Target="media/image24.svg" /><Relationship Id="rId3" Type="http://schemas.openxmlformats.org/officeDocument/2006/relationships/image" Target="media/image16.svg" /><Relationship Id="rId2" Type="http://schemas.openxmlformats.org/officeDocument/2006/relationships/image" Target="media/image23.svg" /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5" Type="http://schemas.openxmlformats.org/officeDocument/2006/relationships/image" Target="media/image26.svg" /><Relationship Id="rId4" Type="http://schemas.openxmlformats.org/officeDocument/2006/relationships/image" Target="media/image9.svg" /><Relationship Id="rId3" Type="http://schemas.openxmlformats.org/officeDocument/2006/relationships/image" Target="media/image15.svg" /><Relationship Id="rId2" Type="http://schemas.openxmlformats.org/officeDocument/2006/relationships/image" Target="media/image7.svg" /><Relationship Id="rId1" Type="http://schemas.openxmlformats.org/officeDocument/2006/relationships/image" Target="media/image25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4" Type="http://schemas.openxmlformats.org/officeDocument/2006/relationships/image" Target="media/image4.svg" /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3 讲&lt;/Text&gt;&#10;    &lt;Text style={{ fontSize: 52, color: '#FFFFFF', fontWeight: 'bold', lineHeight: 1.25, marginBottom: 20 }}&gt;&#10;      Prompt 提示语工程&#10;    &lt;/Text&gt;&#10;    &lt;Box style={{ width: 80, height: 4, background: '#FF9F1C', marginBottom: 28 }} /&gt;&#10;    &lt;Text style={{ fontSize: 22, color: '#DCE7F5', lineHeight: 1.6 }}&gt;&#10;      让 AI 一次就懂&#10;    &lt;/Text&gt;&#10;    &lt;Text style={{ fontSize: 15, color: '#8FA4B8', marginTop: 36 }}&gt;&#10;      五要素骨架：角色 · 上下文 · 指令 · 范例 · 输出格式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3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Prompt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提示语工程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184785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15265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让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AI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一次就懂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290512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五要素骨架：角色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上下文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指令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范例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输出格式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5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PROMPT ANATOMY&lt;/Text&gt;&#10;    &lt;Text style={{ fontSize: 34, color: '#16263F', fontWeight: 'bold', marginBottom: 14 }}&gt;Prompt 是给模型的工作说明书&lt;/Text&gt;&#10;    &lt;Box style={{ width: 56, height: 4, background: '#22D3EE', marginBottom: 22 }} /&gt;&#10;&#10;    &lt;Box style={{ flexDirection: 'row', gap: 16, flex: 1 }}&gt;&#10;      {[&#10;        { n: '①', t: '角色', d: '给 AI 戴职业帽子', e: '「你是资深架构师」', icon: 'user-tie' },&#10;        { n: '②', t: '上下文', d: '给足背景再提问', e: '项目背景 · 约束条件', icon: 'info-circle' },&#10;        { n: '③', t: '指令', d: '动词先行 + 结果导向', e: '做什么 · 怎么做', icon: 'bullseye' },&#10;        { n: '④', t: '范例', d: '给 AI 临摹字帖', e: '示例输入 → 输出', icon: 'copy' },&#10;        { n: '⑤', t: '输出格式', d: '搭好舞台框架', e: '表格 / 代码 / 列表', icon: 'table' },&#10;      ].map((item, idx) =&gt; (&#10;        &lt;Box key={idx} style={{ flex: 1, background: '#FFFFFF', borderRadius: 14, padding: '22px 20px', boxShadow: '0 2px 12px rgba(22,38,63,0.06)' }}&gt;&#10;          &lt;Box style={{ flexDirection: 'row', alignItems: 'center', gap: 10, marginBottom: 14 }}&gt;&#10;            &lt;Text style={{ fontSize: 16, color: '#FF9F1C', fontWeight: 'bold' }}&gt;{item.n}&lt;/Text&gt;&#10;            &lt;Box style={{ width: 36, height: 36, borderRadius: 10, background: '#EAF2FB', justifyContent: 'center', alignItems: 'center' }}&gt;&#10;              &lt;FAIcon name={item.icon} style={{ fill: '#22D3EE', width: 18, height: 18 }} /&gt;&#10;            &lt;/Box&gt;&#10;          &lt;/Box&gt;&#10;          &lt;Text style={{ fontSize: 19, fontWeight: 'bold', color: '#16263F', marginBottom: 8 }}&gt;{item.t}&lt;/Text&gt;&#10;          &lt;Text style={{ fontSize: 14, color: '#5B6B7A', lineHeight: 1.6, marginBottom: 12 }}&gt;{item.d}&lt;/Text&gt;&#10;          &lt;Box style={{ marginTop: 'auto', background: '#F5F7FA', borderRadius: 8, padding: '8px 12px' }}&gt;&#10;            &lt;Text style={{ fontSize: 12, color: '#5B6B7A' }}&gt;{item.e}&lt;/Text&gt;&#10;          &lt;/Box&gt;&#10;        &lt;/Box&gt;&#10;      ))}&#10;    &lt;/Box&gt;&#10;&#10;    &lt;Box style={{ marginTop: 18, background: '#16263F', borderRadius: 12, padding: '16px 22px', flexDirection: 'row', alignItems: 'center', gap: 12 }}&gt;&#10;      &lt;FAIcon name='lightbulb' style={{ fill: '#FF9F1C', width: 20, height: 20 }} /&gt;&#10;      &lt;Text style={{ fontSize: 15, color: '#DCE7F5', fontWeight: 'bold' }}&gt;&#10;        五要素不是每句都要齐，但缺一个，模型就只能靠「猜」——猜不准就答非所问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3 讲&lt;/Text&gt;&#10;    &lt;Text style={{ fontSize: 14, color: '#5B6B7A' }}&gt;0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PROMPT ANATOMY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Prompt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是给模型的工作说明书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571500" y="1200150"/>
            <a:ext cx="2085975" cy="4800600"/>
          </a:xfrm>
          <a:prstGeom prst="roundRect">
            <a:avLst>
              <a:gd name="adj" fmla="val 639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62000" y="14859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F9F1C"/>
                </a:solidFill>
                <a:latin typeface="思源黑体"/>
                <a:ea typeface="思源黑体"/>
              </a:rPr>
              <a:t>①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1009650" y="14097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95375" y="1495425"/>
            <a:ext cx="171450" cy="17145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62000" y="1885950"/>
            <a:ext cx="1704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角色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62000" y="2181225"/>
            <a:ext cx="17049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给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戴职业帽子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62000" y="5495925"/>
            <a:ext cx="1704975" cy="295275"/>
          </a:xfrm>
          <a:prstGeom prst="roundRect">
            <a:avLst>
              <a:gd name="adj" fmla="val 2580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76300" y="5572125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「你是资深架构师」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2809875" y="1200150"/>
            <a:ext cx="2085975" cy="4800600"/>
          </a:xfrm>
          <a:prstGeom prst="roundRect">
            <a:avLst>
              <a:gd name="adj" fmla="val 639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000375" y="14859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F9F1C"/>
                </a:solidFill>
                <a:latin typeface="思源黑体"/>
                <a:ea typeface="思源黑体"/>
              </a:rPr>
              <a:t>②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248025" y="14097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333750" y="1495425"/>
            <a:ext cx="171450" cy="17145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000375" y="1885950"/>
            <a:ext cx="1704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上下文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000375" y="2181225"/>
            <a:ext cx="17049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给足背景再提问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000375" y="5495925"/>
            <a:ext cx="1704975" cy="295275"/>
          </a:xfrm>
          <a:prstGeom prst="roundRect">
            <a:avLst>
              <a:gd name="adj" fmla="val 2580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114675" y="5572125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项目背景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约束条件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048250" y="1200150"/>
            <a:ext cx="2095500" cy="48006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238750" y="14859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F9F1C"/>
                </a:solidFill>
                <a:latin typeface="思源黑体"/>
                <a:ea typeface="思源黑体"/>
              </a:rPr>
              <a:t>③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486400" y="14097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572125" y="1495425"/>
            <a:ext cx="171450" cy="171450"/>
          </a:xfrm>
          <a:prstGeom prst="rect">
            <a:avLst/>
          </a:prstGeom>
          <a:ln/>
        </p:spPr>
      </p:pic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238750" y="188595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指令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238750" y="21812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动词先行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结果导向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5238750" y="5495925"/>
            <a:ext cx="1714500" cy="295275"/>
          </a:xfrm>
          <a:prstGeom prst="roundRect">
            <a:avLst>
              <a:gd name="adj" fmla="val 2580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353050" y="5572125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做什么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怎么做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296150" y="1200150"/>
            <a:ext cx="2085975" cy="4800600"/>
          </a:xfrm>
          <a:prstGeom prst="roundRect">
            <a:avLst>
              <a:gd name="adj" fmla="val 639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486650" y="14859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F9F1C"/>
                </a:solidFill>
                <a:latin typeface="思源黑体"/>
                <a:ea typeface="思源黑体"/>
              </a:rPr>
              <a:t>④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7734300" y="14097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820025" y="1495425"/>
            <a:ext cx="171450" cy="171450"/>
          </a:xfrm>
          <a:prstGeom prst="rect">
            <a:avLst/>
          </a:prstGeom>
          <a:ln/>
        </p:spPr>
      </p:pic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486650" y="1885950"/>
            <a:ext cx="1704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范例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486650" y="2181225"/>
            <a:ext cx="17049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给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临摹字帖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486650" y="5495925"/>
            <a:ext cx="1704975" cy="295275"/>
          </a:xfrm>
          <a:prstGeom prst="roundRect">
            <a:avLst>
              <a:gd name="adj" fmla="val 2580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600950" y="5572125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示例输入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 →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输出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9534525" y="1200150"/>
            <a:ext cx="2085975" cy="4800600"/>
          </a:xfrm>
          <a:prstGeom prst="roundRect">
            <a:avLst>
              <a:gd name="adj" fmla="val 639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725025" y="14859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F9F1C"/>
                </a:solidFill>
                <a:latin typeface="思源黑体"/>
                <a:ea typeface="思源黑体"/>
              </a:rPr>
              <a:t>⑤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9972675" y="14097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058400" y="1495425"/>
            <a:ext cx="171450" cy="171450"/>
          </a:xfrm>
          <a:prstGeom prst="rect">
            <a:avLst/>
          </a:prstGeom>
          <a:ln/>
        </p:spPr>
      </p:pic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725025" y="1885950"/>
            <a:ext cx="1704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输出格式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725025" y="2181225"/>
            <a:ext cx="17049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搭好舞台框架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9725025" y="5495925"/>
            <a:ext cx="1704975" cy="295275"/>
          </a:xfrm>
          <a:prstGeom prst="roundRect">
            <a:avLst>
              <a:gd name="adj" fmla="val 2580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9839325" y="5572125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表格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 /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代码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 /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列表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571500" y="6172200"/>
            <a:ext cx="11049000" cy="495300"/>
          </a:xfrm>
          <a:prstGeom prst="roundRect">
            <a:avLst>
              <a:gd name="adj" fmla="val 23077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81050" y="6324600"/>
            <a:ext cx="190500" cy="190500"/>
          </a:xfrm>
          <a:prstGeom prst="rect">
            <a:avLst/>
          </a:prstGeom>
          <a:ln/>
        </p:spPr>
      </p:pic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85850" y="6334125"/>
            <a:ext cx="509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CE7F5"/>
                </a:solidFill>
                <a:latin typeface="思源黑体"/>
                <a:ea typeface="思源黑体"/>
              </a:rPr>
              <a:t>五要素不是每句都要齐，但缺一个，模型就只能靠「猜」——猜不准就答非所问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5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LEMENT 01 · ROLE&lt;/Text&gt;&#10;    &lt;Text style={{ fontSize: 34, color: '#16263F', fontWeight: 'bold', marginBottom: 14 }}&gt;要素①角色：给 AI 戴上职业帽子&lt;/Text&gt;&#10;    &lt;Box style={{ width: 56, height: 4, background: '#22D3EE', marginBottom: 22 }} /&gt;&#10;&#10;    &lt;Box style={{ flexDirection: 'row', gap: 26, flex: 1 }}&gt;&#10;      &lt;Box style={{ flex: 4, flexDirection: 'column', gap: 14 }}&gt;&#10;        {[&#10;          { t: '专业型', d: '「你是资深后端工程师」→ 输出更内行', icon: 'user-tie' },&#10;          { t: '创意型', d: '「你是文案策划」→ 表达更有感染力', icon: 'palette' },&#10;          { t: '中介型', d: '「你是翻译/谈判专家」→ 擅长双向转换', icon: 'handshake' },&#10;        ].map((item, idx) =&gt; (&#10;          &lt;Box key={idx} style={{ flex: 1, background: '#FFFFFF', borderRadius: 12, padding: '18px 22px', boxShadow: '0 2px 12px rgba(22,38,63,0.06)', flexDirection: 'row', alignItems: 'center', gap: 14 }}&gt;&#10;            &lt;Box style={{ width: 42, height: 42, borderRadius: 11, background: '#EAF2FB', justifyContent: 'center', alignItems: 'center' }}&gt;&#10;              &lt;FAIcon name={item.icon} style={{ fill: '#22D3EE', width: 20, height: 20 }} /&gt;&#10;            &lt;/Box&gt;&#10;            &lt;Box style={{ flex: 1 }}&gt;&#10;              &lt;Text style={{ fontSize: 17, fontWeight: 'bold', color: '#16263F', marginBottom: 3 }}&gt;{item.t}&lt;/Text&gt;&#10;              &lt;Text style={{ fontSize: 14, color: '#5B6B7A' }}&gt;{item.d}&lt;/Text&gt;&#10;            &lt;/Box&gt;&#10;          &lt;/Box&gt;&#10;        ))}&#10;      &lt;/Box&gt;&#10;&#10;      &lt;Box style={{ flex: 5, flexDirection: 'column', gap: 14 }}&gt;&#10;        &lt;Box style={{ flex: 1, background: '#FFFFFF', borderRadius: 12, padding: '18px 22px', border: '1px solid rgba(255,159,28,0.35)', boxShadow: '0 2px 12px rgba(22,38,63,0.06)' }}&gt;&#10;          &lt;Box style={{ flexDirection: 'row', alignItems: 'center', gap: 10, marginBottom: 8 }}&gt;&#10;            &lt;FAIcon name='times-circle' style={{ fill: '#FF9F1C', width: 20, height: 20 }} /&gt;&#10;            &lt;Text style={{ fontSize: 15, fontWeight: 'bold', color: '#FF9F1C' }}&gt;反面：没戴帽子&lt;/Text&gt;&#10;          &lt;/Box&gt;&#10;          &lt;Text style={{ fontSize: 15, color: '#5B6B7A', lineHeight: 1.7 }}&gt;&#10;            「帮我写个活动方案」→ 模型不知道你是什么身份、要什么语气，输出泛泛而谈。&#10;          &lt;/Text&gt;&#10;        &lt;/Box&gt;&#10;        &lt;Box style={{ flex: 1, background: '#16263F', borderRadius: 12, padding: '18px 22px' }}&gt;&#10;          &lt;Box style={{ flexDirection: 'row', alignItems: 'center', gap: 10, marginBottom: 8 }}&gt;&#10;            &lt;FAIcon name='check-circle' style={{ fill: '#22D3EE', width: 20, height: 20 }} /&gt;&#10;            &lt;Text style={{ fontSize: 15, fontWeight: 'bold', color: '#FFFFFF' }}&gt;正面：戴好帽子&lt;/Text&gt;&#10;          &lt;/Box&gt;&#10;          &lt;Text style={{ fontSize: 15, color: '#DCE7F5', lineHeight: 1.7 }}&gt;&#10;            「你是一位有 5 年经验的线下活动策划，帮我写一份面向 30 人技术分享会的活动方案」→ 输出更有针对性。&#10;          &lt;/Text&gt;&#10;        &lt;/Box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3 讲&lt;/Text&gt;&#10;    &lt;Text style={{ fontSize: 14, color: '#5B6B7A' }}&gt;0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ELEMENT 01 · ROLE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要素①角色：给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戴上职业帽子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571500" y="1200150"/>
            <a:ext cx="48006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781050" y="18669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85825" y="1971675"/>
            <a:ext cx="190500" cy="190500"/>
          </a:xfrm>
          <a:prstGeom prst="rect">
            <a:avLst/>
          </a:prstGeom>
          <a:ln/>
        </p:spPr>
      </p:pic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314450" y="1876425"/>
            <a:ext cx="3848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专业型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314450" y="2105025"/>
            <a:ext cx="3848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「你是资深后端工程师」→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输出更内行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71500" y="3067050"/>
            <a:ext cx="48006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781050" y="37338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85825" y="3838575"/>
            <a:ext cx="190500" cy="19050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314450" y="3743325"/>
            <a:ext cx="3848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创意型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314450" y="3971925"/>
            <a:ext cx="3848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「你是文案策划」→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表达更有感染力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4933950"/>
            <a:ext cx="48006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781050" y="56007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85825" y="5705475"/>
            <a:ext cx="190500" cy="190500"/>
          </a:xfrm>
          <a:prstGeom prst="rect">
            <a:avLst/>
          </a:pr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314450" y="5610225"/>
            <a:ext cx="3848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中介型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314450" y="5838825"/>
            <a:ext cx="3848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「你是翻译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/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谈判专家」→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擅长双向转换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619750" y="1200150"/>
            <a:ext cx="6000750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9F1C">
                <a:alpha val="35000"/>
              </a:srgbClr>
            </a:solidFill>
            <a:prstDash val="solid"/>
          </a:ln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829300" y="1371600"/>
            <a:ext cx="190500" cy="190500"/>
          </a:xfrm>
          <a:prstGeom prst="rect">
            <a:avLst/>
          </a:prstGeom>
          <a:ln/>
        </p:spPr>
      </p:pic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115050" y="1381125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反面：没戴帽子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829300" y="1638300"/>
            <a:ext cx="55816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「帮我写个活动方案」→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模型不知道你是什么身份、要什么语气，输出泛泛而谈。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5619750" y="3857625"/>
            <a:ext cx="6000750" cy="2809875"/>
          </a:xfrm>
          <a:prstGeom prst="roundRect">
            <a:avLst>
              <a:gd name="adj" fmla="val 4068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5829300" y="4029075"/>
            <a:ext cx="190500" cy="190500"/>
          </a:xfrm>
          <a:prstGeom prst="rect">
            <a:avLst/>
          </a:prstGeom>
          <a:ln/>
        </p:spPr>
      </p:pic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115050" y="4038600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正面：戴好帽子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829300" y="4295775"/>
            <a:ext cx="5581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「你是一位有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5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年经验的线下活动策划，帮我写一份面向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30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人技术分享会的活动方案」→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输出更有针对性。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5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LEMENT 02 · CONTEXT&lt;/Text&gt;&#10;    &lt;Text style={{ fontSize: 34, color: '#16263F', fontWeight: 'bold', marginBottom: 14 }}&gt;要素②上下文：给足背景才不答非所问&lt;/Text&gt;&#10;    &lt;Box style={{ width: 56, height: 4, background: '#22D3EE', marginBottom: 22 }} /&gt;&#10;&#10;    &lt;Box style={{ flexDirection: 'row', gap: 26, flex: 1 }}&gt;&#10;      &lt;Box style={{ flex: 5, flexDirection: 'column', gap: 16 }}&gt;&#10;        &lt;Box style={{ flex: 1, background: '#FFFFFF', borderRadius: 12, padding: '20px 24px', boxShadow: '0 2px 12px rgba(22,38,63,0.06)' }}&gt;&#10;          &lt;Box style={{ flexDirection: 'row', alignItems: 'center', gap: 10, marginBottom: 10 }}&gt;&#10;            &lt;FAIcon name='file-alt' style={{ fill: '#22D3EE', width: 20, height: 20 }} /&gt;&#10;            &lt;Text style={{ fontSize: 17, fontWeight: 'bold', color: '#16263F' }}&gt;单次背景&lt;/Text&gt;&#10;          &lt;/Box&gt;&#10;          &lt;Text style={{ fontSize: 15, color: '#5B6B7A', lineHeight: 1.8 }}&gt;&#10;            一次说清：我是谁、要解决什么问题、有什么约束、给谁看。&lt;span style={{ fontWeight: 'bold', color: '#16263F' }}&gt;信息越具体，答案越贴题&lt;/span&gt;。&#10;          &lt;/Text&gt;&#10;        &lt;/Box&gt;&#10;        &lt;Box style={{ flex: 1, background: '#FFFFFF', borderRadius: 12, padding: '20px 24px', boxShadow: '0 2px 12px rgba(22,38,63,0.06)' }}&gt;&#10;          &lt;Box style={{ flexDirection: 'row', alignItems: 'center', gap: 10, marginBottom: 10 }}&gt;&#10;            &lt;FAIcon name='comments' style={{ fill: '#22D3EE', width: 20, height: 20 }} /&gt;&#10;            &lt;Text style={{ fontSize: 17, fontWeight: 'bold', color: '#16263F' }}&gt;多轮延续&lt;/Text&gt;&#10;          &lt;/Box&gt;&#10;          &lt;Text style={{ fontSize: 15, color: '#5B6B7A', lineHeight: 1.8 }}&gt;&#10;            对话是连续的：第一轮交代背景，后续只需追问补充，模型会&lt;span style={{ fontWeight: 'bold', color: '#16263F' }}&gt;记住上文&lt;/span&gt;。&#10;          &lt;/Text&gt;&#10;        &lt;/Box&gt;&#10;      &lt;/Box&gt;&#10;&#10;      &lt;Box style={{ flex: 4, background: '#16263F', borderRadius: 14, padding: '24px 26px' }}&gt;&#10;        &lt;Text style={{ fontSize: 18, fontWeight: 'bold', color: '#FFFFFF', marginBottom: 16 }}&gt;两大误区，避开它&lt;/Text&gt;&#10;        &lt;Box style={{ flexDirection: 'row', alignItems: 'flex-start', gap: 12, marginBottom: 16 }}&gt;&#10;          &lt;Box style={{ width: 28, height: 28, borderRadius: 8, background: 'rgba(255,159,28,0.15)', justifyContent: 'center', alignItems: 'center' }}&gt;&#10;            &lt;FAIcon name='times' style={{ fill: '#FF9F1C', width: 14, height: 14 }} /&gt;&#10;          &lt;/Box&gt;&#10;          &lt;Box style={{ flex: 1 }}&gt;&#10;            &lt;Text style={{ fontSize: 15, color: '#FF9F1C', fontWeight: 'bold', marginBottom: 4 }}&gt;背景缺失&lt;/Text&gt;&#10;            &lt;Text style={{ fontSize: 14, color: '#DCE7F5', lineHeight: 1.7 }}&gt;什么都不给，指望模型读心——必答非所问。&lt;/Text&gt;&#10;          &lt;/Box&gt;&#10;        &lt;/Box&gt;&#10;        &lt;Box style={{ flexDirection: 'row', alignItems: 'flex-start', gap: 12 }}&gt;&#10;          &lt;Box style={{ width: 28, height: 28, borderRadius: 8, background: 'rgba(255,159,28,0.15)', justifyContent: 'center', alignItems: 'center' }}&gt;&#10;            &lt;FAIcon name='times' style={{ fill: '#FF9F1C', width: 14, height: 14 }} /&gt;&#10;          &lt;/Box&gt;&#10;          &lt;Box style={{ flex: 1 }}&gt;&#10;            &lt;Text style={{ fontSize: 15, color: '#FF9F1C', fontWeight: 'bold', marginBottom: 4 }}&gt;背景过载&lt;/Text&gt;&#10;            &lt;Text style={{ fontSize: 14, color: '#DCE7F5', lineHeight: 1.7 }}&gt;一坨无关信息全倒进来，重点被稀释——先提炼再投喂。&lt;/Text&gt;&#10;          &lt;/Box&gt;&#10;        &lt;/Box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3 讲&lt;/Text&gt;&#10;    &lt;Text style={{ fontSize: 14, color: '#5B6B7A' }}&gt;0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ELEMENT 02 · CONTEXT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要素②上下文：给足背景才不答非所问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571500" y="1200150"/>
            <a:ext cx="6000750" cy="2809875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400175"/>
            <a:ext cx="190500" cy="19050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85850" y="1390650"/>
            <a:ext cx="66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单次背景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00100" y="1685925"/>
            <a:ext cx="55435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一次说清：我是谁、要解决什么问题、有什么约束、给谁看。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信息越具体，答案越贴题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71500" y="4162425"/>
            <a:ext cx="6000750" cy="2505075"/>
          </a:xfrm>
          <a:prstGeom prst="roundRect">
            <a:avLst>
              <a:gd name="adj" fmla="val 45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4362450"/>
            <a:ext cx="190500" cy="190500"/>
          </a:xfrm>
          <a:prstGeom prst="rect">
            <a:avLst/>
          </a:prstGeom>
          <a:ln/>
        </p:spPr>
      </p:pic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85850" y="4352925"/>
            <a:ext cx="66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多轮延续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00100" y="4648200"/>
            <a:ext cx="554355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对话是连续的：第一轮交代背景，后续只需追问补充，模型会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记住上文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819900" y="1200150"/>
            <a:ext cx="4800600" cy="5467350"/>
          </a:xfrm>
          <a:prstGeom prst="roundRect">
            <a:avLst>
              <a:gd name="adj" fmla="val 2778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067550" y="142875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两大误区，避开它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7067550" y="17907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1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134225" y="1857375"/>
            <a:ext cx="133350" cy="133350"/>
          </a:xfrm>
          <a:prstGeom prst="rect">
            <a:avLst/>
          </a:prstGeom>
          <a:ln/>
        </p:spPr>
      </p:pic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48550" y="179070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背景缺失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48550" y="2000250"/>
            <a:ext cx="39243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什么都不给，指望模型读心——必答非所问。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7067550" y="24288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1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134225" y="2495550"/>
            <a:ext cx="133350" cy="133350"/>
          </a:xfrm>
          <a:prstGeom prst="rect">
            <a:avLst/>
          </a:prstGeom>
          <a:ln/>
        </p:spPr>
      </p:pic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48550" y="242887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背景过载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448550" y="2638425"/>
            <a:ext cx="39243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一坨无关信息全倒进来，重点被稀释——先提炼再投喂。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0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LEMENT 03 · INSTRUCTION&lt;/Text&gt;&#10;    &lt;Text style={{ fontSize: 34, color: '#16263F', fontWeight: 'bold', marginBottom: 14 }}&gt;要素③指令：动词先行 + 结果导向&lt;/Text&gt;&#10;    &lt;Box style={{ width: 56, height: 4, background: '#22D3EE', marginBottom: 22 }} /&gt;&#10;&#10;    &lt;Box style={{ flexDirection: 'row', gap: 20, flex: 1 }}&gt;&#10;      {[&#10;        { t: '笼统 → 具体', bad: '写点关于效率的东西', good: '列出 3 个提升程序员效率的方法，各配一句说明', icon: 'bullseye' },&#10;        { t: '多指令混杂 → 分步', bad: '改代码、写注释、加测试一起弄', good: '第一步只做重构，确认后再进入下一步', icon: 'list-ol' },&#10;        { t: '无约束 → 约束绑定', bad: '写个产品介绍', good: '写 150 字内，面向初学者，用大白话', icon: 'link' },&#10;      ].map((item, idx) =&gt; (&#10;        &lt;Box key={idx} style={{ flex: 1, background: '#FFFFFF', borderRadius: 14, padding: '22px 22px', boxShadow: '0 2px 12px rgba(22,38,63,0.06)' }}&gt;&#10;          &lt;Box style={{ flexDirection: 'row', alignItems: 'center', gap: 10, marginBottom: 14 }}&gt;&#10;            &lt;Box style={{ width: 38, height: 38, borderRadius: 10, background: '#EAF2FB', justifyContent: 'center', alignItems: 'center' }}&gt;&#10;              &lt;FAIcon name={item.icon} style={{ fill: '#22D3EE', width: 18, height: 18 }} /&gt;&#10;            &lt;/Box&gt;&#10;            &lt;Text style={{ fontSize: 17, fontWeight: 'bold', color: '#16263F' }}&gt;{item.t}&lt;/Text&gt;&#10;          &lt;/Box&gt;&#10;          &lt;Box style={{ background: '#F5F7FA', borderRadius: 8, padding: '10px 14px', marginBottom: 10 }}&gt;&#10;            &lt;Text style={{ fontSize: 13, color: '#FF9F1C', fontWeight: 'bold', marginBottom: 4 }}&gt;反例&lt;/Text&gt;&#10;            &lt;Text style={{ fontSize: 14, color: '#5B6B7A', lineHeight: 1.6 }}&gt;{item.bad}&lt;/Text&gt;&#10;          &lt;/Box&gt;&#10;          &lt;Box style={{ background: '#16263F', borderRadius: 8, padding: '10px 14px' }}&gt;&#10;            &lt;Text style={{ fontSize: 13, color: '#22D3EE', fontWeight: 'bold', marginBottom: 4 }}&gt;正例&lt;/Text&gt;&#10;            &lt;Text style={{ fontSize: 14, color: '#DCE7F5', lineHeight: 1.6 }}&gt;{item.good}&lt;/Text&gt;&#10;          &lt;/Box&gt;&#10;        &lt;/Box&gt;&#10;      ))}&#10;    &lt;/Box&gt;&#10;&#10;    &lt;Box style={{ marginTop: 18, background: '#DCE7F5', borderRadius: 10, padding: '14px 20px' }}&gt;&#10;      &lt;Text style={{ fontSize: 15, color: '#16263F', fontWeight: 'bold' }}&gt;&#10;        记住：动词开头（列出/写出/重构）+ 说清结果（几个、多长、给谁）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3 讲&lt;/Text&gt;&#10;    &lt;Text style={{ fontSize: 14, color: '#5B6B7A' }}&gt;0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ELEMENT 03 · INSTRUCTION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要素③指令：动词先行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+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结果导向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571500" y="1200150"/>
            <a:ext cx="3552825" cy="4857750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781050" y="14097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504950"/>
            <a:ext cx="171450" cy="17145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238250" y="149542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笼统</a:t>
            </a: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具体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781050" y="1905000"/>
            <a:ext cx="3133725" cy="638175"/>
          </a:xfrm>
          <a:prstGeom prst="roundRect">
            <a:avLst>
              <a:gd name="adj" fmla="val 1194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14400" y="2000250"/>
            <a:ext cx="2867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反例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14400" y="2190750"/>
            <a:ext cx="28670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写点关于效率的东西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781050" y="2638425"/>
            <a:ext cx="3133725" cy="895350"/>
          </a:xfrm>
          <a:prstGeom prst="roundRect">
            <a:avLst>
              <a:gd name="adj" fmla="val 8511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14400" y="2733675"/>
            <a:ext cx="2867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正例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28670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列出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个提升程序员效率的方法，各配一句说明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4314825" y="1200150"/>
            <a:ext cx="3562350" cy="4857750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4524375" y="14097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19625" y="1504950"/>
            <a:ext cx="171450" cy="17145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981575" y="1495425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多指令混杂</a:t>
            </a: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分步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4524375" y="1905000"/>
            <a:ext cx="3143250" cy="638175"/>
          </a:xfrm>
          <a:prstGeom prst="roundRect">
            <a:avLst>
              <a:gd name="adj" fmla="val 1194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657725" y="2000250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反例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657725" y="2190750"/>
            <a:ext cx="28765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改代码、写注释、加测试一起弄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524375" y="2638425"/>
            <a:ext cx="3143250" cy="638175"/>
          </a:xfrm>
          <a:prstGeom prst="roundRect">
            <a:avLst>
              <a:gd name="adj" fmla="val 11940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657725" y="2733675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正例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657725" y="2924175"/>
            <a:ext cx="28765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第一步只做重构，确认后再进入下一步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067675" y="1200150"/>
            <a:ext cx="3552825" cy="4857750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8277225" y="14097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72475" y="1504950"/>
            <a:ext cx="171450" cy="171450"/>
          </a:xfrm>
          <a:prstGeom prst="rect">
            <a:avLst/>
          </a:prstGeom>
          <a:ln/>
        </p:spPr>
      </p:pic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734425" y="1495425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无约束</a:t>
            </a: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约束绑定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277225" y="1905000"/>
            <a:ext cx="3133725" cy="638175"/>
          </a:xfrm>
          <a:prstGeom prst="roundRect">
            <a:avLst>
              <a:gd name="adj" fmla="val 11940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410575" y="2000250"/>
            <a:ext cx="2867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反例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410575" y="2190750"/>
            <a:ext cx="28670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写个产品介绍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8277225" y="2638425"/>
            <a:ext cx="3133725" cy="638175"/>
          </a:xfrm>
          <a:prstGeom prst="roundRect">
            <a:avLst>
              <a:gd name="adj" fmla="val 11940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410575" y="2733675"/>
            <a:ext cx="2867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正例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410575" y="2924175"/>
            <a:ext cx="28670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写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150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字内，面向初学者，用大白话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71500" y="6229350"/>
            <a:ext cx="11049000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62000" y="636270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记住：动词开头（列出</a:t>
            </a: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/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写出</a:t>
            </a: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/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重构）</a:t>
            </a: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+ 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说清结果（几个、多长、给谁）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9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LEMENT 04 · EXAMPLE&lt;/Text&gt;&#10;    &lt;Text style={{ fontSize: 34, color: '#16263F', fontWeight: 'bold', marginBottom: 14 }}&gt;要素④范例：给 AI 临摹字帖&lt;/Text&gt;&#10;    &lt;Box style={{ width: 56, height: 4, background: '#22D3EE', marginBottom: 22 }} /&gt;&#10;&#10;    &lt;Box style={{ flexDirection: 'row', gap: 22, flex: 1 }}&gt;&#10;      {[&#10;        { t: '风格迁移', d: '给一段你满意的文案，让 AI「照着这个调子写」。字帖式学习，比描述风格更精准。', e: '给示例 → 要求同风格', icon: 'paint-brush' },&#10;        { t: '复杂格式', d: '给一个 JSON / 表格 / 结构示例，AI 会严格照着结构输出，避免格式跑偏。', e: '给结构 → 要求同格式', icon: 'file-code' },&#10;        { t: '语义校准', d: '给「正确 vs 错误」成对示例，让 AI 明白你要的边界，减少歧义。', e: '给对错 → 校准理解', icon: 'adjust' },&#10;      ].map((item, idx) =&gt; (&#10;        &lt;Box key={idx} style={{ flex: 1, background: '#FFFFFF', borderRadius: 14, padding: '26px 24px', boxShadow: '0 2px 12px rgba(22,38,63,0.06)' }}&gt;&#10;          &lt;Box style={{ flexDirection: 'row', alignItems: 'center', gap: 12, marginBottom: 14 }}&gt;&#10;            &lt;Box style={{ width: 46, height: 46, borderRadius: 12, background: '#EAF2FB', justifyContent: 'center', alignItems: 'center' }}&gt;&#10;              &lt;FAIcon name={item.icon} style={{ fill: '#22D3EE', width: 22, height: 22 }} /&gt;&#10;            &lt;/Box&gt;&#10;            &lt;Text style={{ fontSize: 20, fontWeight: 'bold', color: '#16263F' }}&gt;{item.t}&lt;/Text&gt;&#10;          &lt;/Box&gt;&#10;          &lt;Text style={{ fontSize: 15, color: '#5B6B7A', lineHeight: 1.8, marginBottom: 16 }}&gt;{item.d}&lt;/Text&gt;&#10;          &lt;Box style={{ marginTop: 'auto', background: '#DCE7F5', borderRadius: 8, padding: '10px 14px' }}&gt;&#10;            &lt;Text style={{ fontSize: 14, color: '#16263F', fontWeight: 'bold' }}&gt;{item.e}&lt;/Text&gt;&#10;          &lt;/Box&gt;&#10;        &lt;/Box&gt;&#10;      ))}&#10;    &lt;/Box&gt;&#10;&#10;    &lt;Box style={{ marginTop: 18, background: '#16263F', borderRadius: 12, padding: '16px 22px', flexDirection: 'row', alignItems: 'center', gap: 12 }}&gt;&#10;      &lt;FAIcon name='lightbulb' style={{ fill: '#FF9F1C', width: 20, height: 20 }} /&gt;&#10;      &lt;Text style={{ fontSize: 15, color: '#DCE7F5', fontWeight: 'bold' }}&gt;&#10;        Few-shot 的本质：给一两个高质量范例，胜过十句口头描述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3 讲&lt;/Text&gt;&#10;    &lt;Text style={{ fontSize: 14, color: '#5B6B7A' }}&gt;0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ELEMENT 04 · EXAMPLE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要素④范例：给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临摹字帖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571500" y="1200150"/>
            <a:ext cx="3543300" cy="48006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800100" y="14478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1562100"/>
            <a:ext cx="209550" cy="209550"/>
          </a:xfrm>
          <a:prstGeom prst="rect">
            <a:avLst/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352550" y="1552575"/>
            <a:ext cx="78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风格迁移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00100" y="2019300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给一段你满意的文案，让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AI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「照着这个调子写」。字帖式学习，比描述风格更精准。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800100" y="5400675"/>
            <a:ext cx="3086100" cy="352425"/>
          </a:xfrm>
          <a:prstGeom prst="roundRect">
            <a:avLst>
              <a:gd name="adj" fmla="val 21622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33450" y="5495925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给示例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要求同风格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324350" y="1200150"/>
            <a:ext cx="3543300" cy="48006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4552950" y="14478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67250" y="1562100"/>
            <a:ext cx="209550" cy="209550"/>
          </a:xfrm>
          <a:prstGeom prst="rect">
            <a:avLst/>
          </a:pr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105400" y="1552575"/>
            <a:ext cx="78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复杂格式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552950" y="2019300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给一个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JSON /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表格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/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结构示例，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会严格照着结构输出，避免格式跑偏。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552950" y="5400675"/>
            <a:ext cx="3086100" cy="352425"/>
          </a:xfrm>
          <a:prstGeom prst="roundRect">
            <a:avLst>
              <a:gd name="adj" fmla="val 21622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686300" y="5495925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给结构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要求同格式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8077200" y="1200150"/>
            <a:ext cx="3543300" cy="48006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8305800" y="14478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20100" y="1562100"/>
            <a:ext cx="209550" cy="209550"/>
          </a:xfrm>
          <a:prstGeom prst="rect">
            <a:avLst/>
          </a:prstGeom>
          <a:ln/>
        </p:spPr>
      </p:pic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858250" y="1552575"/>
            <a:ext cx="78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语义校准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305800" y="2019300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给「正确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vs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错误」成对示例，让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明白你要的边界，减少歧义。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8305800" y="5400675"/>
            <a:ext cx="3086100" cy="352425"/>
          </a:xfrm>
          <a:prstGeom prst="roundRect">
            <a:avLst>
              <a:gd name="adj" fmla="val 21622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439150" y="5495925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给对错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校准理解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71500" y="6172200"/>
            <a:ext cx="11049000" cy="495300"/>
          </a:xfrm>
          <a:prstGeom prst="roundRect">
            <a:avLst>
              <a:gd name="adj" fmla="val 23077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81050" y="6324600"/>
            <a:ext cx="190500" cy="190500"/>
          </a:xfrm>
          <a:prstGeom prst="rect">
            <a:avLst/>
          </a:prstGeom>
          <a:ln/>
        </p:spPr>
      </p:pic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085850" y="6334125"/>
            <a:ext cx="387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CE7F5"/>
                </a:solidFill>
                <a:latin typeface="思源黑体"/>
                <a:ea typeface="思源黑体"/>
              </a:rPr>
              <a:t>Few-shot </a:t>
            </a:r>
            <a:r>
              <a:rPr lang="zh-CN" sz="1125" b="1">
                <a:solidFill>
                  <a:srgbClr val="DCE7F5"/>
                </a:solidFill>
                <a:latin typeface="思源黑体"/>
                <a:ea typeface="思源黑体"/>
              </a:rPr>
              <a:t>的本质：给一两个高质量范例，胜过十句口头描述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30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LEMENT 05 · OUTPUT FORMAT&lt;/Text&gt;&#10;    &lt;Text style={{ fontSize: 34, color: '#16263F', fontWeight: 'bold', marginBottom: 14 }}&gt;要素⑤输出格式：搭好舞台框架&lt;/Text&gt;&#10;    &lt;Box style={{ width: 56, height: 4, background: '#22D3EE', marginBottom: 22 }} /&gt;&#10;&#10;    &lt;Box style={{ flexDirection: 'row', flexWrap: 'wrap', gap: 20, flex: 1 }}&gt;&#10;      {[&#10;        { t: '表格', d: '对比 / 汇总类信息，让 AI 用 Markdown 表格输出', icon: 'table', e: '「用表格对比三款模型」' },&#10;        { t: '代码块', d: '技术内容，要求输出带语言标注的代码块', icon: 'code', e: '「只输出 Python 代码」' },&#10;        { t: '对话体', d: '角色扮演 / 模拟对话，指定对话格式', icon: 'comments', e: '「以 A/B 对话形式呈现」' },&#10;        { t: '列表', d: '步骤 / 要点类，要求有序或无序列表', icon: 'list-ul', e: '「分三步列出来」' },&#10;      ].map((item, idx) =&gt; (&#10;        &lt;Box key={idx} style={{ width: '48%', background: '#FFFFFF', borderRadius: 14, padding: '22px 24px', boxShadow: '0 2px 12px rgba(22,38,63,0.06)', flexDirection: 'row', alignItems: 'center', gap: 18 }}&gt;&#10;          &lt;Box style={{ width: 50, height: 50, borderRadius: 13, background: '#EAF2FB', justifyContent: 'center', alignItems: 'center' }}&gt;&#10;            &lt;FAIcon name={item.icon} style={{ fill: '#22D3EE', width: 24, height: 24 }} /&gt;&#10;          &lt;/Box&gt;&#10;          &lt;Box style={{ flex: 1 }}&gt;&#10;            &lt;Text style={{ fontSize: 18, fontWeight: 'bold', color: '#16263F', marginBottom: 6 }}&gt;{item.t}&lt;/Text&gt;&#10;            &lt;Text style={{ fontSize: 14, color: '#5B6B7A', lineHeight: 1.6, marginBottom: 8 }}&gt;{item.d}&lt;/Text&gt;&#10;            &lt;Text style={{ fontSize: 13, color: '#22D3EE', fontWeight: 'bold' }}&gt;{item.e}&lt;/Text&gt;&#10;          &lt;/Box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3 讲&lt;/Text&gt;&#10;    &lt;Text style={{ fontSize: 14, color: '#5B6B7A' }}&gt;0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ELEMENT 05 · OUTPUT FORMAT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要素⑤输出格式：搭好舞台框架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571500" y="1200150"/>
            <a:ext cx="5305425" cy="2638425"/>
          </a:xfrm>
          <a:prstGeom prst="roundRect">
            <a:avLst>
              <a:gd name="adj" fmla="val 505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800100" y="2286000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2409825"/>
            <a:ext cx="228600" cy="22860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447800" y="2143125"/>
            <a:ext cx="4200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表格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447800" y="2409825"/>
            <a:ext cx="42005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对比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/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汇总类信息，让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用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Markdown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表格输出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447800" y="2743200"/>
            <a:ext cx="420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「用表格对比三款模型」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67425" y="1200150"/>
            <a:ext cx="5305425" cy="2638425"/>
          </a:xfrm>
          <a:prstGeom prst="roundRect">
            <a:avLst>
              <a:gd name="adj" fmla="val 505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296025" y="2286000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19850" y="2409825"/>
            <a:ext cx="228600" cy="22860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943725" y="2143125"/>
            <a:ext cx="4200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代码块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943725" y="2409825"/>
            <a:ext cx="42005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技术内容，要求输出带语言标注的代码块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943725" y="2743200"/>
            <a:ext cx="420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「只输出</a:t>
            </a: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 Python </a:t>
            </a: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代码」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71500" y="4029075"/>
            <a:ext cx="5305425" cy="2638425"/>
          </a:xfrm>
          <a:prstGeom prst="roundRect">
            <a:avLst>
              <a:gd name="adj" fmla="val 505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800100" y="5114925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23925" y="5238750"/>
            <a:ext cx="228600" cy="228600"/>
          </a:xfrm>
          <a:prstGeom prst="rect">
            <a:avLst/>
          </a:prstGeom>
          <a:ln/>
        </p:spPr>
      </p:pic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447800" y="4972050"/>
            <a:ext cx="4200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对话体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447800" y="5238750"/>
            <a:ext cx="42005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角色扮演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/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模拟对话，指定对话格式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447800" y="5572125"/>
            <a:ext cx="420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「以</a:t>
            </a: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 A/B </a:t>
            </a: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对话形式呈现」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067425" y="4029075"/>
            <a:ext cx="5305425" cy="2638425"/>
          </a:xfrm>
          <a:prstGeom prst="roundRect">
            <a:avLst>
              <a:gd name="adj" fmla="val 505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296025" y="5114925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19850" y="5238750"/>
            <a:ext cx="228600" cy="228600"/>
          </a:xfrm>
          <a:prstGeom prst="rect">
            <a:avLst/>
          </a:prstGeom>
          <a:ln/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943725" y="4972050"/>
            <a:ext cx="4200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列表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943725" y="5238750"/>
            <a:ext cx="42005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步骤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/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要点类，要求有序或无序列表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943725" y="5572125"/>
            <a:ext cx="420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「分三步列出来」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1" name="" descr="&lt;Slide&#10;  style={{&#10;    width: '1280px', height: '720px',&#10;    background: '#16263F',&#10;    padding: '20px 60px',&#10;    fontFamily: '&quot;思源黑体&quot;, sans-serif',&#10;  }}&#10;&gt;&#10;  &lt;Box style={{ width: '100%', height: '100%', flexDirection: 'row', gap: 44 }}&gt;&#10;    &lt;Box style={{ flex: 1, flexDirection: 'column', justifyContent: 'center' }}&gt;&#10;      &lt;Text style={{ fontSize: 14, color: '#22D3EE', fontWeight: 'bold', letterSpacing: 3, marginBottom: 14 }}&gt;THE 4 RULES&lt;/Text&gt;&#10;      &lt;Text style={{ fontSize: 40, color: '#FFFFFF', fontWeight: 'bold', lineHeight: 1.3, marginBottom: 20 }}&gt;&#10;        下指令四要素：&lt;br /&gt;成功率从 30% 到 90%+&#10;      &lt;/Text&gt;&#10;      &lt;Box style={{ flexDirection: 'row', alignItems: 'flex-end', gap: 24, marginBottom: 20 }}&gt;&#10;        &lt;Box&gt;&#10;          &lt;Text style={{ fontSize: 64, color: '#8FA4B8', fontWeight: 'bold', lineHeight: 1 }}&gt;30%&lt;/Text&gt;&#10;          &lt;Text style={{ fontSize: 14, color: '#8FA4B8', marginTop: 8 }}&gt;乱问一通&lt;/Text&gt;&#10;        &lt;/Box&gt;&#10;        &lt;FAIcon name='arrow-right' style={{ fill: '#FF9F1C', width: 32, height: 32, marginBottom: 14 }} /&gt;&#10;        &lt;Box&gt;&#10;          &lt;Text style={{ fontSize: 64, color: '#FF9F1C', fontWeight: 'bold', lineHeight: 1 }}&gt;90%+&lt;/Text&gt;&#10;          &lt;Text style={{ fontSize: 14, color: '#DCE7F5', marginTop: 8 }}&gt;用对四要素&lt;/Text&gt;&#10;        &lt;/Box&gt;&#10;      &lt;/Box&gt;&#10;      &lt;Text style={{ fontSize: 15, color: '#DCE7F5', lineHeight: 1.8 }}&gt;&#10;        同一个模型、同一个问题，&lt;span style={{ color: '#22D3EE', fontWeight: 'bold' }}&gt;下指令的方式决定效果&lt;/span&gt;——不是模型不行，是没交代清楚。&#10;      &lt;/Text&gt;&#10;    &lt;/Box&gt;&#10;&#10;    &lt;Box style={{ flex: 1, flexDirection: 'column', justifyContent: 'center', gap: 14 }}&gt;&#10;      {[&#10;        { k: '做什么', d: 'What：一句话说清任务与目标', icon: 'bullseye' },&#10;        { k: '材料', d: 'Material：给足输入与背景资料', icon: 'file-alt' },&#10;        { k: '格式', d: 'Format：指定输出的结构与长度', icon: 'table' },&#10;        { k: '发到哪', d: 'Where：说清结果给谁看、怎么用', icon: 'paper-plane' },&#10;      ].map((item, idx) =&gt; (&#10;        &lt;Box key={idx} style={{ background: 'rgba(255,255,255,0.06)', border: '1px solid rgba(220,231,245,0.15)', borderRadius: 12, padding: '18px 22px', flexDirection: 'row', alignItems: 'center', gap: 16 }}&gt;&#10;          &lt;Box style={{ width: 46, height: 46, borderRadius: 12, background: 'rgba(34,211,238,0.12)', justifyContent: 'center', alignItems: 'center' }}&gt;&#10;            &lt;FAIcon name={item.icon} style={{ fill: '#22D3EE', width: 22, height: 22 }} /&gt;&#10;          &lt;/Box&gt;&#10;          &lt;Box style={{ flex: 1 }}&gt;&#10;            &lt;Text style={{ fontSize: 17, color: '#FFFFFF', fontWeight: 'bold', marginBottom: 4 }}&gt;{item.k}&lt;/Text&gt;&#10;            &lt;Text style={{ fontSize: 14, color: '#DCE7F5' }}&gt;{item.d}&lt;/Text&gt;&#10;          &lt;/Box&gt;&#10;        &lt;/Box&gt;&#10;      ))}&#10;    &lt;/Box&gt;&#10;  &lt;/Box&gt;&#10;  &lt;Box style={{ position: 'absolute', bottom: 14, left: 60, right: 60, flexDirection: 'row', justifyContent: 'space-between' }}&gt;&#10;    &lt;Text style={{ fontSize: 14, color: '#8FA4B8' }}&gt;AI 从零开始 · 第 3 讲&lt;/Text&gt;&#10;    &lt;Text style={{ fontSize: 14, color: '#8FA4B8' }}&gt;0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1704975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THE 4 RULES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71500" y="2000250"/>
            <a:ext cx="5314950" cy="11906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下指令四要素：</a:t>
            </a:r>
            <a:endParaRPr/>
          </a:p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成功率从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30%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到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90%+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71500" y="3381375"/>
            <a:ext cx="12287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8FA4B8"/>
                </a:solidFill>
                <a:latin typeface="思源黑体"/>
                <a:ea typeface="思源黑体"/>
              </a:rPr>
              <a:t>30%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71500" y="4191000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乱问一通</a:t>
            </a:r>
            <a:endParaRPr/>
          </a:p>
        </p:txBody>
      </p:sp>
      <p:pic>
        <p:nvPicPr>
          <p:cNvPr id="2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028825" y="3914775"/>
            <a:ext cx="304800" cy="304800"/>
          </a:xfrm>
          <a:prstGeom prst="rect">
            <a:avLst/>
          </a:prstGeom>
          <a:ln/>
        </p:spPr>
      </p:pic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2562225" y="3381375"/>
            <a:ext cx="15811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9F1C"/>
                </a:solidFill>
                <a:latin typeface="思源黑体"/>
                <a:ea typeface="思源黑体"/>
              </a:rPr>
              <a:t>90%+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2562225" y="41910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用对四要素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" y="4543425"/>
            <a:ext cx="53149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同一个模型、同一个问题，</a:t>
            </a: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下指令的方式决定效果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——不是模型不行，是没交代清楚。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305550" y="1666875"/>
            <a:ext cx="531495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6515100" y="18383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2D3EE">
              <a:alpha val="12000"/>
            </a:srgbClr>
          </a:solidFill>
          <a:ln/>
        </p:spPr>
        <p:txBody>
          <a:bodyPr/>
          <a:p/>
        </p:txBody>
      </p:sp>
      <p:pic>
        <p:nvPicPr>
          <p:cNvPr id="2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29400" y="1952625"/>
            <a:ext cx="209550" cy="209550"/>
          </a:xfrm>
          <a:prstGeom prst="rect">
            <a:avLst/>
          </a:prstGeom>
          <a:ln/>
        </p:spPr>
      </p:pic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105650" y="185737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做什么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105650" y="2095500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What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：一句话说清任务与目标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305550" y="2581275"/>
            <a:ext cx="531495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6515100" y="27527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2D3EE">
              <a:alpha val="12000"/>
            </a:srgbClr>
          </a:solidFill>
          <a:ln/>
        </p:spPr>
        <p:txBody>
          <a:bodyPr/>
          <a:p/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629400" y="2867025"/>
            <a:ext cx="209550" cy="209550"/>
          </a:xfrm>
          <a:prstGeom prst="rect">
            <a:avLst/>
          </a:prstGeom>
          <a:ln/>
        </p:spPr>
      </p:pic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105650" y="277177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材料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105650" y="3009900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Material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：给足输入与背景资料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305550" y="3495675"/>
            <a:ext cx="531495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6515100" y="36671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2D3EE">
              <a:alpha val="12000"/>
            </a:srgbClr>
          </a:solidFill>
          <a:ln/>
        </p:spPr>
        <p:txBody>
          <a:bodyPr/>
          <a:p/>
        </p:txBody>
      </p:sp>
      <p:pic>
        <p:nvPicPr>
          <p:cNvPr id="2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629400" y="3781425"/>
            <a:ext cx="209550" cy="209550"/>
          </a:xfrm>
          <a:prstGeom prst="rect">
            <a:avLst/>
          </a:prstGeom>
          <a:ln/>
        </p:spPr>
      </p:pic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105650" y="368617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格式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105650" y="3924300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Format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：指定输出的结构与长度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305550" y="4410075"/>
            <a:ext cx="531495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6515100" y="45815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2D3EE">
              <a:alpha val="12000"/>
            </a:srgbClr>
          </a:solidFill>
          <a:ln/>
        </p:spPr>
        <p:txBody>
          <a:bodyPr/>
          <a:p/>
        </p:txBody>
      </p:sp>
      <p:pic>
        <p:nvPicPr>
          <p:cNvPr id="2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629400" y="4695825"/>
            <a:ext cx="209550" cy="209550"/>
          </a:xfrm>
          <a:prstGeom prst="rect">
            <a:avLst/>
          </a:prstGeom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105650" y="460057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发到哪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105650" y="4838700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Where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：说清结果给谁看、怎么用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93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PRACTICE · SQL GENERATOR&lt;/Text&gt;&#10;    &lt;Text style={{ fontSize: 34, color: '#16263F', fontWeight: 'bold', marginBottom: 14 }}&gt;实战：用五要素构建 SQL 生成器&lt;/Text&gt;&#10;    &lt;Box style={{ width: 56, height: 4, background: '#22D3EE', marginBottom: 22 }} /&gt;&#10;&#10;    &lt;Box style={{ flexDirection: 'row', gap: 26, flex: 1 }}&gt;&#10;      &lt;Box style={{ flex: 5, flexDirection: 'column', gap: 12 }}&gt;&#10;        {[&#10;          { k: '角色', v: '你是资深数据库工程师，精通 MySQL', c: '#22D3EE' },&#10;          { k: '上下文', v: 'MySQL 8.0，表 user(id, name, age, city)', c: '#22D3EE' },&#10;          { k: '指令', v: '把用户自然语言转成 SQL 查询', c: '#22D3EE' },&#10;          { k: '范例', v: '「30岁以上北京用户」→ SELECT ...', c: '#FF9F1C' },&#10;          { k: '输出格式', v: '只输出 SQL，不要解释', c: '#22D3EE' },&#10;        ].map((item, idx) =&gt; (&#10;          &lt;Box key={idx} style={{ flex: 1, background: '#FFFFFF', borderRadius: 12, padding: '14px 20px', boxShadow: '0 2px 12px rgba(22,38,63,0.06)', flexDirection: 'row', alignItems: 'center', gap: 14 }}&gt;&#10;            &lt;Box style={{ width: 76, justifyContent: 'center' }}&gt;&#10;              &lt;Text style={{ fontSize: 15, color: item.c, fontWeight: 'bold' }}&gt;{item.k}&lt;/Text&gt;&#10;            &lt;/Box&gt;&#10;            &lt;Text style={{ fontSize: 14, color: '#5B6B7A', flex: 1, lineHeight: 1.6 }}&gt;{item.v}&lt;/Text&gt;&#10;          &lt;/Box&gt;&#10;        ))}&#10;      &lt;/Box&gt;&#10;&#10;      &lt;Box style={{ flex: 5 }}&gt;&#10;        &lt;Text style={{ fontSize: 15, color: '#5B6B7A', marginBottom: 10 }}&gt;输入自然语言 → 输出 SQL&lt;/Text&gt;&#10;        &lt;CodeBlock&#10;          code={`-- 输入：查 30 岁以上、住在北京的用户姓名&#10;SELECT name&#10;FROM user&#10;WHERE age &gt; 30&#10;  AND city = '北京';`}&#10;          language='sql'&#10;          width={520}&#10;          fontSize={14}&#10;        /&gt;&#10;        &lt;Box style={{ marginTop: 16, background: '#DCE7F5', borderRadius: 10, padding: '14px 20px' }}&gt;&#10;          &lt;Text style={{ fontSize: 14, color: '#16263F', fontWeight: 'bold' }}&gt;&#10;            把五要素固定成模板，之后每次只替换「指令」，就能复用一个可靠的生成器&#10;          &lt;/Text&gt;&#10;        &lt;/Box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3 讲&lt;/Text&gt;&#10;    &lt;Text style={{ fontSize: 14, color: '#5B6B7A' }}&gt;0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PRACTICE · SQL GENERATOR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实战：用五要素构建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SQL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生成器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571500" y="1200150"/>
            <a:ext cx="5400675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62000" y="161925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角色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619250" y="1571625"/>
            <a:ext cx="41624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你是资深数据库工程师，精通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MySQL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571500" y="2314575"/>
            <a:ext cx="5400675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62000" y="27336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上下文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619250" y="2686050"/>
            <a:ext cx="41624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MySQL 8.0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，表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user(id, name, age, city)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571500" y="3429000"/>
            <a:ext cx="5400675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62000" y="384810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指令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619250" y="3810000"/>
            <a:ext cx="41624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把用户自然语言转成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SQL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查询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571500" y="4552950"/>
            <a:ext cx="5400675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62000" y="497205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范例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619250" y="4924425"/>
            <a:ext cx="41624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「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30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岁以上北京用户」→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SELECT ...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571500" y="5667375"/>
            <a:ext cx="5400675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62000" y="60864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输出格式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619250" y="6038850"/>
            <a:ext cx="41624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只输出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SQL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，不要解释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219825" y="1200150"/>
            <a:ext cx="5400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输入自然语言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输出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SQL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219825" y="3009900"/>
            <a:ext cx="5400675" cy="428625"/>
          </a:xfrm>
          <a:prstGeom prst="roundRect">
            <a:avLst>
              <a:gd name="adj" fmla="val 22222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410325" y="3143250"/>
            <a:ext cx="501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把五要素固定成模板，之后每次只替换「指令」，就能复用一个可靠的生成器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219825" y="1466850"/>
            <a:ext cx="5400675" cy="1390650"/>
          </a:xfrm>
          <a:prstGeom prst="roundRect">
            <a:avLst>
              <a:gd name="adj" fmla="val 5479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317" name=""/>
          <p:cNvSpPr txBox="1"/>
          <p:nvPr/>
        </p:nvSpPr>
        <p:spPr>
          <a:xfrm rot="0" flipH="0" flipV="0">
            <a:off x="6372225" y="1600200"/>
            <a:ext cx="5095875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-- 输入：查 30 岁以上、住在北京的用户姓名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SELECT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name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user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WHERE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age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&gt;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30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AND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city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'北京'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ANTI-HALLUCINATION&lt;/Text&gt;&#10;    &lt;Text style={{ fontSize: 34, color: '#16263F', fontWeight: 'bold', marginBottom: 14 }}&gt;降低 AI 幻觉：让模型不知道就说不知道&lt;/Text&gt;&#10;    &lt;Box style={{ width: 56, height: 4, background: '#22D3EE', marginBottom: 20 }} /&gt;&#10;&#10;    &lt;Box style={{ background: '#16263F', borderRadius: 12, padding: '18px 24px', flexDirection: 'row', alignItems: 'center', gap: 16, marginBottom: 22 }}&gt;&#10;      &lt;FAIcon name='exclamation-triangle' style={{ fill: '#FF9F1C', width: 24, height: 24 }} /&gt;&#10;      &lt;Text style={{ fontSize: 16, color: '#DCE7F5', lineHeight: 1.7 }}&gt;&#10;        幻觉 = 模型&lt;span style={{ color: '#FF9F1C', fontWeight: 'bold' }}&gt;一本正经地胡说&lt;/span&gt;：它不会承认「我不知道」，而是编一个像模像样的答案。&#10;      &lt;/Text&gt;&#10;    &lt;/Box&gt;&#10;&#10;    &lt;Box style={{ flexDirection: 'row', gap: 22, flex: 1 }}&gt;&#10;      {[&#10;        { t: '允许说不知道', d: '在 Prompt 里写明：「不确定就回答不知道，不要编造」。给模型留退路，它才敢诚实。', icon: 'question-circle', e: '「不知道就说不知道」' },&#10;        { t: '要求引用来源', d: '让模型给出处、给依据，没有来源的结论就打问号，方便你二次核对。', icon: 'quote-left', e: '「请标注信息来源」' },&#10;        { t: '限定知识边界', d: '把回答范围锁在你给的材料里：「只根据以下内容回答」，减少自由发挥。', icon: 'lock', e: '「只依据给定材料」' },&#10;      ].map((item, idx) =&gt; (&#10;        &lt;Box key={idx} style={{ flex: 1, background: '#FFFFFF', borderRadius: 14, padding: '24px 24px', boxShadow: '0 2px 12px rgba(22,38,63,0.06)' }}&gt;&#10;          &lt;Box style={{ flexDirection: 'row', alignItems: 'center', gap: 12, marginBottom: 14 }}&gt;&#10;            &lt;Box style={{ width: 44, height: 44, borderRadius: 12, background: '#EAF2FB', justifyContent: 'center', alignItems: 'center' }}&gt;&#10;              &lt;FAIcon name={item.icon} style={{ fill: '#22D3EE', width: 22, height: 22 }} /&gt;&#10;            &lt;/Box&gt;&#10;            &lt;Text style={{ fontSize: 18, fontWeight: 'bold', color: '#16263F' }}&gt;{item.t}&lt;/Text&gt;&#10;          &lt;/Box&gt;&#10;          &lt;Text style={{ fontSize: 15, color: '#5B6B7A', lineHeight: 1.8, marginBottom: 14 }}&gt;{item.d}&lt;/Text&gt;&#10;          &lt;Box style={{ marginTop: 'auto', background: '#DCE7F5', borderRadius: 8, padding: '10px 14px' }}&gt;&#10;            &lt;Text style={{ fontSize: 14, color: '#16263F', fontWeight: 'bold' }}&gt;{item.e}&lt;/Text&gt;&#10;          &lt;/Box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3 讲&lt;/Text&gt;&#10;    &lt;Text style={{ fontSize: 14, color: '#5B6B7A' }}&gt;10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ANTI-HALLUCINATION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降低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幻觉：让模型不知道就说不知道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571500" y="1181100"/>
            <a:ext cx="11049000" cy="657225"/>
          </a:xfrm>
          <a:prstGeom prst="roundRect">
            <a:avLst>
              <a:gd name="adj" fmla="val 17391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400175"/>
            <a:ext cx="228600" cy="228600"/>
          </a:xfrm>
          <a:prstGeom prst="rect">
            <a:avLst/>
          </a:prstGeom>
          <a:ln/>
        </p:spPr>
      </p:pic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81100" y="1352550"/>
            <a:ext cx="593407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幻觉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=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模型</a:t>
            </a:r>
            <a:r>
              <a:rPr lang="zh-CN" sz="1200" b="1">
                <a:solidFill>
                  <a:srgbClr val="FF9F1C"/>
                </a:solidFill>
                <a:latin typeface="思源黑体"/>
                <a:ea typeface="思源黑体"/>
              </a:rPr>
              <a:t>一本正经地胡说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：它不会承认「我不知道」，而是编一个像模像样的答案。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71500" y="2047875"/>
            <a:ext cx="3543300" cy="4619625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800100" y="22764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04875" y="2381250"/>
            <a:ext cx="209550" cy="20955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333500" y="2381250"/>
            <a:ext cx="1057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允许说不知道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00100" y="2828925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在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Prompt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里写明：「不确定就回答不知道，不要编造」。给模型留退路，它才敢诚实。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800100" y="6086475"/>
            <a:ext cx="3086100" cy="352425"/>
          </a:xfrm>
          <a:prstGeom prst="roundRect">
            <a:avLst>
              <a:gd name="adj" fmla="val 21622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33450" y="6181725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「不知道就说不知道」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4324350" y="2047875"/>
            <a:ext cx="3543300" cy="4619625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4552950" y="22764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657725" y="2381250"/>
            <a:ext cx="209550" cy="209550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086350" y="2381250"/>
            <a:ext cx="1057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要求引用来源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552950" y="2828925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让模型给出处、给依据，没有来源的结论就打问号，方便你二次核对。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552950" y="6086475"/>
            <a:ext cx="3086100" cy="352425"/>
          </a:xfrm>
          <a:prstGeom prst="roundRect">
            <a:avLst>
              <a:gd name="adj" fmla="val 21622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686300" y="6181725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「请标注信息来源」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077200" y="2047875"/>
            <a:ext cx="3543300" cy="4619625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8305800" y="22764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10575" y="2381250"/>
            <a:ext cx="209550" cy="20955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839200" y="2381250"/>
            <a:ext cx="1057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限定知识边界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05800" y="2828925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把回答范围锁在你给的材料里：「只根据以下内容回答」，减少自由发挥。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305800" y="6086475"/>
            <a:ext cx="3086100" cy="352425"/>
          </a:xfrm>
          <a:prstGeom prst="roundRect">
            <a:avLst>
              <a:gd name="adj" fmla="val 21622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439150" y="6181725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「只依据给定材料」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43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SUMMARY&lt;/Text&gt;&#10;    &lt;Text style={{ fontSize: 40, color: '#FFFFFF', fontWeight: 'bold', marginBottom: 26 }}&gt;五要素是骨架，练习才内化&lt;/Text&gt;&#10;&#10;    &lt;Box style={{ background: 'rgba(255,255,255,0.06)', border: '1px solid rgba(220,231,245,0.2)', borderRadius: 14, padding: '18px 26px', marginBottom: 22 }}&gt;&#10;      &lt;Text style={{ fontSize: 15, color: '#DCE7F5', lineHeight: 1.9 }}&gt;&#10;        角色 → 上下文 → 指令 → 范例 → 输出格式，五个要素拼成一份&lt;span style={{ color: '#FF9F1C', fontWeight: 'bold' }}&gt;可复用的 Prompt 骨架&lt;/span&gt;。骨架靠练，不靠背。&#10;      &lt;/Text&gt;&#10;    &lt;/Box&gt;&#10;&#10;    &lt;Box style={{ background: 'rgba(255,159,28,0.12)', border: '1px solid rgba(255,159,28,0.3)', borderRadius: 14, padding: '20px 26px', marginBottom: 16 }}&gt;&#10;      &lt;Text style={{ fontSize: 17, fontWeight: 'bold', color: '#FF9F1C', marginBottom: 10 }}&gt;动手练习&lt;/Text&gt;&#10;      &lt;Text style={{ fontSize: 15, color: '#DCE7F5', lineHeight: 1.9 }}&gt;&#10;        用五要素写一个「代码解释器」Prompt，让 AI 把任意一段代码讲清楚，跑通并截图。&#10;      &lt;/Text&gt;&#10;    &lt;/Box&gt;&#10;&#10;    &lt;Box style={{ background: 'rgba(255,255,255,0.06)', borderRadius: 12, padding: '16px 24px' }}&gt;&#10;      &lt;Text style={{ fontSize: 15, color: '#DCE7F5', lineHeight: 1.9 }}&gt;&#10;        自测 3 题：五要素分别是什么？「下指令四要素」如何把成功率拉到 90%+？怎样降低 AI 幻觉？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71500" y="15906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SUMMARY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71500" y="1885950"/>
            <a:ext cx="11049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五要素是骨架，练习才内化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71500" y="2590800"/>
            <a:ext cx="11049000" cy="676275"/>
          </a:xfrm>
          <a:prstGeom prst="roundRect">
            <a:avLst>
              <a:gd name="adj" fmla="val 1971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19150" y="2762250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角色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上下文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指令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范例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输出格式，五个要素拼成一份</a:t>
            </a: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可复用的</a:t>
            </a: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 Prompt </a:t>
            </a: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骨架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。骨架靠练，不靠背。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71500" y="3476625"/>
            <a:ext cx="11049000" cy="1009650"/>
          </a:xfrm>
          <a:prstGeom prst="roundRect">
            <a:avLst>
              <a:gd name="adj" fmla="val 13208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" y="3667125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动手练习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19150" y="3962400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用五要素写一个「代码解释器」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Prompt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，让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把任意一段代码讲清楚，跑通并截图。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571500" y="4638675"/>
            <a:ext cx="11049000" cy="638175"/>
          </a:xfrm>
          <a:prstGeom prst="roundRect">
            <a:avLst>
              <a:gd name="adj" fmla="val 1791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00100" y="4791075"/>
            <a:ext cx="105918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自测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题：五要素分别是什么？「下指令四要素」如何把成功率拉到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90%+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？怎样降低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幻觉？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2026-08-13T21:38:58Z</dcterms:created>
  <dcterms:modified xsi:type="dcterms:W3CDTF">2026-08-13T21:38:58Z</dcterms:modified>
</cp:coreProperties>
</file>