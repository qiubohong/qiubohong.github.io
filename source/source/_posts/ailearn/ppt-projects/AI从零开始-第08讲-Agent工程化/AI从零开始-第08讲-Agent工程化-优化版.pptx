
<file path=[Content_Types].xml><?xml version="1.0" encoding="utf-8"?>
<Types xmlns="http://schemas.openxmlformats.org/package/2006/content-types">
  <Default Extension="svg" ContentType="image/svg+xml"/>
  <Default Extension="xml" ContentType="application/xml"/>
  <Default Extension="rels" ContentType="application/vnd.openxmlformats-package.relationships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1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5" Type="http://schemas.openxmlformats.org/officeDocument/2006/relationships/slide" Target="slides/slide5.xml" /><Relationship Id="rId4" Type="http://schemas.openxmlformats.org/officeDocument/2006/relationships/slide" Target="slides/slide4.xml" /><Relationship Id="rId13" Type="http://schemas.openxmlformats.org/officeDocument/2006/relationships/notesMaster" Target="notesMasters/notesMaster1.xml" /><Relationship Id="rId3" Type="http://schemas.openxmlformats.org/officeDocument/2006/relationships/slide" Target="slides/slide3.xml" /><Relationship Id="rId14" Type="http://schemas.openxmlformats.org/officeDocument/2006/relationships/presProps" Target="presProps.xml" /><Relationship Id="rId12" Type="http://schemas.openxmlformats.org/officeDocument/2006/relationships/slide" Target="slides/slide12.xml" /><Relationship Id="rId15" Type="http://schemas.openxmlformats.org/officeDocument/2006/relationships/tableStyles" Target="tableStyles.xml" /><Relationship Id="rId0" Type="http://schemas.openxmlformats.org/officeDocument/2006/relationships/slideMaster" Target="slideMasters/slideMaster1.xml" /><Relationship Id="rId11" Type="http://schemas.openxmlformats.org/officeDocument/2006/relationships/slide" Target="slides/slide11.xml" /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10" Type="http://schemas.openxmlformats.org/officeDocument/2006/relationships/slide" Target="slides/slide10.xml" /><Relationship Id="rId1" Type="http://schemas.openxmlformats.org/officeDocument/2006/relationships/slide" Target="slides/slide1.xml" /><Relationship Id="rId2" Type="http://schemas.openxmlformats.org/officeDocument/2006/relationships/slide" Target="slides/slide2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7.sv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5" Type="http://schemas.openxmlformats.org/officeDocument/2006/relationships/image" Target="media/image12.svg" /><Relationship Id="rId4" Type="http://schemas.openxmlformats.org/officeDocument/2006/relationships/image" Target="media/image11.svg" /><Relationship Id="rId2" Type="http://schemas.openxmlformats.org/officeDocument/2006/relationships/image" Target="media/image9.svg" /><Relationship Id="rId1" Type="http://schemas.openxmlformats.org/officeDocument/2006/relationships/image" Target="media/image8.svg" /><Relationship Id="rId3" Type="http://schemas.openxmlformats.org/officeDocument/2006/relationships/image" Target="media/image10.sv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2" Type="http://schemas.openxmlformats.org/officeDocument/2006/relationships/image" Target="media/image14.svg" /><Relationship Id="rId3" Type="http://schemas.openxmlformats.org/officeDocument/2006/relationships/image" Target="media/image15.svg" /><Relationship Id="rId1" Type="http://schemas.openxmlformats.org/officeDocument/2006/relationships/image" Target="media/image13.sv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3" Type="http://schemas.openxmlformats.org/officeDocument/2006/relationships/image" Target="media/image17.svg" /><Relationship Id="rId2" Type="http://schemas.openxmlformats.org/officeDocument/2006/relationships/image" Target="media/image16.svg" /><Relationship Id="rId1" Type="http://schemas.openxmlformats.org/officeDocument/2006/relationships/image" Target="media/image8.sv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3" Type="http://schemas.openxmlformats.org/officeDocument/2006/relationships/image" Target="media/image3.svg" /><Relationship Id="rId2" Type="http://schemas.openxmlformats.org/officeDocument/2006/relationships/image" Target="media/image2.svg" /><Relationship Id="rId1" Type="http://schemas.openxmlformats.org/officeDocument/2006/relationships/image" Target="media/image1.sv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3" Type="http://schemas.openxmlformats.org/officeDocument/2006/relationships/image" Target="media/image6.svg" /><Relationship Id="rId2" Type="http://schemas.openxmlformats.org/officeDocument/2006/relationships/image" Target="media/image5.svg" /><Relationship Id="rId1" Type="http://schemas.openxmlformats.org/officeDocument/2006/relationships/image" Target="media/image4.sv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 descr="&lt;Slide&#10;  style={{&#10;    width: '1280px', height: '720px',&#10;    background: 'linear-gradient(135deg, #16263F 0%, #1E3A5F 100%)',&#10;    position: 'relative', overflow: 'hidden',&#10;    fontFamily: '&quot;思源黑体&quot;, sans-serif',&#10;  }}&#10;&gt;&#10;  &lt;Box style={{ position: 'absolute', top: -80, right: -80, width: 340, height: 340, borderRadius: 170, background: 'rgba(34,211,238,0.12)', opacity: 0.8 }} /&gt;&#10;  &lt;Box style={{ position: 'absolute', bottom: -100, left: -60, width: 300, height: 300, borderRadius: 150, background: 'rgba(255,159,28,0.10)' }} /&gt;&#10;  &lt;Box style={{ position: 'absolute', top: 0, left: 0, width: '100%', height: 8, background: '#FF9F1C' }} /&gt;&#10;&#10;  &lt;Box style={{ position: 'relative', zIndex: 2, padding: '60px 80px', height: '100%', flexDirection: 'column', justifyContent: 'center' }}&gt;&#10;    &lt;Text style={{ fontSize: 16, color: '#22D3EE', letterSpacing: 4, marginBottom: 16 }}&gt;AI 从零开始 · 第 8 讲&lt;/Text&gt;&#10;    &lt;Text style={{ fontSize: 52, color: '#FFFFFF', fontWeight: 'bold', lineHeight: 1.25, marginBottom: 20 }}&gt;&#10;      模型聪明 ≠ 干活靠谱&lt;br /&gt;能力要靠框架驯服&#10;    &lt;/Text&gt;&#10;    &lt;Box style={{ width: 80, height: 4, background: '#FF9F1C', marginBottom: 28 }} /&gt;&#10;    &lt;Text style={{ fontSize: 22, color: '#DCE7F5', lineHeight: 1.6 }}&gt;&#10;      Harness 智能体马具 + 评测 + 安全，把尖刺能力驯成稳定生产力&#10;    &lt;/Text&gt;&#10;    &lt;Text style={{ fontSize: 15, color: '#8FA4B8', marginTop: 36 }}&gt;&#10;      学完能搭出带验证、评测、监控、安全的最小工程化 Agent&#10;    &lt;/Text&gt;&#10;    &lt;Text style={{ fontSize: 13, color: '#8FA4B8', marginTop: 'auto', paddingTop: 40 }}&gt;&#10;      Qborfy · 做一个有温度和有干货的技术分享作者&#10;    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6263F"/>
              </a:gs>
              <a:gs pos="100000">
                <a:srgbClr val="1E3A5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9715500" y="-762000"/>
            <a:ext cx="3238500" cy="3238500"/>
          </a:xfrm>
          <a:custGeom>
            <a:pathLst>
              <a:path w="340" h="340">
                <a:moveTo>
                  <a:pt x="260" y="314"/>
                </a:moveTo>
                <a:cubicBezTo>
                  <a:pt x="193" y="356"/>
                  <a:pt x="106" y="346"/>
                  <a:pt x="50" y="290"/>
                </a:cubicBezTo>
                <a:cubicBezTo>
                  <a:pt x="-6" y="234"/>
                  <a:pt x="-16" y="147"/>
                  <a:pt x="26" y="80"/>
                </a:cubicBezTo>
                <a:lnTo>
                  <a:pt x="260" y="80"/>
                </a:lnTo>
                <a:close/>
              </a:path>
            </a:pathLst>
          </a:custGeom>
          <a:solidFill>
            <a:srgbClr val="22D3EE">
              <a:alpha val="9600"/>
            </a:srgbClr>
          </a:soli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-571500" y="4953000"/>
            <a:ext cx="2857500" cy="2857500"/>
          </a:xfrm>
          <a:custGeom>
            <a:pathLst>
              <a:path w="300" h="300">
                <a:moveTo>
                  <a:pt x="154" y="0"/>
                </a:moveTo>
                <a:cubicBezTo>
                  <a:pt x="202" y="1"/>
                  <a:pt x="246" y="25"/>
                  <a:pt x="274" y="65"/>
                </a:cubicBezTo>
                <a:cubicBezTo>
                  <a:pt x="301" y="105"/>
                  <a:pt x="307" y="155"/>
                  <a:pt x="291" y="200"/>
                </a:cubicBezTo>
                <a:lnTo>
                  <a:pt x="60" y="200"/>
                </a:lnTo>
                <a:lnTo>
                  <a:pt x="60" y="30"/>
                </a:lnTo>
                <a:cubicBezTo>
                  <a:pt x="86" y="10"/>
                  <a:pt x="118" y="0"/>
                  <a:pt x="150" y="0"/>
                </a:cubicBezTo>
                <a:close/>
              </a:path>
            </a:pathLst>
          </a:custGeom>
          <a:solidFill>
            <a:srgbClr val="FF9F1C">
              <a:alpha val="10000"/>
            </a:srgbClr>
          </a:soli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FF9F1C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762000" y="571500"/>
            <a:ext cx="1066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300">
                <a:solidFill>
                  <a:srgbClr val="22D3EE"/>
                </a:solidFill>
                <a:latin typeface="思源黑体"/>
                <a:ea typeface="思源黑体"/>
              </a:rPr>
              <a:t>AI </a:t>
            </a:r>
            <a:r>
              <a:rPr lang="zh-CN" sz="1200" spc="300">
                <a:solidFill>
                  <a:srgbClr val="22D3EE"/>
                </a:solidFill>
                <a:latin typeface="思源黑体"/>
                <a:ea typeface="思源黑体"/>
              </a:rPr>
              <a:t>从零开始</a:t>
            </a:r>
            <a:r>
              <a:rPr lang="en-US" sz="1200" spc="300">
                <a:solidFill>
                  <a:srgbClr val="22D3EE"/>
                </a:solidFill>
                <a:latin typeface="思源黑体"/>
                <a:ea typeface="思源黑体"/>
              </a:rPr>
              <a:t> · </a:t>
            </a:r>
            <a:r>
              <a:rPr lang="zh-CN" sz="1200" spc="300">
                <a:solidFill>
                  <a:srgbClr val="22D3EE"/>
                </a:solidFill>
                <a:latin typeface="思源黑体"/>
                <a:ea typeface="思源黑体"/>
              </a:rPr>
              <a:t>第</a:t>
            </a:r>
            <a:r>
              <a:rPr lang="en-US" sz="1200" spc="300">
                <a:solidFill>
                  <a:srgbClr val="22D3EE"/>
                </a:solidFill>
                <a:latin typeface="思源黑体"/>
                <a:ea typeface="思源黑体"/>
              </a:rPr>
              <a:t> 8 </a:t>
            </a:r>
            <a:r>
              <a:rPr lang="zh-CN" sz="1200" spc="300">
                <a:solidFill>
                  <a:srgbClr val="22D3EE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762000" y="914400"/>
            <a:ext cx="10668000" cy="14859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900" b="1">
                <a:solidFill>
                  <a:srgbClr val="FFFFFF"/>
                </a:solidFill>
                <a:latin typeface="思源黑体"/>
                <a:ea typeface="思源黑体"/>
              </a:rPr>
              <a:t>模型聪明</a:t>
            </a:r>
            <a:r>
              <a:rPr lang="en-US" sz="3900" b="1">
                <a:solidFill>
                  <a:srgbClr val="FFFFFF"/>
                </a:solidFill>
                <a:latin typeface="思源黑体"/>
                <a:ea typeface="思源黑体"/>
              </a:rPr>
              <a:t> ≠ </a:t>
            </a:r>
            <a:r>
              <a:rPr lang="zh-CN" sz="3900" b="1">
                <a:solidFill>
                  <a:srgbClr val="FFFFFF"/>
                </a:solidFill>
                <a:latin typeface="思源黑体"/>
                <a:ea typeface="思源黑体"/>
              </a:rPr>
              <a:t>干活靠谱</a:t>
            </a:r>
            <a:endParaRPr/>
          </a:p>
          <a:p>
            <a:pPr>
              <a:lnSpc>
                <a:spcPct val="125000"/>
              </a:lnSpc>
            </a:pPr>
            <a:r>
              <a:rPr lang="zh-CN" sz="3900" b="1">
                <a:solidFill>
                  <a:srgbClr val="FFFFFF"/>
                </a:solidFill>
                <a:latin typeface="思源黑体"/>
                <a:ea typeface="思源黑体"/>
              </a:rPr>
              <a:t>能力要靠框架驯服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762000" y="2590800"/>
            <a:ext cx="762000" cy="38100"/>
          </a:xfrm>
          <a:prstGeom prst="rect">
            <a:avLst/>
          </a:prstGeom>
          <a:solidFill>
            <a:srgbClr val="FF9F1C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762000" y="2895600"/>
            <a:ext cx="1066800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650">
                <a:solidFill>
                  <a:srgbClr val="DCE7F5"/>
                </a:solidFill>
                <a:latin typeface="思源黑体"/>
                <a:ea typeface="思源黑体"/>
              </a:rPr>
              <a:t>Harness </a:t>
            </a:r>
            <a:r>
              <a:rPr lang="zh-CN" sz="1650">
                <a:solidFill>
                  <a:srgbClr val="DCE7F5"/>
                </a:solidFill>
                <a:latin typeface="思源黑体"/>
                <a:ea typeface="思源黑体"/>
              </a:rPr>
              <a:t>智能体马具</a:t>
            </a:r>
            <a:r>
              <a:rPr lang="en-US" sz="1650">
                <a:solidFill>
                  <a:srgbClr val="DCE7F5"/>
                </a:solidFill>
                <a:latin typeface="思源黑体"/>
                <a:ea typeface="思源黑体"/>
              </a:rPr>
              <a:t> + </a:t>
            </a:r>
            <a:r>
              <a:rPr lang="zh-CN" sz="1650">
                <a:solidFill>
                  <a:srgbClr val="DCE7F5"/>
                </a:solidFill>
                <a:latin typeface="思源黑体"/>
                <a:ea typeface="思源黑体"/>
              </a:rPr>
              <a:t>评测</a:t>
            </a:r>
            <a:r>
              <a:rPr lang="en-US" sz="1650">
                <a:solidFill>
                  <a:srgbClr val="DCE7F5"/>
                </a:solidFill>
                <a:latin typeface="思源黑体"/>
                <a:ea typeface="思源黑体"/>
              </a:rPr>
              <a:t> + </a:t>
            </a:r>
            <a:r>
              <a:rPr lang="zh-CN" sz="1650">
                <a:solidFill>
                  <a:srgbClr val="DCE7F5"/>
                </a:solidFill>
                <a:latin typeface="思源黑体"/>
                <a:ea typeface="思源黑体"/>
              </a:rPr>
              <a:t>安全，把尖刺能力驯成稳定生产力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762000" y="3648075"/>
            <a:ext cx="10668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FA4B8"/>
                </a:solidFill>
                <a:latin typeface="思源黑体"/>
                <a:ea typeface="思源黑体"/>
              </a:rPr>
              <a:t>学完能搭出带验证、评测、监控、安全的最小工程化</a:t>
            </a:r>
            <a:r>
              <a:rPr lang="en-US" sz="1125">
                <a:solidFill>
                  <a:srgbClr val="8FA4B8"/>
                </a:solidFill>
                <a:latin typeface="思源黑体"/>
                <a:ea typeface="思源黑体"/>
              </a:rPr>
              <a:t> Agent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762000" y="5753100"/>
            <a:ext cx="10668000" cy="533400"/>
          </a:xfrm>
          <a:prstGeom prst="rect"/>
        </p:spPr>
        <p:txBody>
          <a:bodyPr wrap="none" lIns="0" tIns="28575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FA4B8"/>
                </a:solidFill>
                <a:latin typeface="思源黑体"/>
                <a:ea typeface="思源黑体"/>
              </a:rPr>
              <a:t>Qborfy · </a:t>
            </a:r>
            <a:r>
              <a:rPr lang="zh-CN" sz="975">
                <a:solidFill>
                  <a:srgbClr val="8FA4B8"/>
                </a:solidFill>
                <a:latin typeface="思源黑体"/>
                <a:ea typeface="思源黑体"/>
              </a:rPr>
              <a:t>做一个有温度和有干货的技术分享作者</a:t>
            </a:r>
            <a:endParaRPr/>
          </a:p>
        </p:txBody>
      </p:sp>
    </p:spTree>
  </p:cSld>
</p:sld>
</file>

<file path=ppt/slides/slide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73" name="" descr="&lt;Slide&#10;  style={{&#10;    width: '1280px', height: '720px',&#10;    background: '#16263F',&#10;    padding: '20px 60px',&#10;    fontFamily: '&quot;思源黑体&quot;, sans-serif',&#10;  }}&#10;&gt;&#10;  &lt;Box style={{ width: '100%', height: '100%', flexDirection: 'row', gap: 44 }}&gt;&#10;    &lt;Box style={{ flex: 1, flexDirection: 'column', justifyContent: 'center' }}&gt;&#10;      &lt;Text style={{ fontSize: 14, color: '#22D3EE', fontWeight: 'bold', letterSpacing: 3, marginBottom: 14 }}&gt;HARNESS · 智能体的马具&lt;/Text&gt;&#10;      &lt;Text style={{ fontSize: 22, color: '#DCE7F5', marginBottom: 16 }}&gt;Terminal Bench 得分&lt;/Text&gt;&#10;      &lt;Box style={{ flexDirection: 'row', gap: 20, alignItems: 'flex-end', marginBottom: 20 }}&gt;&#10;        &lt;Text style={{ fontSize: 64, color: '#8FA4B8', fontWeight: 'bold', lineHeight: 1 }}&gt;52.8%&lt;/Text&gt;&#10;        &lt;FAIcon name='arrow-right' style={{ fill: '#FF9F1C', width: 44, height: 44, marginBottom: 8 }} /&gt;&#10;        &lt;Text style={{ fontSize: 64, color: '#FF9F1C', fontWeight: 'bold', lineHeight: 1 }}&gt;66.5%&lt;/Text&gt;&#10;      &lt;/Box&gt;&#10;      &lt;Text style={{ fontSize: 20, color: '#FFFFFF', fontWeight: 'bold', lineHeight: 1.5, marginBottom: 10 }}&gt;&#10;        同一模型，加了 Harness 能力跃升&#10;      &lt;/Text&gt;&#10;      &lt;Text style={{ fontSize: 15, color: '#DCE7F5', lineHeight: 1.8 }}&gt;&#10;        模型能力是「尖刺型」：单点强、整体不稳。Harness 像马具一样把野马驯成战马——能力不只靠模型，更靠框架。&#10;      &lt;/Text&gt;&#10;    &lt;/Box&gt;&#10;&#10;    &lt;Box style={{ flex: 1, flexDirection: 'column', justifyContent: 'center', gap: 14 }}&gt;&#10;      &lt;Box style={{ background: 'rgba(255,255,255,0.06)', border: '1px solid rgba(220,231,245,0.15)', borderRadius: 12, padding: '18px 22px' }}&gt;&#10;        &lt;Text style={{ fontSize: 17, color: '#FFFFFF', fontWeight: 'bold', marginBottom: 6 }}&gt;模型能力尖刺型&lt;/Text&gt;&#10;        &lt;Text style={{ fontSize: 14, color: '#DCE7F5' }}&gt;单点很猛，但循环一长就容易崩&lt;/Text&gt;&#10;      &lt;/Box&gt;&#10;      &lt;Box style={{ background: 'rgba(255,255,255,0.06)', border: '1px solid rgba(220,231,245,0.15)', borderRadius: 12, padding: '18px 22px' }}&gt;&#10;        &lt;Text style={{ fontSize: 17, color: '#FFFFFF', fontWeight: 'bold', marginBottom: 6 }}&gt;LangChain 只改外壳&lt;/Text&gt;&#10;        &lt;Text style={{ fontSize: 14, color: '#DCE7F5' }}&gt;编排了 prompt 与工具，但没解决循环可靠性&lt;/Text&gt;&#10;      &lt;/Box&gt;&#10;      &lt;Box style={{ background: 'rgba(255,159,28,0.12)', border: '1px solid rgba(255,159,28,0.3)', borderRadius: 12, padding: '18px 22px' }}&gt;&#10;        &lt;Text style={{ fontSize: 17, color: '#FF9F1C', fontWeight: 'bold', marginBottom: 6 }}&gt;Harness 马具&lt;/Text&gt;&#10;        &lt;Text style={{ fontSize: 14, color: '#DCE7F5' }}&gt;验证、评测、监控、安全——把能力驯成稳定输出&lt;/Text&gt;&#10;      &lt;/Box&gt;&#10;    &lt;/Box&gt;&#10;  &lt;/Box&gt;&#10;  &lt;Box style={{ position: 'absolute', bottom: 14, left: 60, width: 1160, flexDirection: 'row', justifyContent: 'space-between' }}&gt;&#10;    &lt;Text style={{ fontSize: 14, color: '#8FA4B8' }}&gt;AI 从零开始 · 第 8 讲 · 数据为示意基准&lt;/Text&gt;&#10;    &lt;Text style={{ fontSize: 14, color: '#8FA4B8' }}&gt;02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6263F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571500" y="2085975"/>
            <a:ext cx="5314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225">
                <a:solidFill>
                  <a:srgbClr val="22D3EE"/>
                </a:solidFill>
                <a:latin typeface="思源黑体"/>
                <a:ea typeface="思源黑体"/>
              </a:rPr>
              <a:t>HARNESS · </a:t>
            </a:r>
            <a:r>
              <a:rPr lang="zh-CN" sz="1050" b="1" spc="225">
                <a:solidFill>
                  <a:srgbClr val="22D3EE"/>
                </a:solidFill>
                <a:latin typeface="思源黑体"/>
                <a:ea typeface="思源黑体"/>
              </a:rPr>
              <a:t>智能体的马具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571500" y="2381250"/>
            <a:ext cx="53149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DCE7F5"/>
                </a:solidFill>
                <a:latin typeface="思源黑体"/>
                <a:ea typeface="思源黑体"/>
              </a:rPr>
              <a:t>Terminal Bench </a:t>
            </a:r>
            <a:r>
              <a:rPr lang="zh-CN" sz="1650">
                <a:solidFill>
                  <a:srgbClr val="DCE7F5"/>
                </a:solidFill>
                <a:latin typeface="思源黑体"/>
                <a:ea typeface="思源黑体"/>
              </a:rPr>
              <a:t>得分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571500" y="2790825"/>
            <a:ext cx="173355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8FA4B8"/>
                </a:solidFill>
                <a:latin typeface="思源黑体"/>
                <a:ea typeface="思源黑体"/>
              </a:rPr>
              <a:t>52.8%</a:t>
            </a:r>
            <a:endParaRPr/>
          </a:p>
        </p:txBody>
      </p:sp>
      <p:pic>
        <p:nvPicPr>
          <p:cNvPr id="7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2495550" y="3028950"/>
            <a:ext cx="419100" cy="419100"/>
          </a:xfrm>
          <a:prstGeom prst="rect">
            <a:avLst/>
          </a:prstGeom>
          <a:ln/>
        </p:spPr>
      </p:pic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3105150" y="2790825"/>
            <a:ext cx="173355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FF9F1C"/>
                </a:solidFill>
                <a:latin typeface="思源黑体"/>
                <a:ea typeface="思源黑体"/>
              </a:rPr>
              <a:t>66.5%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571500" y="3714750"/>
            <a:ext cx="531495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 b="1">
                <a:solidFill>
                  <a:srgbClr val="FFFFFF"/>
                </a:solidFill>
                <a:latin typeface="思源黑体"/>
                <a:ea typeface="思源黑体"/>
              </a:rPr>
              <a:t>同一模型，加了</a:t>
            </a:r>
            <a:r>
              <a:rPr lang="en-US" sz="1500" b="1">
                <a:solidFill>
                  <a:srgbClr val="FFFFFF"/>
                </a:solidFill>
                <a:latin typeface="思源黑体"/>
                <a:ea typeface="思源黑体"/>
              </a:rPr>
              <a:t> Harness </a:t>
            </a:r>
            <a:r>
              <a:rPr lang="zh-CN" sz="1500" b="1">
                <a:solidFill>
                  <a:srgbClr val="FFFFFF"/>
                </a:solidFill>
                <a:latin typeface="思源黑体"/>
                <a:ea typeface="思源黑体"/>
              </a:rPr>
              <a:t>能力跃升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571500" y="4152900"/>
            <a:ext cx="53149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模型能力是「尖刺型」：单点强、整体不稳。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Harness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像马具一样把野马驯成战马——能力不只靠模型，更靠框架。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6305550" y="2152650"/>
            <a:ext cx="5314950" cy="762000"/>
          </a:xfrm>
          <a:prstGeom prst="roundRect">
            <a:avLst>
              <a:gd name="adj" fmla="val 15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DCE7F5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6515100" y="2324100"/>
            <a:ext cx="4895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思源黑体"/>
                <a:ea typeface="思源黑体"/>
              </a:rPr>
              <a:t>模型能力尖刺型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6515100" y="2581275"/>
            <a:ext cx="4895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单点很猛，但循环一长就容易崩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6305550" y="3048000"/>
            <a:ext cx="5314950" cy="762000"/>
          </a:xfrm>
          <a:prstGeom prst="roundRect">
            <a:avLst>
              <a:gd name="adj" fmla="val 15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DCE7F5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6515100" y="3219450"/>
            <a:ext cx="4895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思源黑体"/>
                <a:ea typeface="思源黑体"/>
              </a:rPr>
              <a:t>LangChain </a:t>
            </a:r>
            <a:r>
              <a:rPr lang="zh-CN" sz="1275" b="1">
                <a:solidFill>
                  <a:srgbClr val="FFFFFF"/>
                </a:solidFill>
                <a:latin typeface="思源黑体"/>
                <a:ea typeface="思源黑体"/>
              </a:rPr>
              <a:t>只改外壳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6515100" y="3476625"/>
            <a:ext cx="4895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编排了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prompt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与工具，但没解决循环可靠性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6305550" y="3943350"/>
            <a:ext cx="5314950" cy="762000"/>
          </a:xfrm>
          <a:prstGeom prst="roundRect">
            <a:avLst>
              <a:gd name="adj" fmla="val 15000"/>
            </a:avLst>
          </a:prstGeom>
          <a:solidFill>
            <a:srgbClr val="FF9F1C">
              <a:alpha val="12000"/>
            </a:srgbClr>
          </a:solidFill>
          <a:ln w="12700">
            <a:solidFill>
              <a:srgbClr val="FF9F1C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6515100" y="4114800"/>
            <a:ext cx="4895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9F1C"/>
                </a:solidFill>
                <a:latin typeface="思源黑体"/>
                <a:ea typeface="思源黑体"/>
              </a:rPr>
              <a:t>Harness </a:t>
            </a:r>
            <a:r>
              <a:rPr lang="zh-CN" sz="1275" b="1">
                <a:solidFill>
                  <a:srgbClr val="FF9F1C"/>
                </a:solidFill>
                <a:latin typeface="思源黑体"/>
                <a:ea typeface="思源黑体"/>
              </a:rPr>
              <a:t>马具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6515100" y="4371975"/>
            <a:ext cx="4895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验证、评测、监控、安全——把能力驯成稳定输出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2305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A4B8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8FA4B8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8FA4B8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8FA4B8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8FA4B8"/>
                </a:solidFill>
                <a:latin typeface="思源黑体"/>
                <a:ea typeface="思源黑体"/>
              </a:rPr>
              <a:t> 8 </a:t>
            </a:r>
            <a:r>
              <a:rPr lang="zh-CN" sz="1050">
                <a:solidFill>
                  <a:srgbClr val="8FA4B8"/>
                </a:solidFill>
                <a:latin typeface="思源黑体"/>
                <a:ea typeface="思源黑体"/>
              </a:rPr>
              <a:t>讲</a:t>
            </a:r>
            <a:r>
              <a:rPr lang="en-US" sz="1050">
                <a:solidFill>
                  <a:srgbClr val="8FA4B8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8FA4B8"/>
                </a:solidFill>
                <a:latin typeface="思源黑体"/>
                <a:ea typeface="思源黑体"/>
              </a:rPr>
              <a:t>数据为示意基准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A4B8"/>
                </a:solidFill>
                <a:latin typeface="思源黑体"/>
                <a:ea typeface="思源黑体"/>
              </a:rPr>
              <a:t>02 / 12</a:t>
            </a:r>
            <a:endParaRPr/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93" name="" descr="&lt;Slide&#10;  style={{&#10;    width: '1280px', height: '720px',&#10;    background: '#F5F7FA',&#10;    padding: '20px 60px',&#10;    fontFamily: '&quot;思源黑体&quot;, sans-serif',&#10;  }}&#10;&gt;&#10;  &lt;Box style={{ width: '100%', height: '100%' }}&gt;&#10;    &lt;Text style={{ fontSize: 14, color: '#FF9F1C', fontWeight: 'bold', letterSpacing: 2, marginBottom: 8 }}&gt;HARNESS COMPONENTS&lt;/Text&gt;&#10;    &lt;Text style={{ fontSize: 34, color: '#16263F', fontWeight: 'bold', marginBottom: 24 }}&gt;Harness 六大组件，按优先级分 P0-P2 落地&lt;/Text&gt;&#10;    &lt;Box style={{ width: 56, height: 4, background: '#22D3EE', marginBottom: 24 }} /&gt;&#10;&#10;    &lt;Box style={{ flexDirection: 'row', gap: 32, flex: 1 }}&gt;&#10;      &lt;Box style={{ flex: 1, flexDirection: 'column', gap: 12 }}&gt;&#10;        {[&#10;          { n: '01', t: '系统提示词', d: '定义角色、规则与边界' },&#10;          { n: '02', t: '工具集', d: '注册白名单，限定能力' },&#10;          { n: '03', t: '中间件', d: 'Hooks 拦截，扩展日志/权限' },&#10;          { n: '04', t: '上下文管理', d: '记忆注入、压缩、检索' },&#10;          { n: '05', t: '执行流程', d: '循环、终止、错误处理' },&#10;          { n: '06', t: '验证层', d: '输出校验、格式、质量门禁' },&#10;        ].map((item, idx) =&gt; (&#10;          &lt;Box key={idx} style={{ flexDirection: 'row', alignItems: 'center', gap: 14, background: '#FFFFFF', borderRadius: 10, padding: '12px 18px', boxShadow: '0 2px 12px rgba(22,38,63,0.06)' }}&gt;&#10;            &lt;Text style={{ fontSize: 15, color: '#FF9F1C', fontWeight: 'bold', width: 28 }}&gt;{item.n}&lt;/Text&gt;&#10;            &lt;Box style={{ flex: 1 }}&gt;&#10;              &lt;Text style={{ fontSize: 17, fontWeight: 'bold', color: '#16263F' }}&gt;{item.t}&lt;/Text&gt;&#10;            &lt;/Box&gt;&#10;            &lt;Text style={{ fontSize: 13, color: '#5B6B7A' }}&gt;{item.d}&lt;/Text&gt;&#10;          &lt;/Box&gt;&#10;        ))}&#10;      &lt;/Box&gt;&#10;&#10;      &lt;Box style={{ flex: 1, flexDirection: 'column', gap: 14, justifyContent: 'center' }}&gt;&#10;        &lt;Box style={{ background: '#16263F', borderRadius: 12, padding: '18px 22px' }}&gt;&#10;          &lt;Box style={{ flexDirection: 'row', alignItems: 'center', gap: 10, marginBottom: 8 }}&gt;&#10;            &lt;Text style={{ fontSize: 13, color: '#FF9F1C', fontWeight: 'bold' }}&gt;P0&lt;/Text&gt;&#10;            &lt;Text style={{ fontSize: 18, fontWeight: 'bold', color: '#FFFFFF' }}&gt;必须做（否则不可上线）&lt;/Text&gt;&#10;          &lt;/Box&gt;&#10;          &lt;Text style={{ fontSize: 14, color: '#DCE7F5' }}&gt;系统提示词 · 工具集 · 执行流程&lt;/Text&gt;&#10;        &lt;/Box&gt;&#10;        &lt;Box style={{ background: '#FFFFFF', borderRadius: 12, padding: '18px 22px', boxShadow: '0 2px 12px rgba(22,38,63,0.06)' }}&gt;&#10;          &lt;Box style={{ flexDirection: 'row', alignItems: 'center', gap: 10, marginBottom: 8 }}&gt;&#10;            &lt;Text style={{ fontSize: 13, color: '#FF9F1C', fontWeight: 'bold' }}&gt;P1&lt;/Text&gt;&#10;            &lt;Text style={{ fontSize: 18, fontWeight: 'bold', color: '#16263F' }}&gt;应该做（提质量提效率）&lt;/Text&gt;&#10;          &lt;/Box&gt;&#10;          &lt;Text style={{ fontSize: 14, color: '#5B6B7A' }}&gt;上下文管理 · 验证层&lt;/Text&gt;&#10;        &lt;/Box&gt;&#10;        &lt;Box style={{ background: '#FFFFFF', borderRadius: 12, padding: '18px 22px', boxShadow: '0 2px 12px rgba(22,38,63,0.06)' }}&gt;&#10;          &lt;Box style={{ flexDirection: 'row', alignItems: 'center', gap: 10, marginBottom: 8 }}&gt;&#10;            &lt;Text style={{ fontSize: 13, color: '#FF9F1C', fontWeight: 'bold' }}&gt;P2&lt;/Text&gt;&#10;            &lt;Text style={{ fontSize: 18, fontWeight: 'bold', color: '#16263F' }}&gt;可选做（锦上添花）&lt;/Text&gt;&#10;          &lt;/Box&gt;&#10;          &lt;Text style={{ fontSize: 14, color: '#5B6B7A' }}&gt;中间件（Hooks 扩展）&lt;/Text&gt;&#10;        &lt;/Box&gt;&#10;        &lt;Box style={{ background: '#DCE7F5', borderRadius: 10, padding: '13px 20px' }}&gt;&#10;          &lt;Text style={{ fontSize: 14, color: '#16263F', fontWeight: 'bold' }}&gt;&#10;            优先级心法：先守住 P0 底线，再逐步补 P1、P2&#10;          &lt;/Text&gt;&#10;        &lt;/Box&gt;&#10;      &lt;/Box&gt;&#10;    &lt;/Box&gt;&#10;  &lt;/Box&gt;&#10;  &lt;Box style={{ position: 'absolute', bottom: 14, left: 60, width: 1160, flexDirection: 'row', justifyContent: 'space-between' }}&gt;&#10;    &lt;Text style={{ fontSize: 14, color: '#5B6B7A' }}&gt;AI 从零开始 · 第 8 讲&lt;/Text&gt;&#10;    &lt;Text style={{ fontSize: 14, color: '#5B6B7A' }}&gt;03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HARNESS COMPONENTS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Harness 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六大组件，按优先级分</a:t>
            </a: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 P0-P2 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落地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571500" y="104775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98" name=""/>
          <p:cNvSpPr/>
          <p:nvPr/>
        </p:nvSpPr>
        <p:spPr>
          <a:xfrm rot="0" flipH="0" flipV="0">
            <a:off x="571500" y="1314450"/>
            <a:ext cx="5372100" cy="428625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742950" y="1447800"/>
            <a:ext cx="266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9F1C"/>
                </a:solidFill>
                <a:latin typeface="思源黑体"/>
                <a:ea typeface="思源黑体"/>
              </a:rPr>
              <a:t>01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1143000" y="1428750"/>
            <a:ext cx="3228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6263F"/>
                </a:solidFill>
                <a:latin typeface="思源黑体"/>
                <a:ea typeface="思源黑体"/>
              </a:rPr>
              <a:t>系统提示词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4505325" y="1457325"/>
            <a:ext cx="1266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定义角色、规则与边界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571500" y="1857375"/>
            <a:ext cx="5372100" cy="428625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742950" y="1990725"/>
            <a:ext cx="266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9F1C"/>
                </a:solidFill>
                <a:latin typeface="思源黑体"/>
                <a:ea typeface="思源黑体"/>
              </a:rPr>
              <a:t>02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1143000" y="1971675"/>
            <a:ext cx="3228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6263F"/>
                </a:solidFill>
                <a:latin typeface="思源黑体"/>
                <a:ea typeface="思源黑体"/>
              </a:rPr>
              <a:t>工具集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4505325" y="2000250"/>
            <a:ext cx="1266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注册白名单，限定能力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571500" y="2400300"/>
            <a:ext cx="5372100" cy="428625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742950" y="2533650"/>
            <a:ext cx="266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9F1C"/>
                </a:solidFill>
                <a:latin typeface="思源黑体"/>
                <a:ea typeface="思源黑体"/>
              </a:rPr>
              <a:t>03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1143000" y="2514600"/>
            <a:ext cx="2933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6263F"/>
                </a:solidFill>
                <a:latin typeface="思源黑体"/>
                <a:ea typeface="思源黑体"/>
              </a:rPr>
              <a:t>中间件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4210050" y="2543175"/>
            <a:ext cx="1562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B6B7A"/>
                </a:solidFill>
                <a:latin typeface="思源黑体"/>
                <a:ea typeface="思源黑体"/>
              </a:rPr>
              <a:t>Hooks </a:t>
            </a: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拦截，扩展日志</a:t>
            </a:r>
            <a:r>
              <a:rPr lang="en-US" sz="975">
                <a:solidFill>
                  <a:srgbClr val="5B6B7A"/>
                </a:solidFill>
                <a:latin typeface="思源黑体"/>
                <a:ea typeface="思源黑体"/>
              </a:rPr>
              <a:t>/</a:t>
            </a: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权限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571500" y="2943225"/>
            <a:ext cx="5372100" cy="428625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742950" y="3076575"/>
            <a:ext cx="266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9F1C"/>
                </a:solidFill>
                <a:latin typeface="思源黑体"/>
                <a:ea typeface="思源黑体"/>
              </a:rPr>
              <a:t>04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1143000" y="3057525"/>
            <a:ext cx="3228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6263F"/>
                </a:solidFill>
                <a:latin typeface="思源黑体"/>
                <a:ea typeface="思源黑体"/>
              </a:rPr>
              <a:t>上下文管理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4505325" y="3086100"/>
            <a:ext cx="1266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记忆注入、压缩、检索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571500" y="3486150"/>
            <a:ext cx="5372100" cy="428625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742950" y="3619500"/>
            <a:ext cx="266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9F1C"/>
                </a:solidFill>
                <a:latin typeface="思源黑体"/>
                <a:ea typeface="思源黑体"/>
              </a:rPr>
              <a:t>05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1143000" y="3600450"/>
            <a:ext cx="3228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6263F"/>
                </a:solidFill>
                <a:latin typeface="思源黑体"/>
                <a:ea typeface="思源黑体"/>
              </a:rPr>
              <a:t>执行流程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4505325" y="3629025"/>
            <a:ext cx="1266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循环、终止、错误处理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571500" y="4029075"/>
            <a:ext cx="5372100" cy="428625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742950" y="4162425"/>
            <a:ext cx="266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9F1C"/>
                </a:solidFill>
                <a:latin typeface="思源黑体"/>
                <a:ea typeface="思源黑体"/>
              </a:rPr>
              <a:t>06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1143000" y="4143375"/>
            <a:ext cx="2971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6263F"/>
                </a:solidFill>
                <a:latin typeface="思源黑体"/>
                <a:ea typeface="思源黑体"/>
              </a:rPr>
              <a:t>验证层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4248150" y="4171950"/>
            <a:ext cx="1524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输出校验、格式、质量门禁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6248400" y="2400300"/>
            <a:ext cx="5372100" cy="790575"/>
          </a:xfrm>
          <a:prstGeom prst="roundRect">
            <a:avLst>
              <a:gd name="adj" fmla="val 14458"/>
            </a:avLst>
          </a:prstGeom>
          <a:solidFill>
            <a:srgbClr val="16263F"/>
          </a:solidFill>
          <a:ln/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6457950" y="2600325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9F1C"/>
                </a:solidFill>
                <a:latin typeface="思源黑体"/>
                <a:ea typeface="思源黑体"/>
              </a:rPr>
              <a:t>P0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6705600" y="2571750"/>
            <a:ext cx="1924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思源黑体"/>
                <a:ea typeface="思源黑体"/>
              </a:rPr>
              <a:t>必须做（否则不可上线）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6457950" y="2857500"/>
            <a:ext cx="495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系统提示词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工具集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执行流程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6248400" y="3324225"/>
            <a:ext cx="5372100" cy="790575"/>
          </a:xfrm>
          <a:prstGeom prst="roundRect">
            <a:avLst>
              <a:gd name="adj" fmla="val 14458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6457950" y="3524250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9F1C"/>
                </a:solidFill>
                <a:latin typeface="思源黑体"/>
                <a:ea typeface="思源黑体"/>
              </a:rPr>
              <a:t>P1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6705600" y="3495675"/>
            <a:ext cx="1924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6263F"/>
                </a:solidFill>
                <a:latin typeface="思源黑体"/>
                <a:ea typeface="思源黑体"/>
              </a:rPr>
              <a:t>应该做（提质量提效率）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6457950" y="3781425"/>
            <a:ext cx="495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上下文管理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验证层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6248400" y="4248150"/>
            <a:ext cx="5372100" cy="790575"/>
          </a:xfrm>
          <a:prstGeom prst="roundRect">
            <a:avLst>
              <a:gd name="adj" fmla="val 14458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6457950" y="4448175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9F1C"/>
                </a:solidFill>
                <a:latin typeface="思源黑体"/>
                <a:ea typeface="思源黑体"/>
              </a:rPr>
              <a:t>P2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6705600" y="4419600"/>
            <a:ext cx="1581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6263F"/>
                </a:solidFill>
                <a:latin typeface="思源黑体"/>
                <a:ea typeface="思源黑体"/>
              </a:rPr>
              <a:t>可选做（锦上添花）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6457950" y="4705350"/>
            <a:ext cx="495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中间件（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Hooks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扩展）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6248400" y="5172075"/>
            <a:ext cx="5372100" cy="409575"/>
          </a:xfrm>
          <a:prstGeom prst="roundRect">
            <a:avLst>
              <a:gd name="adj" fmla="val 23256"/>
            </a:avLst>
          </a:prstGeom>
          <a:solidFill>
            <a:srgbClr val="DCE7F5"/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6438900" y="5295900"/>
            <a:ext cx="499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6263F"/>
                </a:solidFill>
                <a:latin typeface="思源黑体"/>
                <a:ea typeface="思源黑体"/>
              </a:rPr>
              <a:t>优先级心法：先守住</a:t>
            </a:r>
            <a:r>
              <a:rPr lang="en-US" sz="1050" b="1">
                <a:solidFill>
                  <a:srgbClr val="16263F"/>
                </a:solidFill>
                <a:latin typeface="思源黑体"/>
                <a:ea typeface="思源黑体"/>
              </a:rPr>
              <a:t> P0 </a:t>
            </a:r>
            <a:r>
              <a:rPr lang="zh-CN" sz="1050" b="1">
                <a:solidFill>
                  <a:srgbClr val="16263F"/>
                </a:solidFill>
                <a:latin typeface="思源黑体"/>
                <a:ea typeface="思源黑体"/>
              </a:rPr>
              <a:t>底线，再逐步补</a:t>
            </a:r>
            <a:r>
              <a:rPr lang="en-US" sz="1050" b="1">
                <a:solidFill>
                  <a:srgbClr val="16263F"/>
                </a:solidFill>
                <a:latin typeface="思源黑体"/>
                <a:ea typeface="思源黑体"/>
              </a:rPr>
              <a:t> P1</a:t>
            </a:r>
            <a:r>
              <a:rPr lang="zh-CN" sz="1050" b="1">
                <a:solidFill>
                  <a:srgbClr val="16263F"/>
                </a:solidFill>
                <a:latin typeface="思源黑体"/>
                <a:ea typeface="思源黑体"/>
              </a:rPr>
              <a:t>、</a:t>
            </a:r>
            <a:r>
              <a:rPr lang="en-US" sz="1050" b="1">
                <a:solidFill>
                  <a:srgbClr val="16263F"/>
                </a:solidFill>
                <a:latin typeface="思源黑体"/>
                <a:ea typeface="思源黑体"/>
              </a:rPr>
              <a:t>P2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8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03 / 12</a:t>
            </a:r>
            <a:endParaRPr/>
          </a:p>
        </p:txBody>
      </p:sp>
    </p:spTree>
  </p:cSld>
</p:sld>
</file>

<file path=ppt/slides/slide4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38" name="" descr="&lt;Slide&#10;  style={{&#10;    width: '1280px', height: '720px',&#10;    background: '#F5F7FA',&#10;    padding: '20px 60px',&#10;    fontFamily: '&quot;思源黑体&quot;, sans-serif',&#10;  }}&#10;&gt;&#10;  &lt;Box style={{ width: '100%', height: '100%' }}&gt;&#10;    &lt;Text style={{ fontSize: 14, color: '#FF9F1C', fontWeight: 'bold', letterSpacing: 2, marginBottom: 8 }}&gt;BUILD &amp; VERIFY&lt;/Text&gt;&#10;    &lt;Text style={{ fontSize: 34, color: '#16263F', fontWeight: 'bold', marginBottom: 24 }}&gt;强制验证：四阶段循环，流程跑得通才算数&lt;/Text&gt;&#10;    &lt;Box style={{ width: 56, height: 4, background: '#22D3EE', marginBottom: 26 }} /&gt;&#10;&#10;    &lt;Box style={{ flexDirection: 'row', gap: 32, flex: 1 }}&gt;&#10;      &lt;Box style={{ flex: 2, flexDirection: 'column', justifyContent: 'center', gap: 16 }}&gt;&#10;        {[&#10;          { n: '1', t: '规划', d: '拆解任务，明确验收标准', icon: 'clipboard-list' },&#10;          { n: '2', t: '构建', d: 'Agent 生成方案/代码', icon: 'hammer' },&#10;          { n: '3', t: '验证', d: '跑测试、对验收、查格式', icon: 'check-double' },&#10;          { n: '4', t: '修复', d: '不通过就带错误回炉', icon: 'wrench' },&#10;        ].map((item, idx) =&gt; (&#10;          &lt;Box key={idx} style={{ flexDirection: 'row', alignItems: 'center', gap: 16 }}&gt;&#10;            &lt;Box style={{ width: 48, height: 48, borderRadius: 12, background: idx === 2 ? '#16263F' : '#FFFFFF', justifyContent: 'center', alignItems: 'center', boxShadow: '0 2px 12px rgba(22,38,63,0.06)' }}&gt;&#10;              &lt;FAIcon name={item.icon} style={{ fill: idx === 2 ? '#FF9F1C' : '#22D3EE', width: 24, height: 24 }} /&gt;&#10;            &lt;/Box&gt;&#10;            &lt;Box style={{ flex: 1 }}&gt;&#10;              &lt;Text style={{ fontSize: 18, fontWeight: 'bold', color: '#16263F', marginBottom: 3 }}&gt;{item.n} · {item.t}&lt;/Text&gt;&#10;              &lt;Text style={{ fontSize: 14, color: '#5B6B7A' }}&gt;{item.d}&lt;/Text&gt;&#10;            &lt;/Box&gt;&#10;          &lt;/Box&gt;&#10;        ))}&#10;      &lt;/Box&gt;&#10;&#10;      &lt;Box style={{ flex: 1, flexDirection: 'column', justifyContent: 'center', gap: 16 }}&gt;&#10;        &lt;Box style={{ background: '#16263F', borderRadius: 12, padding: '22px 24px' }}&gt;&#10;          &lt;Text style={{ fontSize: 19, fontWeight: 'bold', color: '#FFFFFF', marginBottom: 10 }}&gt;流程 ≠ 质量&lt;/Text&gt;&#10;          &lt;Text style={{ fontSize: 15, color: '#DCE7F5', lineHeight: 1.8 }}&gt;&#10;            光让 Agent 跑完没用，每一步都得有「验证门」把守，不合格就退回上一步。&#10;          &lt;/Text&gt;&#10;        &lt;/Box&gt;&#10;        &lt;Box style={{ background: '#FFFFFF', borderRadius: 12, padding: '20px 24px', boxShadow: '0 2px 12px rgba(22,38,63,0.06)' }}&gt;&#10;          &lt;Box style={{ flexDirection: 'row', alignItems: 'center', gap: 10, marginBottom: 10 }}&gt;&#10;            &lt;FAIcon name='infinity' style={{ fill: '#FF9F1C', width: 24, height: 24 }} /&gt;&#10;            &lt;Text style={{ fontSize: 18, fontWeight: 'bold', color: '#16263F' }}&gt;防死循环中间件&lt;/Text&gt;&#10;          &lt;/Box&gt;&#10;          &lt;Text style={{ fontSize: 14, color: '#5B6B7A', lineHeight: 1.7 }}&gt;&#10;            设最大步数、检测重复动作、连续失败熔断——从机制上杜绝原地打转。&#10;          &lt;/Text&gt;&#10;        &lt;/Box&gt;&#10;      &lt;/Box&gt;&#10;    &lt;/Box&gt;&#10;  &lt;/Box&gt;&#10;  &lt;Box style={{ position: 'absolute', bottom: 14, left: 60, width: 1160, flexDirection: 'row', justifyContent: 'space-between' }}&gt;&#10;    &lt;Text style={{ fontSize: 14, color: '#5B6B7A' }}&gt;AI 从零开始 · 第 8 讲&lt;/Text&gt;&#10;    &lt;Text style={{ fontSize: 14, color: '#5B6B7A' }}&gt;04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BUILD &amp; VERIFY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强制验证：四阶段循环，流程跑得通才算数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571500" y="104775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143" name=""/>
          <p:cNvSpPr/>
          <p:nvPr/>
        </p:nvSpPr>
        <p:spPr>
          <a:xfrm rot="0" flipH="0" flipV="0">
            <a:off x="571500" y="28575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14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2971800"/>
            <a:ext cx="228600" cy="228600"/>
          </a:xfrm>
          <a:prstGeom prst="rect">
            <a:avLst/>
          </a:prstGeom>
          <a:ln/>
        </p:spPr>
      </p:pic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1181100" y="2886075"/>
            <a:ext cx="6553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6263F"/>
                </a:solidFill>
                <a:latin typeface="思源黑体"/>
                <a:ea typeface="思源黑体"/>
              </a:rPr>
              <a:t>1</a:t>
            </a:r>
            <a:r>
              <a:rPr lang="en-US" sz="1350" b="1">
                <a:solidFill>
                  <a:srgbClr val="16263F"/>
                </a:solidFill>
                <a:latin typeface="思源黑体"/>
                <a:ea typeface="思源黑体"/>
              </a:rPr>
              <a:t> · </a:t>
            </a:r>
            <a:r>
              <a:rPr lang="zh-CN" sz="1350" b="1">
                <a:solidFill>
                  <a:srgbClr val="16263F"/>
                </a:solidFill>
                <a:latin typeface="思源黑体"/>
                <a:ea typeface="思源黑体"/>
              </a:rPr>
              <a:t>规划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1181100" y="3124200"/>
            <a:ext cx="6553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拆解任务，明确验收标准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571500" y="34671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14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85800" y="3581400"/>
            <a:ext cx="228600" cy="228600"/>
          </a:xfrm>
          <a:prstGeom prst="rect">
            <a:avLst/>
          </a:prstGeom>
          <a:ln/>
        </p:spPr>
      </p:pic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1181100" y="3495675"/>
            <a:ext cx="6553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6263F"/>
                </a:solidFill>
                <a:latin typeface="思源黑体"/>
                <a:ea typeface="思源黑体"/>
              </a:rPr>
              <a:t>2</a:t>
            </a:r>
            <a:r>
              <a:rPr lang="en-US" sz="1350" b="1">
                <a:solidFill>
                  <a:srgbClr val="16263F"/>
                </a:solidFill>
                <a:latin typeface="思源黑体"/>
                <a:ea typeface="思源黑体"/>
              </a:rPr>
              <a:t> · </a:t>
            </a:r>
            <a:r>
              <a:rPr lang="zh-CN" sz="1350" b="1">
                <a:solidFill>
                  <a:srgbClr val="16263F"/>
                </a:solidFill>
                <a:latin typeface="思源黑体"/>
                <a:ea typeface="思源黑体"/>
              </a:rPr>
              <a:t>构建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1181100" y="3733800"/>
            <a:ext cx="6553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Agent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生成方案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/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代码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571500" y="40767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6263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15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85800" y="4191000"/>
            <a:ext cx="228600" cy="228600"/>
          </a:xfrm>
          <a:prstGeom prst="rect">
            <a:avLst/>
          </a:prstGeom>
          <a:ln/>
        </p:spPr>
      </p:pic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1181100" y="4105275"/>
            <a:ext cx="6553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6263F"/>
                </a:solidFill>
                <a:latin typeface="思源黑体"/>
                <a:ea typeface="思源黑体"/>
              </a:rPr>
              <a:t>3</a:t>
            </a:r>
            <a:r>
              <a:rPr lang="en-US" sz="1350" b="1">
                <a:solidFill>
                  <a:srgbClr val="16263F"/>
                </a:solidFill>
                <a:latin typeface="思源黑体"/>
                <a:ea typeface="思源黑体"/>
              </a:rPr>
              <a:t> · </a:t>
            </a:r>
            <a:r>
              <a:rPr lang="zh-CN" sz="1350" b="1">
                <a:solidFill>
                  <a:srgbClr val="16263F"/>
                </a:solidFill>
                <a:latin typeface="思源黑体"/>
                <a:ea typeface="思源黑体"/>
              </a:rPr>
              <a:t>验证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1181100" y="4343400"/>
            <a:ext cx="6553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跑测试、对验收、查格式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571500" y="46863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15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685800" y="4800600"/>
            <a:ext cx="228600" cy="228600"/>
          </a:xfrm>
          <a:prstGeom prst="rect">
            <a:avLst/>
          </a:prstGeom>
          <a:ln/>
        </p:spPr>
      </p:pic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1181100" y="4714875"/>
            <a:ext cx="6553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6263F"/>
                </a:solidFill>
                <a:latin typeface="思源黑体"/>
                <a:ea typeface="思源黑体"/>
              </a:rPr>
              <a:t>4</a:t>
            </a:r>
            <a:r>
              <a:rPr lang="en-US" sz="1350" b="1">
                <a:solidFill>
                  <a:srgbClr val="16263F"/>
                </a:solidFill>
                <a:latin typeface="思源黑体"/>
                <a:ea typeface="思源黑体"/>
              </a:rPr>
              <a:t> · </a:t>
            </a:r>
            <a:r>
              <a:rPr lang="zh-CN" sz="1350" b="1">
                <a:solidFill>
                  <a:srgbClr val="16263F"/>
                </a:solidFill>
                <a:latin typeface="思源黑体"/>
                <a:ea typeface="思源黑体"/>
              </a:rPr>
              <a:t>修复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1181100" y="4953000"/>
            <a:ext cx="6553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不通过就带错误回炉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8039100" y="2619375"/>
            <a:ext cx="3581400" cy="1352550"/>
          </a:xfrm>
          <a:prstGeom prst="roundRect">
            <a:avLst>
              <a:gd name="adj" fmla="val 8451"/>
            </a:avLst>
          </a:prstGeom>
          <a:solidFill>
            <a:srgbClr val="16263F"/>
          </a:solidFill>
          <a:ln/>
        </p:spPr>
        <p:txBody>
          <a:bodyPr/>
          <a:p/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8267700" y="2828925"/>
            <a:ext cx="3124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思源黑体"/>
                <a:ea typeface="思源黑体"/>
              </a:rPr>
              <a:t>流程</a:t>
            </a:r>
            <a:r>
              <a:rPr lang="en-US" sz="1425" b="1">
                <a:solidFill>
                  <a:srgbClr val="FFFFFF"/>
                </a:solidFill>
                <a:latin typeface="思源黑体"/>
                <a:ea typeface="思源黑体"/>
              </a:rPr>
              <a:t> ≠ </a:t>
            </a:r>
            <a:r>
              <a:rPr lang="zh-CN" sz="1425" b="1">
                <a:solidFill>
                  <a:srgbClr val="FFFFFF"/>
                </a:solidFill>
                <a:latin typeface="思源黑体"/>
                <a:ea typeface="思源黑体"/>
              </a:rPr>
              <a:t>质量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8267700" y="3143250"/>
            <a:ext cx="31242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光让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Agent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跑完没用，每一步都得有「验证门」把守，不合格就退回上一步。</a:t>
            </a:r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8039100" y="4124325"/>
            <a:ext cx="358140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16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8267700" y="4314825"/>
            <a:ext cx="228600" cy="228600"/>
          </a:xfrm>
          <a:prstGeom prst="rect">
            <a:avLst/>
          </a:prstGeom>
          <a:ln/>
        </p:spPr>
      </p:pic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8591550" y="4324350"/>
            <a:ext cx="1228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6263F"/>
                </a:solidFill>
                <a:latin typeface="思源黑体"/>
                <a:ea typeface="思源黑体"/>
              </a:rPr>
              <a:t>防死循环中间件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8267700" y="4638675"/>
            <a:ext cx="31242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设最大步数、检测重复动作、连续失败熔断——从机制上杜绝原地打转。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8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04 / 12</a:t>
            </a:r>
            <a:endParaRPr/>
          </a:p>
        </p:txBody>
      </p:sp>
    </p:spTree>
  </p:cSld>
</p:sld>
</file>

<file path=ppt/slides/slide5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68" name="" descr="&lt;Slide&#10;  style={{&#10;    width: '1280px', height: '720px',&#10;    background: '#F5F7FA',&#10;    padding: '20px 60px',&#10;    fontFamily: '&quot;思源黑体&quot;, sans-serif',&#10;  }}&#10;&gt;&#10;  &lt;Box style={{ flexDirection: 'row', width: '100%', height: '100%', gap: 40 }}&gt;&#10;    &lt;Box style={{ width: 360, paddingTop: 20 }}&gt;&#10;      &lt;Text style={{ fontSize: 14, color: '#FF9F1C', fontWeight: 'bold', letterSpacing: 2, marginBottom: 12 }}&gt;CONTEXT ENGINEERING&lt;/Text&gt;&#10;      &lt;Text style={{ fontSize: 34, color: '#16263F', fontWeight: 'bold', lineHeight: 1.35, marginBottom: 24 }}&gt;&#10;        上下文工程：&lt;br /&gt;喂什么，比怎么喂更重要&#10;      &lt;/Text&gt;&#10;      &lt;Box style={{ width: 56, height: 4, background: '#22D3EE', marginBottom: 24 }} /&gt;&#10;      &lt;Text style={{ fontSize: 16, color: '#5B6B7A', lineHeight: 1.7 }}&gt;&#10;        信息不足会乱猜，信息过载会分心。核心原则：&lt;span style={{ fontWeight: 'bold', color: '#16263F' }}&gt;可见即存在&lt;/span&gt;——没进上下文的，等于不存在。&#10;      &lt;/Text&gt;&#10;    &lt;/Box&gt;&#10;&#10;    &lt;Box style={{ flex: 1, flexDirection: 'column', gap: 16, justifyContent: 'center' }}&gt;&#10;      &lt;Box style={{ flexDirection: 'row', gap: 16, background: '#FFFFFF', borderRadius: 12, padding: '18px 22px', boxShadow: '0 2px 12px rgba(22,38,63,0.06)' }}&gt;&#10;        &lt;Box style={{ width: 52, height: 52, borderRadius: 13, background: '#EAF2FB', justifyContent: 'center', alignItems: 'center' }}&gt;&#10;          &lt;FAIcon name='eye' style={{ fill: '#22D3EE', width: 26, height: 26 }} /&gt;&#10;        &lt;/Box&gt;&#10;        &lt;Box style={{ flex: 1 }}&gt;&#10;          &lt;Text style={{ fontSize: 18, fontWeight: 'bold', color: '#16263F', marginBottom: 5 }}&gt;可见即存在&lt;/Text&gt;&#10;          &lt;Text style={{ fontSize: 14, color: '#5B6B7A', lineHeight: 1.6 }}&gt;没放进上下文的规则、文件、约定，对模型就是「不存在」。&lt;/Text&gt;&#10;        &lt;/Box&gt;&#10;      &lt;/Box&gt;&#10;&#10;      &lt;Box style={{ flexDirection: 'row', gap: 16, background: '#16263F', borderRadius: 12, padding: '18px 22px' }}&gt;&#10;        &lt;Box style={{ width: 52, height: 52, borderRadius: 13, background: 'rgba(255,159,28,0.15)', justifyContent: 'center', alignItems: 'center' }}&gt;&#10;          &lt;FAIcon name='map' style={{ fill: '#FF9F1C', width: 26, height: 26 }} /&gt;&#10;        &lt;/Box&gt;&#10;        &lt;Box style={{ flex: 1 }}&gt;&#10;          &lt;Text style={{ fontSize: 18, fontWeight: 'bold', color: '#FFFFFF', marginBottom: 5 }}&gt;AGENTS.md 导航地图&lt;/Text&gt;&#10;          &lt;Text style={{ fontSize: 14, color: '#DCE7F5', lineHeight: 1.6 }}&gt;把「去哪找、找什么」写清楚——地图优于百科全书，先导航后展开。&lt;/Text&gt;&#10;        &lt;/Box&gt;&#10;      &lt;/Box&gt;&#10;&#10;      &lt;Box style={{ flexDirection: 'row', gap: 16, background: '#FFFFFF', borderRadius: 12, padding: '18px 22px', boxShadow: '0 2px 12px rgba(22,38,63,0.06)' }}&gt;&#10;        &lt;Box style={{ width: 52, height: 52, borderRadius: 13, background: '#EAF2FB', justifyContent: 'center', alignItems: 'center' }}&gt;&#10;          &lt;FAIcon name='balance-scale' style={{ fill: '#22D3EE', width: 26, height: 26 }} /&gt;&#10;        &lt;/Box&gt;&#10;        &lt;Box style={{ flex: 1 }}&gt;&#10;          &lt;Text style={{ fontSize: 18, fontWeight: 'bold', color: '#16263F', marginBottom: 5 }}&gt;信息要恰到好处&lt;/Text&gt;&#10;          &lt;Text style={{ fontSize: 14, color: '#5B6B7A', lineHeight: 1.6 }}&gt;太少→瞎猜，太多→分心。只给当前任务真正需要的上下文。&lt;/Text&gt;&#10;        &lt;/Box&gt;&#10;      &lt;/Box&gt;&#10;    &lt;/Box&gt;&#10;  &lt;/Box&gt;&#10;  &lt;Box style={{ position: 'absolute', bottom: 14, left: 60, width: 1160, flexDirection: 'row', justifyContent: 'space-between' }}&gt;&#10;    &lt;Text style={{ fontSize: 14, color: '#5B6B7A' }}&gt;AI 从零开始 · 第 8 讲&lt;/Text&gt;&#10;    &lt;Text style={{ fontSize: 14, color: '#5B6B7A' }}&gt;05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571500" y="381000"/>
            <a:ext cx="342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CONTEXT ENGINEERING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571500" y="657225"/>
            <a:ext cx="3429000" cy="1581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上下文工程：</a:t>
            </a:r>
            <a:endParaRPr/>
          </a:p>
          <a:p>
            <a:pPr>
              <a:lnSpc>
                <a:spcPct val="135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喂什么，比怎么喂更重要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571500" y="2466975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571500" y="2733675"/>
            <a:ext cx="34290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信息不足会乱猜，信息过载会分心。核心原则：</a:t>
            </a: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可见即存在</a:t>
            </a: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——没进上下文的，等于不存在。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4381500" y="1990725"/>
            <a:ext cx="7239000" cy="8572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75" name=""/>
          <p:cNvSpPr/>
          <p:nvPr/>
        </p:nvSpPr>
        <p:spPr>
          <a:xfrm rot="0" flipH="0" flipV="0">
            <a:off x="4591050" y="2162175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17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714875" y="2286000"/>
            <a:ext cx="247650" cy="247650"/>
          </a:xfrm>
          <a:prstGeom prst="rect">
            <a:avLst/>
          </a:prstGeom>
          <a:ln/>
        </p:spPr>
      </p:pic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5238750" y="2162175"/>
            <a:ext cx="6172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6263F"/>
                </a:solidFill>
                <a:latin typeface="思源黑体"/>
                <a:ea typeface="思源黑体"/>
              </a:rPr>
              <a:t>可见即存在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5238750" y="2419350"/>
            <a:ext cx="61722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没放进上下文的规则、文件、约定，对模型就是「不存在」。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4381500" y="3000375"/>
            <a:ext cx="7239000" cy="857250"/>
          </a:xfrm>
          <a:prstGeom prst="roundRect">
            <a:avLst>
              <a:gd name="adj" fmla="val 13333"/>
            </a:avLst>
          </a:prstGeom>
          <a:solidFill>
            <a:srgbClr val="16263F"/>
          </a:solidFill>
          <a:ln/>
        </p:spPr>
        <p:txBody>
          <a:bodyPr/>
          <a:p/>
        </p:txBody>
      </p:sp>
      <p:sp>
        <p:nvSpPr>
          <p:cNvPr id="180" name=""/>
          <p:cNvSpPr/>
          <p:nvPr/>
        </p:nvSpPr>
        <p:spPr>
          <a:xfrm rot="0" flipH="0" flipV="0">
            <a:off x="4591050" y="3171825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FF9F1C">
              <a:alpha val="15000"/>
            </a:srgbClr>
          </a:solidFill>
          <a:ln/>
        </p:spPr>
        <p:txBody>
          <a:bodyPr/>
          <a:p/>
        </p:txBody>
      </p:sp>
      <p:pic>
        <p:nvPicPr>
          <p:cNvPr id="18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714875" y="3295650"/>
            <a:ext cx="247650" cy="247650"/>
          </a:xfrm>
          <a:prstGeom prst="rect">
            <a:avLst/>
          </a:prstGeom>
          <a:ln/>
        </p:spPr>
      </p:pic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5238750" y="3171825"/>
            <a:ext cx="6172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思源黑体"/>
                <a:ea typeface="思源黑体"/>
              </a:rPr>
              <a:t>AGENTS.md </a:t>
            </a:r>
            <a:r>
              <a:rPr lang="zh-CN" sz="1350" b="1">
                <a:solidFill>
                  <a:srgbClr val="FFFFFF"/>
                </a:solidFill>
                <a:latin typeface="思源黑体"/>
                <a:ea typeface="思源黑体"/>
              </a:rPr>
              <a:t>导航地图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5238750" y="3429000"/>
            <a:ext cx="61722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把「去哪找、找什么」写清楚——地图优于百科全书，先导航后展开。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4381500" y="4010025"/>
            <a:ext cx="7239000" cy="8572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85" name=""/>
          <p:cNvSpPr/>
          <p:nvPr/>
        </p:nvSpPr>
        <p:spPr>
          <a:xfrm rot="0" flipH="0" flipV="0">
            <a:off x="4591050" y="4181475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18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714875" y="4305300"/>
            <a:ext cx="247650" cy="247650"/>
          </a:xfrm>
          <a:prstGeom prst="rect">
            <a:avLst/>
          </a:prstGeom>
          <a:ln/>
        </p:spPr>
      </p:pic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5238750" y="4181475"/>
            <a:ext cx="6172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6263F"/>
                </a:solidFill>
                <a:latin typeface="思源黑体"/>
                <a:ea typeface="思源黑体"/>
              </a:rPr>
              <a:t>信息要恰到好处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5238750" y="4438650"/>
            <a:ext cx="61722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太少→瞎猜，太多→分心。只给当前任务真正需要的上下文。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8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05 / 12</a:t>
            </a:r>
            <a:endParaRPr/>
          </a:p>
        </p:txBody>
      </p:sp>
    </p:spTree>
  </p:cSld>
</p:sld>
</file>

<file path=ppt/slides/slide6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91" name="" descr="&lt;Slide&#10;  style={{&#10;    width: '1280px', height: '720px',&#10;    background: '#F5F7FA',&#10;    padding: '20px 60px',&#10;    fontFamily: '&quot;思源黑体&quot;, sans-serif',&#10;  }}&#10;&gt;&#10;  &lt;Box style={{ width: '100%', height: '100%' }}&gt;&#10;    &lt;Text style={{ fontSize: 14, color: '#FF9F1C', fontWeight: 'bold', letterSpacing: 2, marginBottom: 8 }}&gt;MULTI-AGENT&lt;/Text&gt;&#10;    &lt;Text style={{ fontSize: 34, color: '#16263F', fontWeight: 'bold', marginBottom: 24 }}&gt;多智能体协作：用「分角」破解自我评估偏差&lt;/Text&gt;&#10;    &lt;Box style={{ width: 56, height: 4, background: '#22D3EE', marginBottom: 26 }} /&gt;&#10;&#10;    &lt;Box style={{ flexDirection: 'row', gap: 30, flex: 1 }}&gt;&#10;      &lt;Box style={{ flex: 3, flexDirection: 'column', justifyContent: 'center' }}&gt;&#10;        &lt;Text style={{ fontSize: 15, color: '#5B6B7A', marginBottom: 16 }}&gt;三角架构：规划者定方向，生成者动手，评估者独立打分——自己写的自己评不靠谱。&lt;/Text&gt;&#10;        &lt;Box style={{ flexDirection: 'row', gap: 16 }}&gt;&#10;          &lt;Box style={{ flex: 1, background: '#FFFFFF', borderRadius: 12, padding: '20px 20px', boxShadow: '0 2px 12px rgba(22,38,63,0.06)', alignItems: 'center' }}&gt;&#10;            &lt;FAIcon name='clipboard-list' style={{ fill: '#22D3EE', width: 30, height: 30, marginBottom: 12 }} /&gt;&#10;            &lt;Text style={{ fontSize: 18, fontWeight: 'bold', color: '#16263F', marginBottom: 6 }}&gt;规划者&lt;/Text&gt;&#10;            &lt;Text style={{ fontSize: 13, color: '#5B6B7A', textAlign: 'center' }}&gt;拆任务、定标准&lt;/Text&gt;&#10;          &lt;/Box&gt;&#10;          &lt;Box style={{ flex: 1, background: '#16263F', borderRadius: 12, padding: '20px 20px', alignItems: 'center' }}&gt;&#10;            &lt;FAIcon name='hammer' style={{ fill: '#FF9F1C', width: 30, height: 30, marginBottom: 12 }} /&gt;&#10;            &lt;Text style={{ fontSize: 18, fontWeight: 'bold', color: '#FFFFFF', marginBottom: 6 }}&gt;生成者&lt;/Text&gt;&#10;            &lt;Text style={{ fontSize: 13, color: '#DCE7F5', textAlign: 'center' }}&gt;负责产出内容&lt;/Text&gt;&#10;          &lt;/Box&gt;&#10;          &lt;Box style={{ flex: 1, background: '#FFFFFF', borderRadius: 12, padding: '20px 20px', boxShadow: '0 2px 12px rgba(22,38,63,0.06)', alignItems: 'center' }}&gt;&#10;            &lt;FAIcon name='star' style={{ fill: '#22D3EE', width: 30, height: 30, marginBottom: 12 }} /&gt;&#10;            &lt;Text style={{ fontSize: 18, fontWeight: 'bold', color: '#16263F', marginBottom: 6 }}&gt;评估者&lt;/Text&gt;&#10;            &lt;Text style={{ fontSize: 13, color: '#5B6B7A', textAlign: 'center' }}&gt;独立打分校验&lt;/Text&gt;&#10;          &lt;/Box&gt;&#10;        &lt;/Box&gt;&#10;        &lt;Box style={{ marginTop: 16, background: '#DCE7F5', borderRadius: 10, padding: '13px 20px' }}&gt;&#10;          &lt;Text style={{ fontSize: 14, color: '#16263F', fontWeight: 'bold' }}&gt;&#10;            关键：评估者必须独立，不能和生成者是同一个「脑子」&#10;          &lt;/Text&gt;&#10;        &lt;/Box&gt;&#10;      &lt;/Box&gt;&#10;&#10;      &lt;Box style={{ flex: 2, flexDirection: 'column', justifyContent: 'center', gap: 14 }}&gt;&#10;        &lt;Box style={{ background: '#16263F', borderRadius: 12, padding: '20px 22px' }}&gt;&#10;          &lt;Text style={{ fontSize: 18, fontWeight: 'bold', color: '#FFFFFF', marginBottom: 8 }}&gt;Orchestrator-Workers&lt;/Text&gt;&#10;          &lt;Text style={{ fontSize: 14, color: '#DCE7F5', lineHeight: 1.7 }}&gt;&#10;            一个总指挥（Orchestrator）派活，多个工人（Workers）并行执行，结果汇总给指挥验收。&#10;          &lt;/Text&gt;&#10;        &lt;/Box&gt;&#10;        &lt;Box style={{ background: '#FFFFFF', borderRadius: 12, padding: '20px 22px', boxShadow: '0 2px 12px rgba(22,38,63,0.06)' }}&gt;&#10;          &lt;Text style={{ fontSize: 18, fontWeight: 'bold', color: '#16263F', marginBottom: 8 }}&gt;什么时候才上多 Agent&lt;/Text&gt;&#10;          &lt;Text style={{ fontSize: 14, color: '#5B6B7A', lineHeight: 1.7 }}&gt;&#10;            单 Agent 加验证够用就别上——多 Agent 调试难、成本高，是为「复杂分工」准备的。&#10;          &lt;/Text&gt;&#10;        &lt;/Box&gt;&#10;      &lt;/Box&gt;&#10;    &lt;/Box&gt;&#10;  &lt;/Box&gt;&#10;  &lt;Box style={{ position: 'absolute', bottom: 14, left: 60, width: 1160, flexDirection: 'row', justifyContent: 'space-between' }}&gt;&#10;    &lt;Text style={{ fontSize: 14, color: '#5B6B7A' }}&gt;AI 从零开始 · 第 8 讲&lt;/Text&gt;&#10;    &lt;Text style={{ fontSize: 14, color: '#5B6B7A' }}&gt;06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MULTI-AGENT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多智能体协作：用「分角」破解自我评估偏差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571500" y="104775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571500" y="2962275"/>
            <a:ext cx="6457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三角架构：规划者定方向，生成者动手，评估者独立打分——自己写的自己评不靠谱。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571500" y="3286125"/>
            <a:ext cx="2047875" cy="12001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19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457325" y="3476625"/>
            <a:ext cx="285750" cy="285750"/>
          </a:xfrm>
          <a:prstGeom prst="rect">
            <a:avLst/>
          </a:prstGeom>
          <a:ln/>
        </p:spPr>
      </p:pic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1333500" y="3876675"/>
            <a:ext cx="533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6263F"/>
                </a:solidFill>
                <a:latin typeface="思源黑体"/>
                <a:ea typeface="思源黑体"/>
              </a:rPr>
              <a:t>规划者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1152525" y="4143375"/>
            <a:ext cx="8858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拆任务、定标准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2771775" y="3286125"/>
            <a:ext cx="2057400" cy="1200150"/>
          </a:xfrm>
          <a:prstGeom prst="roundRect">
            <a:avLst>
              <a:gd name="adj" fmla="val 9524"/>
            </a:avLst>
          </a:prstGeom>
          <a:solidFill>
            <a:srgbClr val="16263F"/>
          </a:solidFill>
          <a:ln/>
        </p:spPr>
        <p:txBody>
          <a:bodyPr/>
          <a:p/>
        </p:txBody>
      </p:sp>
      <p:pic>
        <p:nvPicPr>
          <p:cNvPr id="20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657600" y="3476625"/>
            <a:ext cx="285750" cy="285750"/>
          </a:xfrm>
          <a:prstGeom prst="rect">
            <a:avLst/>
          </a:prstGeom>
          <a:ln/>
        </p:spPr>
      </p:pic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3533775" y="3876675"/>
            <a:ext cx="533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思源黑体"/>
                <a:ea typeface="思源黑体"/>
              </a:rPr>
              <a:t>生成者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3419475" y="4143375"/>
            <a:ext cx="7620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DCE7F5"/>
                </a:solidFill>
                <a:latin typeface="思源黑体"/>
                <a:ea typeface="思源黑体"/>
              </a:rPr>
              <a:t>负责产出内容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4981575" y="3286125"/>
            <a:ext cx="2047875" cy="12001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20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5867400" y="3476625"/>
            <a:ext cx="285750" cy="285750"/>
          </a:xfrm>
          <a:prstGeom prst="rect">
            <a:avLst/>
          </a:prstGeom>
          <a:ln/>
        </p:spPr>
      </p:pic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5743575" y="3876675"/>
            <a:ext cx="533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6263F"/>
                </a:solidFill>
                <a:latin typeface="思源黑体"/>
                <a:ea typeface="思源黑体"/>
              </a:rPr>
              <a:t>评估者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5629275" y="4143375"/>
            <a:ext cx="7620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独立打分校验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571500" y="4638675"/>
            <a:ext cx="6457950" cy="409575"/>
          </a:xfrm>
          <a:prstGeom prst="roundRect">
            <a:avLst>
              <a:gd name="adj" fmla="val 23256"/>
            </a:avLst>
          </a:prstGeom>
          <a:solidFill>
            <a:srgbClr val="DCE7F5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762000" y="4762500"/>
            <a:ext cx="6076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6263F"/>
                </a:solidFill>
                <a:latin typeface="思源黑体"/>
                <a:ea typeface="思源黑体"/>
              </a:rPr>
              <a:t>关键：评估者必须独立，不能和生成者是同一个「脑子」</a:t>
            </a:r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7315200" y="2714625"/>
            <a:ext cx="4305300" cy="1219200"/>
          </a:xfrm>
          <a:prstGeom prst="roundRect">
            <a:avLst>
              <a:gd name="adj" fmla="val 9375"/>
            </a:avLst>
          </a:prstGeom>
          <a:solidFill>
            <a:srgbClr val="16263F"/>
          </a:solidFill>
          <a:ln/>
        </p:spPr>
        <p:txBody>
          <a:bodyPr/>
          <a:p/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7524750" y="2905125"/>
            <a:ext cx="3886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思源黑体"/>
                <a:ea typeface="思源黑体"/>
              </a:rPr>
              <a:t>Orchestrator-Workers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7524750" y="3190875"/>
            <a:ext cx="38862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一个总指挥（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Orchestrator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）派活，多个工人（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Workers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）并行执行，结果汇总给指挥验收。</a:t>
            </a:r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7315200" y="4067175"/>
            <a:ext cx="4305300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7524750" y="4257675"/>
            <a:ext cx="3886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6263F"/>
                </a:solidFill>
                <a:latin typeface="思源黑体"/>
                <a:ea typeface="思源黑体"/>
              </a:rPr>
              <a:t>什么时候才上多</a:t>
            </a:r>
            <a:r>
              <a:rPr lang="en-US" sz="1350" b="1">
                <a:solidFill>
                  <a:srgbClr val="16263F"/>
                </a:solidFill>
                <a:latin typeface="思源黑体"/>
                <a:ea typeface="思源黑体"/>
              </a:rPr>
              <a:t> Agent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7524750" y="4543425"/>
            <a:ext cx="38862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单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Agent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加验证够用就别上——多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Agent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调试难、成本高，是为「复杂分工」准备的。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8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06 / 12</a:t>
            </a:r>
            <a:endParaRPr/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219" name="" descr="&lt;Slide&#10;  style={{&#10;    width: '1280px', height: '720px',&#10;    background: '#F5F7FA',&#10;    padding: '20px 60px',&#10;    fontFamily: '&quot;思源黑体&quot;, sans-serif',&#10;  }}&#10;&gt;&#10;  &lt;Box style={{ flexDirection: 'row', width: '100%', height: '100%', gap: 40 }}&gt;&#10;    &lt;Box style={{ width: 360, paddingTop: 20 }}&gt;&#10;      &lt;Text style={{ fontSize: 14, color: '#FF9F1C', fontWeight: 'bold', letterSpacing: 2, marginBottom: 12 }}&gt;EVALUATION&lt;/Text&gt;&#10;      &lt;Text style={{ fontSize: 34, color: '#16263F', fontWeight: 'bold', lineHeight: 1.35, marginBottom: 24 }}&gt;&#10;        没有评测，&lt;br /&gt;就没有改进&#10;      &lt;/Text&gt;&#10;      &lt;Box style={{ width: 56, height: 4, background: '#22D3EE', marginBottom: 24 }} /&gt;&#10;      &lt;Text style={{ fontSize: 16, color: '#5B6B7A', lineHeight: 1.7 }}&gt;&#10;        你无法改进你测不到的东西。Agent 评测难在三点：&#10;      &lt;/Text&gt;&#10;      &lt;Box style={{ marginTop: 16, flexDirection: 'column', gap: 10 }}&gt;&#10;        &lt;Box style={{ background: '#FFFFFF', borderRadius: 10, padding: '12px 16px', boxShadow: '0 2px 12px rgba(22,38,63,0.06)' }}&gt;&#10;          &lt;Text style={{ fontSize: 14, color: '#16263F', fontWeight: 'bold' }}&gt;非确定性&lt;/Text&gt;&#10;          &lt;Text style={{ fontSize: 13, color: '#5B6B7A' }}&gt;同输入不同输出，结果不稳定&lt;/Text&gt;&#10;        &lt;/Box&gt;&#10;        &lt;Box style={{ background: '#FFFFFF', borderRadius: 10, padding: '12px 16px', boxShadow: '0 2px 12px rgba(22,38,63,0.06)' }}&gt;&#10;          &lt;Text style={{ fontSize: 14, color: '#16263F', fontWeight: 'bold' }}&gt;过程重于结果&lt;/Text&gt;&#10;          &lt;Text style={{ fontSize: 13, color: '#5B6B7A' }}&gt;答案对但步骤错，也算失败&lt;/Text&gt;&#10;        &lt;/Box&gt;&#10;        &lt;Box style={{ background: '#FFFFFF', borderRadius: 10, padding: '12px 16px', boxShadow: '0 2px 12px rgba(22,38,63,0.06)' }}&gt;&#10;          &lt;Text style={{ fontSize: 14, color: '#16263F', fontWeight: 'bold' }}&gt;错误传播&lt;/Text&gt;&#10;          &lt;Text style={{ fontSize: 13, color: '#5B6B7A' }}&gt;前一步错，后面全错&lt;/Text&gt;&#10;        &lt;/Box&gt;&#10;      &lt;/Box&gt;&#10;    &lt;/Box&gt;&#10;&#10;    &lt;Box style={{ flex: 1, flexDirection: 'column', gap: 14, justifyContent: 'center' }}&gt;&#10;      &lt;Text style={{ fontSize: 17, fontWeight: 'bold', color: '#16263F', marginBottom: 4 }}&gt;评测四层：从单元到系统逐层把关&lt;/Text&gt;&#10;      &lt;Box style={{ flexDirection: 'row', gap: 14 }}&gt;&#10;        &lt;Box style={{ flex: 1, background: '#FFFFFF', borderRadius: 12, padding: '20px 18px', boxShadow: '0 2px 12px rgba(22,38,63,0.06)' }}&gt;&#10;          &lt;Text style={{ fontSize: 13, color: '#FF9F1C', fontWeight: 'bold', marginBottom: 8 }}&gt;L1 组件级&lt;/Text&gt;&#10;          &lt;Text style={{ fontSize: 16, fontWeight: 'bold', color: '#16263F', marginBottom: 6 }}&gt;工具/检索&lt;/Text&gt;&#10;          &lt;Text style={{ fontSize: 13, color: '#5B6B7A', lineHeight: 1.6 }}&gt;单个工具对不对、检索准不准&lt;/Text&gt;&#10;        &lt;/Box&gt;&#10;        &lt;Box style={{ flex: 1, background: '#FFFFFF', borderRadius: 12, padding: '20px 18px', boxShadow: '0 2px 12px rgba(22,38,63,0.06)' }}&gt;&#10;          &lt;Text style={{ fontSize: 13, color: '#FF9F1C', fontWeight: 'bold', marginBottom: 8 }}&gt;L2 轨迹级&lt;/Text&gt;&#10;          &lt;Text style={{ fontSize: 16, fontWeight: 'bold', color: '#16263F', marginBottom: 6 }}&gt;单次运行过程&lt;/Text&gt;&#10;          &lt;Text style={{ fontSize: 13, color: '#5B6B7A', lineHeight: 1.6 }}&gt;工具选择、步骤顺序是否合理&lt;/Text&gt;&#10;        &lt;/Box&gt;&#10;      &lt;/Box&gt;&#10;      &lt;Box style={{ flexDirection: 'row', gap: 14 }}&gt;&#10;        &lt;Box style={{ flex: 1, background: '#16263F', borderRadius: 12, padding: '20px 18px' }}&gt;&#10;          &lt;Text style={{ fontSize: 13, color: '#22D3EE', fontWeight: 'bold', marginBottom: 8 }}&gt;L3 任务级&lt;/Text&gt;&#10;          &lt;Text style={{ fontSize: 16, fontWeight: 'bold', color: '#FFFFFF', marginBottom: 6 }}&gt;端到端任务&lt;/Text&gt;&#10;          &lt;Text style={{ fontSize: 13, color: '#DCE7F5', lineHeight: 1.6 }}&gt;完整任务能否一次成功&lt;/Text&gt;&#10;        &lt;/Box&gt;&#10;        &lt;Box style={{ flex: 1, background: '#FFFFFF', borderRadius: 12, padding: '20px 18px', boxShadow: '0 2px 12px rgba(22,38,63,0.06)' }}&gt;&#10;          &lt;Text style={{ fontSize: 13, color: '#FF9F1C', fontWeight: 'bold', marginBottom: 8 }}&gt;L4 系统级&lt;/Text&gt;&#10;          &lt;Text style={{ fontSize: 16, fontWeight: 'bold', color: '#16263F', marginBottom: 6 }}&gt;线上整体&lt;/Text&gt;&#10;          &lt;Text style={{ fontSize: 13, color: '#5B6B7A', lineHeight: 1.6 }}&gt;回归、监控、真实用户反馈&lt;/Text&gt;&#10;        &lt;/Box&gt;&#10;      &lt;/Box&gt;&#10;      &lt;Box style={{ background: '#DCE7F5', borderRadius: 10, padding: '13px 20px' }}&gt;&#10;        &lt;Text style={{ fontSize: 14, color: '#16263F', fontWeight: 'bold' }}&gt;&#10;          层越低越稳定、越便宜，层越高越接近真实——四层都要有&#10;        &lt;/Text&gt;&#10;      &lt;/Box&gt;&#10;    &lt;/Box&gt;&#10;  &lt;/Box&gt;&#10;  &lt;Box style={{ position: 'absolute', bottom: 14, left: 60, width: 1160, flexDirection: 'row', justifyContent: 'space-between' }}&gt;&#10;    &lt;Text style={{ fontSize: 14, color: '#5B6B7A' }}&gt;AI 从零开始 · 第 8 讲&lt;/Text&gt;&#10;    &lt;Text style={{ fontSize: 14, color: '#5B6B7A' }}&gt;07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571500" y="381000"/>
            <a:ext cx="342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EVALUATION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571500" y="657225"/>
            <a:ext cx="3429000" cy="10572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没有评测，</a:t>
            </a:r>
            <a:endParaRPr/>
          </a:p>
          <a:p>
            <a:pPr>
              <a:lnSpc>
                <a:spcPct val="135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就没有改进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571500" y="194310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571500" y="2209800"/>
            <a:ext cx="34290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你无法改进你测不到的东西。</a:t>
            </a:r>
            <a:r>
              <a:rPr lang="en-US" sz="1200">
                <a:solidFill>
                  <a:srgbClr val="5B6B7A"/>
                </a:solidFill>
                <a:latin typeface="思源黑体"/>
                <a:ea typeface="思源黑体"/>
              </a:rPr>
              <a:t>Agent </a:t>
            </a: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评测难在三点：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571500" y="2990850"/>
            <a:ext cx="3429000" cy="542925"/>
          </a:xfrm>
          <a:prstGeom prst="roundRect">
            <a:avLst>
              <a:gd name="adj" fmla="val 17544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723900" y="3105150"/>
            <a:ext cx="3124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6263F"/>
                </a:solidFill>
                <a:latin typeface="思源黑体"/>
                <a:ea typeface="思源黑体"/>
              </a:rPr>
              <a:t>非确定性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723900" y="3267075"/>
            <a:ext cx="3124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同输入不同输出，结果不稳定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571500" y="3629025"/>
            <a:ext cx="3429000" cy="542925"/>
          </a:xfrm>
          <a:prstGeom prst="roundRect">
            <a:avLst>
              <a:gd name="adj" fmla="val 17544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723900" y="3743325"/>
            <a:ext cx="3124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6263F"/>
                </a:solidFill>
                <a:latin typeface="思源黑体"/>
                <a:ea typeface="思源黑体"/>
              </a:rPr>
              <a:t>过程重于结果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723900" y="3905250"/>
            <a:ext cx="3124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答案对但步骤错，也算失败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571500" y="4267200"/>
            <a:ext cx="3429000" cy="542925"/>
          </a:xfrm>
          <a:prstGeom prst="roundRect">
            <a:avLst>
              <a:gd name="adj" fmla="val 17544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723900" y="4381500"/>
            <a:ext cx="3124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6263F"/>
                </a:solidFill>
                <a:latin typeface="思源黑体"/>
                <a:ea typeface="思源黑体"/>
              </a:rPr>
              <a:t>错误传播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723900" y="4543425"/>
            <a:ext cx="3124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前一步错，后面全错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4381500" y="1809750"/>
            <a:ext cx="7239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6263F"/>
                </a:solidFill>
                <a:latin typeface="思源黑体"/>
                <a:ea typeface="思源黑体"/>
              </a:rPr>
              <a:t>评测四层：从单元到系统逐层把关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4381500" y="2181225"/>
            <a:ext cx="3552825" cy="1095375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4552950" y="2371725"/>
            <a:ext cx="3209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9F1C"/>
                </a:solidFill>
                <a:latin typeface="思源黑体"/>
                <a:ea typeface="思源黑体"/>
              </a:rPr>
              <a:t>L1 </a:t>
            </a:r>
            <a:r>
              <a:rPr lang="zh-CN" sz="975" b="1">
                <a:solidFill>
                  <a:srgbClr val="FF9F1C"/>
                </a:solidFill>
                <a:latin typeface="思源黑体"/>
                <a:ea typeface="思源黑体"/>
              </a:rPr>
              <a:t>组件级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4552950" y="2600325"/>
            <a:ext cx="3209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工具</a:t>
            </a:r>
            <a:r>
              <a:rPr lang="en-US" sz="1200" b="1">
                <a:solidFill>
                  <a:srgbClr val="16263F"/>
                </a:solidFill>
                <a:latin typeface="思源黑体"/>
                <a:ea typeface="思源黑体"/>
              </a:rPr>
              <a:t>/</a:t>
            </a: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检索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4552950" y="2847975"/>
            <a:ext cx="3209925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单个工具对不对、检索准不准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8067675" y="2181225"/>
            <a:ext cx="3552825" cy="1095375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8239125" y="2371725"/>
            <a:ext cx="3209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9F1C"/>
                </a:solidFill>
                <a:latin typeface="思源黑体"/>
                <a:ea typeface="思源黑体"/>
              </a:rPr>
              <a:t>L2 </a:t>
            </a:r>
            <a:r>
              <a:rPr lang="zh-CN" sz="975" b="1">
                <a:solidFill>
                  <a:srgbClr val="FF9F1C"/>
                </a:solidFill>
                <a:latin typeface="思源黑体"/>
                <a:ea typeface="思源黑体"/>
              </a:rPr>
              <a:t>轨迹级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8239125" y="2600325"/>
            <a:ext cx="3209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单次运行过程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8239125" y="2847975"/>
            <a:ext cx="3209925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工具选择、步骤顺序是否合理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4381500" y="3409950"/>
            <a:ext cx="3552825" cy="1095375"/>
          </a:xfrm>
          <a:prstGeom prst="roundRect">
            <a:avLst>
              <a:gd name="adj" fmla="val 10435"/>
            </a:avLst>
          </a:prstGeom>
          <a:solidFill>
            <a:srgbClr val="16263F"/>
          </a:solidFill>
          <a:ln/>
        </p:spPr>
        <p:txBody>
          <a:bodyPr/>
          <a:p/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4552950" y="3600450"/>
            <a:ext cx="3209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思源黑体"/>
                <a:ea typeface="思源黑体"/>
              </a:rPr>
              <a:t>L3 </a:t>
            </a:r>
            <a:r>
              <a:rPr lang="zh-CN" sz="975" b="1">
                <a:solidFill>
                  <a:srgbClr val="22D3EE"/>
                </a:solidFill>
                <a:latin typeface="思源黑体"/>
                <a:ea typeface="思源黑体"/>
              </a:rPr>
              <a:t>任务级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4552950" y="3829050"/>
            <a:ext cx="3209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思源黑体"/>
                <a:ea typeface="思源黑体"/>
              </a:rPr>
              <a:t>端到端任务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4552950" y="4076700"/>
            <a:ext cx="3209925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DCE7F5"/>
                </a:solidFill>
                <a:latin typeface="思源黑体"/>
                <a:ea typeface="思源黑体"/>
              </a:rPr>
              <a:t>完整任务能否一次成功</a:t>
            </a:r>
            <a:endParaRPr/>
          </a:p>
        </p:txBody>
      </p:sp>
      <p:sp>
        <p:nvSpPr>
          <p:cNvPr id="247" name=""/>
          <p:cNvSpPr/>
          <p:nvPr/>
        </p:nvSpPr>
        <p:spPr>
          <a:xfrm rot="0" flipH="0" flipV="0">
            <a:off x="8067675" y="3409950"/>
            <a:ext cx="3552825" cy="1095375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8239125" y="3600450"/>
            <a:ext cx="3209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9F1C"/>
                </a:solidFill>
                <a:latin typeface="思源黑体"/>
                <a:ea typeface="思源黑体"/>
              </a:rPr>
              <a:t>L4 </a:t>
            </a:r>
            <a:r>
              <a:rPr lang="zh-CN" sz="975" b="1">
                <a:solidFill>
                  <a:srgbClr val="FF9F1C"/>
                </a:solidFill>
                <a:latin typeface="思源黑体"/>
                <a:ea typeface="思源黑体"/>
              </a:rPr>
              <a:t>系统级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8239125" y="3829050"/>
            <a:ext cx="3209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线上整体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8239125" y="4076700"/>
            <a:ext cx="3209925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回归、监控、真实用户反馈</a:t>
            </a:r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4381500" y="4638675"/>
            <a:ext cx="7239000" cy="409575"/>
          </a:xfrm>
          <a:prstGeom prst="roundRect">
            <a:avLst>
              <a:gd name="adj" fmla="val 23256"/>
            </a:avLst>
          </a:prstGeom>
          <a:solidFill>
            <a:srgbClr val="DCE7F5"/>
          </a:solidFill>
          <a:ln/>
        </p:spPr>
        <p:txBody>
          <a:bodyPr/>
          <a:p/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4572000" y="4762500"/>
            <a:ext cx="685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6263F"/>
                </a:solidFill>
                <a:latin typeface="思源黑体"/>
                <a:ea typeface="思源黑体"/>
              </a:rPr>
              <a:t>层越低越稳定、越便宜，层越高越接近真实——四层都要有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8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07 / 12</a:t>
            </a:r>
            <a:endParaRPr/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255" name="" descr="&lt;Slide&#10;  style={{&#10;    width: '1280px', height: '720px',&#10;    background: '#F5F7FA',&#10;    padding: '20px 60px',&#10;    fontFamily: '&quot;思源黑体&quot;, sans-serif',&#10;  }}&#10;&gt;&#10;  &lt;Box style={{ width: '100%', height: '100%' }}&gt;&#10;    &lt;Text style={{ fontSize: 14, color: '#FF9F1C', fontWeight: 'bold', letterSpacing: 2, marginBottom: 8 }}&gt;EVAL METHODS&lt;/Text&gt;&#10;    &lt;Text style={{ fontSize: 34, color: '#16263F', fontWeight: 'bold', marginBottom: 24 }}&gt;评测方法论：评分器、通过率，还有反直觉案例&lt;/Text&gt;&#10;    &lt;Box style={{ width: 56, height: 4, background: '#22D3EE', marginBottom: 24 }} /&gt;&#10;&#10;    &lt;Box style={{ flexDirection: 'row', gap: 28, flex: 1 }}&gt;&#10;      &lt;Box style={{ flex: 1, flexDirection: 'column', gap: 16 }}&gt;&#10;        &lt;Box style={{ background: '#FFFFFF', borderRadius: 12, padding: '20px 24px', boxShadow: '0 2px 12px rgba(22,38,63,0.06)' }}&gt;&#10;          &lt;Text style={{ fontSize: 18, fontWeight: 'bold', color: '#16263F', marginBottom: 12 }}&gt;Anthropic 三类评分器&lt;/Text&gt;&#10;          &lt;Text style={{ fontSize: 14, color: '#5B6B7A', lineHeight: 1.8 }}&gt;&#10;            · 代码评分器：跑单元测试，客观可复现&lt;br /&gt;&#10;            · 人工评分器：人来评，最准但最贵&lt;br /&gt;&#10;            · LLM 评分器：模型来评，快但有偏差&#10;          &lt;/Text&gt;&#10;        &lt;/Box&gt;&#10;        &lt;Box style={{ background: '#FFFFFF', borderRadius: 12, padding: '20px 24px', boxShadow: '0 2px 12px rgba(22,38,63,0.06)' }}&gt;&#10;          &lt;Text style={{ fontSize: 18, fontWeight: 'bold', color: '#16263F', marginBottom: 12 }}&gt;pass@k vs pass^k&lt;/Text&gt;&#10;          &lt;Text style={{ fontSize: 14, color: '#5B6B7A', lineHeight: 1.8 }}&gt;&#10;            · pass@k：跑 k 次，至少一次成功&lt;br /&gt;&#10;            · pass^k：跑 k 次，全部成功（测稳定性）&lt;br /&gt;&#10;            一个测「上限」，一个测「靠谱」。&#10;          &lt;/Text&gt;&#10;        &lt;/Box&gt;&#10;      &lt;/Box&gt;&#10;&#10;      &lt;Box style={{ flex: 1, flexDirection: 'column', gap: 16 }}&gt;&#10;        &lt;Box style={{ background: '#16263F', borderRadius: 12, padding: '20px 24px' }}&gt;&#10;          &lt;Text style={{ fontSize: 18, fontWeight: 'bold', color: '#FFFFFF', marginBottom: 12 }}&gt;微软 AgentEval 三智能体&lt;/Text&gt;&#10;          &lt;Text style={{ fontSize: 14, color: '#DCE7F5', lineHeight: 1.8 }}&gt;&#10;            · 规划评估：任务拆解合不合理&lt;br /&gt;&#10;            · 执行评估：步骤走得对不对&lt;br /&gt;&#10;            · 结果评估：最终答案达不达标&#10;          &lt;/Text&gt;&#10;        &lt;/Box&gt;&#10;        &lt;Box style={{ background: '#FF9F1C', borderRadius: 12, padding: '20px 24px' }}&gt;&#10;          &lt;Text style={{ fontSize: 18, fontWeight: 'bold', color: '#16263F', marginBottom: 10 }}&gt;反直觉：忠实度仅 32%&lt;/Text&gt;&#10;          &lt;Text style={{ fontSize: 14, color: '#16263F', lineHeight: 1.8 }}&gt;&#10;            某个 Agent 过程看起来「行云流水」，但只有 32% 的步骤真正忠实于任务——&lt;span style={{ fontWeight: 'bold' }}&gt;过程流畅 ≠ 结果正确&lt;/span&gt;。&#10;          &lt;/Text&gt;&#10;        &lt;/Box&gt;&#10;        &lt;Box style={{ background: '#DCE7F5', borderRadius: 10, padding: '13px 20px' }}&gt;&#10;          &lt;Text style={{ fontSize: 14, color: '#16263F', fontWeight: 'bold' }}&gt;&#10;            结论：过程与结果必须分开评，别被「看起来不错」骗了&#10;          &lt;/Text&gt;&#10;        &lt;/Box&gt;&#10;      &lt;/Box&gt;&#10;    &lt;/Box&gt;&#10;  &lt;/Box&gt;&#10;  &lt;Box style={{ position: 'absolute', bottom: 14, left: 60, width: 1160, flexDirection: 'row', justifyContent: 'space-between' }}&gt;&#10;    &lt;Text style={{ fontSize: 14, color: '#5B6B7A' }}&gt;AI 从零开始 · 第 8 讲&lt;/Text&gt;&#10;    &lt;Text style={{ fontSize: 14, color: '#5B6B7A' }}&gt;08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EVAL METHODS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评测方法论：评分器、通过率，还有反直觉案例</a:t>
            </a:r>
            <a:endParaRPr/>
          </a:p>
        </p:txBody>
      </p:sp>
      <p:sp>
        <p:nvSpPr>
          <p:cNvPr id="259" name=""/>
          <p:cNvSpPr/>
          <p:nvPr/>
        </p:nvSpPr>
        <p:spPr>
          <a:xfrm rot="0" flipH="0" flipV="0">
            <a:off x="571500" y="104775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260" name=""/>
          <p:cNvSpPr/>
          <p:nvPr/>
        </p:nvSpPr>
        <p:spPr>
          <a:xfrm rot="0" flipH="0" flipV="0">
            <a:off x="571500" y="1314450"/>
            <a:ext cx="5391150" cy="1571625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800100" y="1504950"/>
            <a:ext cx="4933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6263F"/>
                </a:solidFill>
                <a:latin typeface="思源黑体"/>
                <a:ea typeface="思源黑体"/>
              </a:rPr>
              <a:t>Anthropic </a:t>
            </a:r>
            <a:r>
              <a:rPr lang="zh-CN" sz="1350" b="1">
                <a:solidFill>
                  <a:srgbClr val="16263F"/>
                </a:solidFill>
                <a:latin typeface="思源黑体"/>
                <a:ea typeface="思源黑体"/>
              </a:rPr>
              <a:t>三类评分器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800100" y="1828800"/>
            <a:ext cx="4933950" cy="8667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代码评分器：跑单元测试，客观可复现</a:t>
            </a:r>
            <a:endParaRPr/>
          </a:p>
          <a:p>
            <a:pPr>
              <a:lnSpc>
                <a:spcPct val="18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人工评分器：人来评，最准但最贵</a:t>
            </a:r>
            <a:endParaRPr/>
          </a:p>
          <a:p>
            <a:pPr>
              <a:lnSpc>
                <a:spcPct val="18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· LLM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评分器：模型来评，快但有偏差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571500" y="3038475"/>
            <a:ext cx="5391150" cy="1571625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800100" y="3228975"/>
            <a:ext cx="4933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6263F"/>
                </a:solidFill>
                <a:latin typeface="思源黑体"/>
                <a:ea typeface="思源黑体"/>
              </a:rPr>
              <a:t>pass@k vs pass^k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800100" y="3552825"/>
            <a:ext cx="4933950" cy="8667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· pass@k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：跑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k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次，至少一次成功</a:t>
            </a:r>
            <a:endParaRPr/>
          </a:p>
          <a:p>
            <a:pPr>
              <a:lnSpc>
                <a:spcPct val="18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· pass^k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：跑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k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次，全部成功（测稳定性）</a:t>
            </a:r>
            <a:endParaRPr/>
          </a:p>
          <a:p>
            <a:pPr>
              <a:lnSpc>
                <a:spcPct val="18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一个测「上限」，一个测「靠谱」。</a:t>
            </a:r>
            <a:endParaRPr/>
          </a:p>
        </p:txBody>
      </p:sp>
      <p:sp>
        <p:nvSpPr>
          <p:cNvPr id="266" name=""/>
          <p:cNvSpPr/>
          <p:nvPr/>
        </p:nvSpPr>
        <p:spPr>
          <a:xfrm rot="0" flipH="0" flipV="0">
            <a:off x="6229350" y="1314450"/>
            <a:ext cx="5391150" cy="1571625"/>
          </a:xfrm>
          <a:prstGeom prst="roundRect">
            <a:avLst>
              <a:gd name="adj" fmla="val 7273"/>
            </a:avLst>
          </a:prstGeom>
          <a:solidFill>
            <a:srgbClr val="16263F"/>
          </a:solidFill>
          <a:ln/>
        </p:spPr>
        <p:txBody>
          <a:bodyPr/>
          <a:p/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6457950" y="1504950"/>
            <a:ext cx="4933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思源黑体"/>
                <a:ea typeface="思源黑体"/>
              </a:rPr>
              <a:t>微软</a:t>
            </a:r>
            <a:r>
              <a:rPr lang="en-US" sz="1350" b="1">
                <a:solidFill>
                  <a:srgbClr val="FFFFFF"/>
                </a:solidFill>
                <a:latin typeface="思源黑体"/>
                <a:ea typeface="思源黑体"/>
              </a:rPr>
              <a:t> AgentEval </a:t>
            </a:r>
            <a:r>
              <a:rPr lang="zh-CN" sz="1350" b="1">
                <a:solidFill>
                  <a:srgbClr val="FFFFFF"/>
                </a:solidFill>
                <a:latin typeface="思源黑体"/>
                <a:ea typeface="思源黑体"/>
              </a:rPr>
              <a:t>三智能体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6457950" y="1828800"/>
            <a:ext cx="4933950" cy="8667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·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规划评估：任务拆解合不合理</a:t>
            </a:r>
            <a:endParaRPr/>
          </a:p>
          <a:p>
            <a:pPr>
              <a:lnSpc>
                <a:spcPct val="180000"/>
              </a:lnSpc>
            </a:pP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·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执行评估：步骤走得对不对</a:t>
            </a:r>
            <a:endParaRPr/>
          </a:p>
          <a:p>
            <a:pPr>
              <a:lnSpc>
                <a:spcPct val="180000"/>
              </a:lnSpc>
            </a:pP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·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结果评估：最终答案达不达标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6229350" y="3038475"/>
            <a:ext cx="5391150" cy="1266825"/>
          </a:xfrm>
          <a:prstGeom prst="roundRect">
            <a:avLst>
              <a:gd name="adj" fmla="val 9023"/>
            </a:avLst>
          </a:prstGeom>
          <a:solidFill>
            <a:srgbClr val="FF9F1C"/>
          </a:solidFill>
          <a:ln/>
        </p:spPr>
        <p:txBody>
          <a:bodyPr/>
          <a:p/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6457950" y="3228975"/>
            <a:ext cx="4933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6263F"/>
                </a:solidFill>
                <a:latin typeface="思源黑体"/>
                <a:ea typeface="思源黑体"/>
              </a:rPr>
              <a:t>反直觉：忠实度仅</a:t>
            </a:r>
            <a:r>
              <a:rPr lang="en-US" sz="1350" b="1">
                <a:solidFill>
                  <a:srgbClr val="16263F"/>
                </a:solidFill>
                <a:latin typeface="思源黑体"/>
                <a:ea typeface="思源黑体"/>
              </a:rPr>
              <a:t> 32%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6457950" y="3533775"/>
            <a:ext cx="4933950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16263F"/>
                </a:solidFill>
                <a:latin typeface="思源黑体"/>
                <a:ea typeface="思源黑体"/>
              </a:rPr>
              <a:t>某个</a:t>
            </a:r>
            <a:r>
              <a:rPr lang="en-US" sz="1050">
                <a:solidFill>
                  <a:srgbClr val="16263F"/>
                </a:solidFill>
                <a:latin typeface="思源黑体"/>
                <a:ea typeface="思源黑体"/>
              </a:rPr>
              <a:t> Agent </a:t>
            </a:r>
            <a:r>
              <a:rPr lang="zh-CN" sz="1050">
                <a:solidFill>
                  <a:srgbClr val="16263F"/>
                </a:solidFill>
                <a:latin typeface="思源黑体"/>
                <a:ea typeface="思源黑体"/>
              </a:rPr>
              <a:t>过程看起来「行云流水」，但只有</a:t>
            </a:r>
            <a:r>
              <a:rPr lang="en-US" sz="1050">
                <a:solidFill>
                  <a:srgbClr val="16263F"/>
                </a:solidFill>
                <a:latin typeface="思源黑体"/>
                <a:ea typeface="思源黑体"/>
              </a:rPr>
              <a:t> 32% </a:t>
            </a:r>
            <a:r>
              <a:rPr lang="zh-CN" sz="1050">
                <a:solidFill>
                  <a:srgbClr val="16263F"/>
                </a:solidFill>
                <a:latin typeface="思源黑体"/>
                <a:ea typeface="思源黑体"/>
              </a:rPr>
              <a:t>的步骤真正忠实于任务——</a:t>
            </a:r>
            <a:r>
              <a:rPr lang="zh-CN" sz="1050" b="1">
                <a:solidFill>
                  <a:srgbClr val="16263F"/>
                </a:solidFill>
                <a:latin typeface="思源黑体"/>
                <a:ea typeface="思源黑体"/>
              </a:rPr>
              <a:t>过程流畅</a:t>
            </a:r>
            <a:r>
              <a:rPr lang="en-US" sz="1050" b="1">
                <a:solidFill>
                  <a:srgbClr val="16263F"/>
                </a:solidFill>
                <a:latin typeface="思源黑体"/>
                <a:ea typeface="思源黑体"/>
              </a:rPr>
              <a:t> ≠ </a:t>
            </a:r>
            <a:r>
              <a:rPr lang="zh-CN" sz="1050" b="1">
                <a:solidFill>
                  <a:srgbClr val="16263F"/>
                </a:solidFill>
                <a:latin typeface="思源黑体"/>
                <a:ea typeface="思源黑体"/>
              </a:rPr>
              <a:t>结果正确</a:t>
            </a:r>
            <a:r>
              <a:rPr lang="zh-CN" sz="1050">
                <a:solidFill>
                  <a:srgbClr val="16263F"/>
                </a:solidFill>
                <a:latin typeface="思源黑体"/>
                <a:ea typeface="思源黑体"/>
              </a:rPr>
              <a:t>。</a:t>
            </a:r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6229350" y="4457700"/>
            <a:ext cx="5391150" cy="409575"/>
          </a:xfrm>
          <a:prstGeom prst="roundRect">
            <a:avLst>
              <a:gd name="adj" fmla="val 23256"/>
            </a:avLst>
          </a:prstGeom>
          <a:solidFill>
            <a:srgbClr val="DCE7F5"/>
          </a:solidFill>
          <a:ln/>
        </p:spPr>
        <p:txBody>
          <a:bodyPr/>
          <a:p/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6419850" y="4581525"/>
            <a:ext cx="5010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6263F"/>
                </a:solidFill>
                <a:latin typeface="思源黑体"/>
                <a:ea typeface="思源黑体"/>
              </a:rPr>
              <a:t>结论：过程与结果必须分开评，别被「看起来不错」骗了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8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08 / 12</a:t>
            </a:r>
            <a:endParaRPr/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276" name="" descr="&lt;Slide&#10;  style={{&#10;    width: '1280px', height: '720px',&#10;    background: '#F5F7FA',&#10;    padding: '20px 60px',&#10;    fontFamily: '&quot;思源黑体&quot;, sans-serif',&#10;  }}&#10;&gt;&#10;  &lt;Box style={{ width: '100%', height: '100%' }}&gt;&#10;    &lt;Text style={{ fontSize: 14, color: '#FF9F1C', fontWeight: 'bold', letterSpacing: 2, marginBottom: 8 }}&gt;DEEPEVAL&lt;/Text&gt;&#10;    &lt;Text style={{ fontSize: 34, color: '#16263F', fontWeight: 'bold', marginBottom: 24 }}&gt;DeepEval 实战：三个指标盯死 Agent 质量&lt;/Text&gt;&#10;    &lt;Box style={{ width: 56, height: 4, background: '#22D3EE', marginBottom: 24 }} /&gt;&#10;&#10;    &lt;Box style={{ flexDirection: 'row', gap: 20, marginBottom: 20 }}&gt;&#10;      &lt;Box style={{ flex: 1, background: '#FFFFFF', borderRadius: 12, padding: '18px 20px', boxShadow: '0 2px 12px rgba(22,38,63,0.06)' }}&gt;&#10;        &lt;Text style={{ fontSize: 13, color: '#FF9F1C', fontWeight: 'bold', marginBottom: 8 }}&gt;ToolCorrectness&lt;/Text&gt;&#10;        &lt;Text style={{ fontSize: 16, fontWeight: 'bold', color: '#16263F', marginBottom: 6 }}&gt;工具调用正确性&lt;/Text&gt;&#10;        &lt;Text style={{ fontSize: 13, color: '#5B6B7A', lineHeight: 1.6 }}&gt;选的工具、传的参数对不对&lt;/Text&gt;&#10;      &lt;/Box&gt;&#10;      &lt;Box style={{ flex: 1, background: '#FFFFFF', borderRadius: 12, padding: '18px 20px', boxShadow: '0 2px 12px rgba(22,38,63,0.06)' }}&gt;&#10;        &lt;Text style={{ fontSize: 13, color: '#FF9F1C', fontWeight: 'bold', marginBottom: 8 }}&gt;PlanAdherence&lt;/Text&gt;&#10;        &lt;Text style={{ fontSize: 16, fontWeight: 'bold', color: '#16263F', marginBottom: 6 }}&gt;计划遵循度&lt;/Text&gt;&#10;        &lt;Text style={{ fontSize: 13, color: '#5B6B7A', lineHeight: 1.6 }}&gt;有没有偏离既定计划乱跑&lt;/Text&gt;&#10;      &lt;/Box&gt;&#10;      &lt;Box style={{ flex: 1, background: '#16263F', borderRadius: 12, padding: '18px 20px' }}&gt;&#10;        &lt;Text style={{ fontSize: 13, color: '#22D3EE', fontWeight: 'bold', marginBottom: 8 }}&gt;AgentGoalCompletion&lt;/Text&gt;&#10;        &lt;Text style={{ fontSize: 16, fontWeight: 'bold', color: '#FFFFFF', marginBottom: 6 }}&gt;目标达成度&lt;/Text&gt;&#10;        &lt;Text style={{ fontSize: 13, color: '#DCE7F5', lineHeight: 1.6 }}&gt;最终有没有真正完成任务&lt;/Text&gt;&#10;      &lt;/Box&gt;&#10;    &lt;/Box&gt;&#10;&#10;    &lt;Box style={{ flexDirection: 'row', gap: 24, flex: 1 }}&gt;&#10;      &lt;Box style={{ flex: 3, background: '#16263F', borderRadius: 12, padding: '16px 18px' }}&gt;&#10;        &lt;CodeBlock&#10;          code={`from deepeval.metrics import (&#10;    ToolCorrectnessMetric,&#10;    PlanAdherenceMetric,&#10;    AgentGoalCompletionMetric,&#10;)&#10;&#10;def test_agent():&#10;    result = run_agent(&quot;查北京天气并给出穿衣建议&quot;)&#10;    evaluate(result, metrics=[&#10;        ToolCorrectnessMetric(),&#10;        PlanAdherenceMetric(),&#10;        AgentGoalCompletionMetric(),&#10;    ])`}&#10;          language='python'&#10;          width={560}&#10;          fontSize={12}&#10;        /&gt;&#10;      &lt;/Box&gt;&#10;&#10;      &lt;Box style={{ flex: 2, flexDirection: 'column', gap: 14, justifyContent: 'center' }}&gt;&#10;        &lt;Box style={{ background: '#FFFFFF', borderRadius: 12, padding: '18px 20px', boxShadow: '0 2px 12px rgba(22,38,63,0.06)' }}&gt;&#10;          &lt;Text style={{ fontSize: 17, fontWeight: 'bold', color: '#16263F', marginBottom: 8 }}&gt;指标 ≤ 5 个&lt;/Text&gt;&#10;          &lt;Text style={{ fontSize: 14, color: '#5B6B7A', lineHeight: 1.7 }}&gt;别贪多，挑最关键的 3-5 个指标，每次提交自动跑。&lt;/Text&gt;&#10;        &lt;/Box&gt;&#10;        &lt;Box style={{ background: '#DCE7F5', borderRadius: 10, padding: '13px 20px' }}&gt;&#10;          &lt;Text style={{ fontSize: 14, color: '#16263F', fontWeight: 'bold' }}&gt;&#10;            评测进 CI/CD：质量门禁，不通过不合并&#10;          &lt;/Text&gt;&#10;        &lt;/Box&gt;&#10;      &lt;/Box&gt;&#10;    &lt;/Box&gt;&#10;  &lt;/Box&gt;&#10;  &lt;Box style={{ position: 'absolute', bottom: 14, left: 60, width: 1160, flexDirection: 'row', justifyContent: 'space-between' }}&gt;&#10;    &lt;Text style={{ fontSize: 14, color: '#5B6B7A' }}&gt;AI 从零开始 · 第 8 讲&lt;/Text&gt;&#10;    &lt;Text style={{ fontSize: 14, color: '#5B6B7A' }}&gt;09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DEEPEVAL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DeepEval 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实战：三个指标盯死</a:t>
            </a: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 Agent 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质量</a:t>
            </a:r>
            <a:endParaRPr/>
          </a:p>
        </p:txBody>
      </p:sp>
      <p:sp>
        <p:nvSpPr>
          <p:cNvPr id="280" name=""/>
          <p:cNvSpPr/>
          <p:nvPr/>
        </p:nvSpPr>
        <p:spPr>
          <a:xfrm rot="0" flipH="0" flipV="0">
            <a:off x="571500" y="104775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281" name=""/>
          <p:cNvSpPr/>
          <p:nvPr/>
        </p:nvSpPr>
        <p:spPr>
          <a:xfrm rot="0" flipH="0" flipV="0">
            <a:off x="571500" y="1314450"/>
            <a:ext cx="3552825" cy="1057275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762000" y="1485900"/>
            <a:ext cx="3171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9F1C"/>
                </a:solidFill>
                <a:latin typeface="思源黑体"/>
                <a:ea typeface="思源黑体"/>
              </a:rPr>
              <a:t>ToolCorrectness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762000" y="1714500"/>
            <a:ext cx="3171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工具调用正确性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762000" y="1962150"/>
            <a:ext cx="3171825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选的工具、传的参数对不对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4314825" y="1314450"/>
            <a:ext cx="3562350" cy="1057275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4505325" y="1485900"/>
            <a:ext cx="3181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9F1C"/>
                </a:solidFill>
                <a:latin typeface="思源黑体"/>
                <a:ea typeface="思源黑体"/>
              </a:rPr>
              <a:t>PlanAdherence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4505325" y="1714500"/>
            <a:ext cx="3181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计划遵循度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4505325" y="1962150"/>
            <a:ext cx="318135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有没有偏离既定计划乱跑</a:t>
            </a:r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8067675" y="1314450"/>
            <a:ext cx="3552825" cy="1057275"/>
          </a:xfrm>
          <a:prstGeom prst="roundRect">
            <a:avLst>
              <a:gd name="adj" fmla="val 10811"/>
            </a:avLst>
          </a:prstGeom>
          <a:solidFill>
            <a:srgbClr val="16263F"/>
          </a:solidFill>
          <a:ln/>
        </p:spPr>
        <p:txBody>
          <a:bodyPr/>
          <a:p/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8258175" y="1485900"/>
            <a:ext cx="3171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思源黑体"/>
                <a:ea typeface="思源黑体"/>
              </a:rPr>
              <a:t>AgentGoalCompletion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8258175" y="1714500"/>
            <a:ext cx="3171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思源黑体"/>
                <a:ea typeface="思源黑体"/>
              </a:rPr>
              <a:t>目标达成度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8258175" y="1962150"/>
            <a:ext cx="3171825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DCE7F5"/>
                </a:solidFill>
                <a:latin typeface="思源黑体"/>
                <a:ea typeface="思源黑体"/>
              </a:rPr>
              <a:t>最终有没有真正完成任务</a:t>
            </a:r>
            <a:endParaRPr/>
          </a:p>
        </p:txBody>
      </p:sp>
      <p:sp>
        <p:nvSpPr>
          <p:cNvPr id="293" name=""/>
          <p:cNvSpPr/>
          <p:nvPr/>
        </p:nvSpPr>
        <p:spPr>
          <a:xfrm rot="0" flipH="0" flipV="0">
            <a:off x="571500" y="2562225"/>
            <a:ext cx="6496050" cy="4105275"/>
          </a:xfrm>
          <a:prstGeom prst="roundRect">
            <a:avLst>
              <a:gd name="adj" fmla="val 2784"/>
            </a:avLst>
          </a:prstGeom>
          <a:solidFill>
            <a:srgbClr val="16263F"/>
          </a:solidFill>
          <a:ln/>
        </p:spPr>
        <p:txBody>
          <a:bodyPr/>
          <a:p/>
        </p:txBody>
      </p:sp>
      <p:sp>
        <p:nvSpPr>
          <p:cNvPr id="294" name=""/>
          <p:cNvSpPr/>
          <p:nvPr/>
        </p:nvSpPr>
        <p:spPr>
          <a:xfrm rot="0" flipH="0" flipV="0">
            <a:off x="7296150" y="3895725"/>
            <a:ext cx="4324350" cy="89535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7486650" y="4067175"/>
            <a:ext cx="3943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6263F"/>
                </a:solidFill>
                <a:latin typeface="思源黑体"/>
                <a:ea typeface="思源黑体"/>
              </a:rPr>
              <a:t>指标</a:t>
            </a:r>
            <a:r>
              <a:rPr lang="en-US" sz="1275" b="1">
                <a:solidFill>
                  <a:srgbClr val="16263F"/>
                </a:solidFill>
                <a:latin typeface="思源黑体"/>
                <a:ea typeface="思源黑体"/>
              </a:rPr>
              <a:t> ≤ 5 </a:t>
            </a:r>
            <a:r>
              <a:rPr lang="zh-CN" sz="1275" b="1">
                <a:solidFill>
                  <a:srgbClr val="16263F"/>
                </a:solidFill>
                <a:latin typeface="思源黑体"/>
                <a:ea typeface="思源黑体"/>
              </a:rPr>
              <a:t>个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7486650" y="4343400"/>
            <a:ext cx="3943350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别贪多，挑最关键的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3-5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个指标，每次提交自动跑。</a:t>
            </a:r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7296150" y="4924425"/>
            <a:ext cx="4324350" cy="409575"/>
          </a:xfrm>
          <a:prstGeom prst="roundRect">
            <a:avLst>
              <a:gd name="adj" fmla="val 23256"/>
            </a:avLst>
          </a:prstGeom>
          <a:solidFill>
            <a:srgbClr val="DCE7F5"/>
          </a:solidFill>
          <a:ln/>
        </p:spPr>
        <p:txBody>
          <a:bodyPr/>
          <a:p/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7486650" y="5048250"/>
            <a:ext cx="394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6263F"/>
                </a:solidFill>
                <a:latin typeface="思源黑体"/>
                <a:ea typeface="思源黑体"/>
              </a:rPr>
              <a:t>评测进</a:t>
            </a:r>
            <a:r>
              <a:rPr lang="en-US" sz="1050" b="1">
                <a:solidFill>
                  <a:srgbClr val="16263F"/>
                </a:solidFill>
                <a:latin typeface="思源黑体"/>
                <a:ea typeface="思源黑体"/>
              </a:rPr>
              <a:t> CI/CD</a:t>
            </a:r>
            <a:r>
              <a:rPr lang="zh-CN" sz="1050" b="1">
                <a:solidFill>
                  <a:srgbClr val="16263F"/>
                </a:solidFill>
                <a:latin typeface="思源黑体"/>
                <a:ea typeface="思源黑体"/>
              </a:rPr>
              <a:t>：质量门禁，不通过不合并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742950" y="2714625"/>
            <a:ext cx="6153150" cy="2771775"/>
          </a:xfrm>
          <a:prstGeom prst="roundRect">
            <a:avLst>
              <a:gd name="adj" fmla="val 2749"/>
            </a:avLst>
          </a:prstGeom>
          <a:solidFill>
            <a:srgbClr val="F6F8FA"/>
          </a:solidFill>
          <a:ln/>
        </p:spPr>
        <p:txBody>
          <a:bodyPr/>
          <a:p/>
        </p:txBody>
      </p:sp>
      <p:sp>
        <p:nvSpPr>
          <p:cNvPr id="300" name=""/>
          <p:cNvSpPr txBox="1"/>
          <p:nvPr/>
        </p:nvSpPr>
        <p:spPr>
          <a:xfrm rot="0" flipH="0" flipV="0">
            <a:off x="895350" y="2847975"/>
            <a:ext cx="5848350" cy="2505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900">
                <a:solidFill>
                  <a:srgbClr val="D73A49"/>
                </a:solidFill>
                <a:latin typeface="Menlo"/>
                <a:ea typeface="Menlo"/>
              </a:rPr>
              <a:t>from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 deepeval.metrics </a:t>
            </a:r>
            <a:r>
              <a:rPr sz="900">
                <a:solidFill>
                  <a:srgbClr val="D73A49"/>
                </a:solidFill>
                <a:latin typeface="Menlo"/>
                <a:ea typeface="Menlo"/>
              </a:rPr>
              <a:t>import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 (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    ToolCorrectnessMetric,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    PlanAdherenceMetric,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    AgentGoalCompletionMetric,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)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5E7EB"/>
                </a:solidFill>
                <a:latin typeface="Menlo"/>
                <a:ea typeface="Menlo"/>
              </a:rPr>
              <a:t> 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D73A49"/>
                </a:solidFill>
                <a:latin typeface="Menlo"/>
                <a:ea typeface="Menlo"/>
              </a:rPr>
              <a:t>def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00">
                <a:solidFill>
                  <a:srgbClr val="6F42C1"/>
                </a:solidFill>
                <a:latin typeface="Menlo"/>
                <a:ea typeface="Menlo"/>
              </a:rPr>
              <a:t>test_agent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():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    result </a:t>
            </a:r>
            <a:r>
              <a:rPr sz="900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 run_agent(</a:t>
            </a:r>
            <a:r>
              <a:rPr sz="900">
                <a:solidFill>
                  <a:srgbClr val="032F62"/>
                </a:solidFill>
                <a:latin typeface="Menlo"/>
                <a:ea typeface="Menlo"/>
              </a:rPr>
              <a:t>"查北京天气并给出穿衣建议"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)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    evaluate(result, </a:t>
            </a:r>
            <a:r>
              <a:rPr sz="900">
                <a:solidFill>
                  <a:srgbClr val="E36209"/>
                </a:solidFill>
                <a:latin typeface="Menlo"/>
                <a:ea typeface="Menlo"/>
              </a:rPr>
              <a:t>metrics</a:t>
            </a:r>
            <a:r>
              <a:rPr sz="900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[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        ToolCorrectnessMetric(),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        PlanAdherenceMetric(),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        AgentGoalCompletionMetric(),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    ])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8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09 / 12</a:t>
            </a:r>
            <a:endParaRPr/>
          </a:p>
        </p:txBody>
      </p:sp>
    </p:spTree>
  </p:cSld>
</p:sld>
</file>

<file path=ppt/slides/slide10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2" name="" descr="&lt;Slide&#10;  style={{&#10;    width: '1280px', height: '720px',&#10;    background: '#F5F7FA',&#10;    padding: '20px 60px',&#10;    fontFamily: '&quot;思源黑体&quot;, sans-serif',&#10;  }}&#10;&gt;&#10;  &lt;Box style={{ flexDirection: 'row', width: '100%', height: '100%', gap: 40 }}&gt;&#10;    &lt;Box style={{ width: 360, paddingTop: 20 }}&gt;&#10;      &lt;Text style={{ fontSize: 14, color: '#FF9F1C', fontWeight: 'bold', letterSpacing: 2, marginBottom: 12 }}&gt;MONITORING&lt;/Text&gt;&#10;      &lt;Text style={{ fontSize: 34, color: '#16263F', fontWeight: 'bold', lineHeight: 1.35, marginBottom: 24 }}&gt;&#10;        生产监控：&lt;br /&gt;上线才是真正的开始&#10;      &lt;/Text&gt;&#10;      &lt;Box style={{ width: 56, height: 4, background: '#22D3EE', marginBottom: 24 }} /&gt;&#10;      &lt;Text style={{ fontSize: 16, color: '#5B6B7A', lineHeight: 1.7 }}&gt;&#10;        评测测的是「已知」，监控盯的是「未知」。线上出问题，&lt;span style={{ fontWeight: 'bold', color: '#16263F' }}&gt;要能定位到具体哪一步&lt;/span&gt;。&#10;      &lt;/Text&gt;&#10;    &lt;/Box&gt;&#10;&#10;    &lt;Box style={{ flex: 1, flexDirection: 'column', gap: 16, justifyContent: 'center' }}&gt;&#10;      &lt;Box style={{ flexDirection: 'row', gap: 16, background: '#FFFFFF', borderRadius: 12, padding: '20px 24px', boxShadow: '0 2px 12px rgba(22,38,63,0.06)' }}&gt;&#10;        &lt;Box style={{ width: 52, height: 52, borderRadius: 13, background: '#EAF2FB', justifyContent: 'center', alignItems: 'center' }}&gt;&#10;          &lt;FAIcon name='chart-line' style={{ fill: '#22D3EE', width: 26, height: 26 }} /&gt;&#10;        &lt;/Box&gt;&#10;        &lt;Box style={{ flex: 1 }}&gt;&#10;          &lt;Text style={{ fontSize: 18, fontWeight: 'bold', color: '#16263F', marginBottom: 6 }}&gt;OTel 追踪到工具层&lt;/Text&gt;&#10;          &lt;Text style={{ fontSize: 14, color: '#5B6B7A', lineHeight: 1.6 }}&gt;OpenTelemetry 给每个工具调用、每轮循环打 trace，出问题定位到步骤。&lt;/Text&gt;&#10;        &lt;/Box&gt;&#10;      &lt;/Box&gt;&#10;&#10;      &lt;Box style={{ flexDirection: 'row', gap: 16, background: '#FFFFFF', borderRadius: 12, padding: '20px 24px', boxShadow: '0 2px 12px rgba(22,38,63,0.06)' }}&gt;&#10;        &lt;Box style={{ width: 52, height: 52, borderRadius: 13, background: '#EAF2FB', justifyContent: 'center', alignItems: 'center' }}&gt;&#10;          &lt;FAIcon name='recycle' style={{ fill: '#22D3EE', width: 26, height: 26 }} /&gt;&#10;        &lt;/Box&gt;&#10;        &lt;Box style={{ flex: 1 }}&gt;&#10;          &lt;Text style={{ fontSize: 18, fontWeight: 'bold', color: '#16263F', marginBottom: 6 }}&gt;失败用例回流&lt;/Text&gt;&#10;          &lt;Text style={{ fontSize: 14, color: '#5B6B7A', lineHeight: 1.6 }}&gt;线上失败的用例自动进测试集，同类问题不再复发——测试集会越滚越强。&lt;/Text&gt;&#10;        &lt;/Box&gt;&#10;      &lt;/Box&gt;&#10;&#10;      &lt;Box style={{ flexDirection: 'row', gap: 16, background: '#16263F', borderRadius: 12, padding: '20px 24px' }}&gt;&#10;        &lt;Box style={{ width: 52, height: 52, borderRadius: 13, background: 'rgba(255,159,28,0.15)', justifyContent: 'center', alignItems: 'center' }}&gt;&#10;          &lt;FAIcon name='bell' style={{ fill: '#FF9F1C', width: 26, height: 26 }} /&gt;&#10;        &lt;/Box&gt;&#10;        &lt;Box style={{ flex: 1 }}&gt;&#10;          &lt;Text style={{ fontSize: 18, fontWeight: 'bold', color: '#FFFFFF', marginBottom: 6 }}&gt;告警机制 · 瑞士奶酪模型&lt;/Text&gt;&#10;          &lt;Text style={{ fontSize: 14, color: '#DCE7F5', lineHeight: 1.6 }}&gt;每层防线都有洞，单一防线会漏——多层叠加，洞才堵得住。&lt;/Text&gt;&#10;        &lt;/Box&gt;&#10;      &lt;/Box&gt;&#10;    &lt;/Box&gt;&#10;  &lt;/Box&gt;&#10;  &lt;Box style={{ position: 'absolute', bottom: 14, left: 60, width: 1160, flexDirection: 'row', justifyContent: 'space-between' }}&gt;&#10;    &lt;Text style={{ fontSize: 14, color: '#5B6B7A' }}&gt;AI 从零开始 · 第 8 讲&lt;/Text&gt;&#10;    &lt;Text style={{ fontSize: 14, color: '#5B6B7A' }}&gt;10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571500" y="381000"/>
            <a:ext cx="342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MONITORING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571500" y="657225"/>
            <a:ext cx="3429000" cy="10572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生产监控：</a:t>
            </a:r>
            <a:endParaRPr/>
          </a:p>
          <a:p>
            <a:pPr>
              <a:lnSpc>
                <a:spcPct val="135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上线才是真正的开始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571500" y="194310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571500" y="2209800"/>
            <a:ext cx="34290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评测测的是「已知」，监控盯的是「未知」。线上出问题，</a:t>
            </a: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要能定位到具体哪一步</a:t>
            </a: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。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4381500" y="1924050"/>
            <a:ext cx="7239000" cy="904875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9" name=""/>
          <p:cNvSpPr/>
          <p:nvPr/>
        </p:nvSpPr>
        <p:spPr>
          <a:xfrm rot="0" flipH="0" flipV="0">
            <a:off x="4610100" y="2114550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2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733925" y="2238375"/>
            <a:ext cx="247650" cy="247650"/>
          </a:xfrm>
          <a:prstGeom prst="rect">
            <a:avLst/>
          </a:prstGeom>
          <a:ln/>
        </p:spPr>
      </p:pic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5257800" y="2114550"/>
            <a:ext cx="6134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6263F"/>
                </a:solidFill>
                <a:latin typeface="思源黑体"/>
                <a:ea typeface="思源黑体"/>
              </a:rPr>
              <a:t>OTel </a:t>
            </a:r>
            <a:r>
              <a:rPr lang="zh-CN" sz="1350" b="1">
                <a:solidFill>
                  <a:srgbClr val="16263F"/>
                </a:solidFill>
                <a:latin typeface="思源黑体"/>
                <a:ea typeface="思源黑体"/>
              </a:rPr>
              <a:t>追踪到工具层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5257800" y="2381250"/>
            <a:ext cx="61341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OpenTelemetry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给每个工具调用、每轮循环打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trace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，出问题定位到步骤。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4381500" y="2981325"/>
            <a:ext cx="7239000" cy="904875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4" name=""/>
          <p:cNvSpPr/>
          <p:nvPr/>
        </p:nvSpPr>
        <p:spPr>
          <a:xfrm rot="0" flipH="0" flipV="0">
            <a:off x="4610100" y="3171825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733925" y="3295650"/>
            <a:ext cx="247650" cy="247650"/>
          </a:xfrm>
          <a:prstGeom prst="rect">
            <a:avLst/>
          </a:prstGeom>
          <a:ln/>
        </p:spPr>
      </p:pic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5257800" y="3171825"/>
            <a:ext cx="6134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6263F"/>
                </a:solidFill>
                <a:latin typeface="思源黑体"/>
                <a:ea typeface="思源黑体"/>
              </a:rPr>
              <a:t>失败用例回流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5257800" y="3438525"/>
            <a:ext cx="61341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线上失败的用例自动进测试集，同类问题不再复发——测试集会越滚越强。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4381500" y="4038600"/>
            <a:ext cx="7239000" cy="904875"/>
          </a:xfrm>
          <a:prstGeom prst="roundRect">
            <a:avLst>
              <a:gd name="adj" fmla="val 12632"/>
            </a:avLst>
          </a:prstGeom>
          <a:solidFill>
            <a:srgbClr val="16263F"/>
          </a:solidFill>
          <a:ln/>
        </p:spPr>
        <p:txBody>
          <a:bodyPr/>
          <a:p/>
        </p:txBody>
      </p:sp>
      <p:sp>
        <p:nvSpPr>
          <p:cNvPr id="29" name=""/>
          <p:cNvSpPr/>
          <p:nvPr/>
        </p:nvSpPr>
        <p:spPr>
          <a:xfrm rot="0" flipH="0" flipV="0">
            <a:off x="4610100" y="4229100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FF9F1C">
              <a:alpha val="15000"/>
            </a:srgbClr>
          </a:solidFill>
          <a:ln/>
        </p:spPr>
        <p:txBody>
          <a:bodyPr/>
          <a:p/>
        </p:txBody>
      </p:sp>
      <p:pic>
        <p:nvPicPr>
          <p:cNvPr id="3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733925" y="4352925"/>
            <a:ext cx="247650" cy="247650"/>
          </a:xfrm>
          <a:prstGeom prst="rect">
            <a:avLst/>
          </a:prstGeom>
          <a:ln/>
        </p:spPr>
      </p:pic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5257800" y="4229100"/>
            <a:ext cx="6134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思源黑体"/>
                <a:ea typeface="思源黑体"/>
              </a:rPr>
              <a:t>告警机制</a:t>
            </a:r>
            <a:r>
              <a:rPr lang="en-US" sz="1350" b="1">
                <a:solidFill>
                  <a:srgbClr val="FFFFFF"/>
                </a:solidFill>
                <a:latin typeface="思源黑体"/>
                <a:ea typeface="思源黑体"/>
              </a:rPr>
              <a:t> · </a:t>
            </a:r>
            <a:r>
              <a:rPr lang="zh-CN" sz="1350" b="1">
                <a:solidFill>
                  <a:srgbClr val="FFFFFF"/>
                </a:solidFill>
                <a:latin typeface="思源黑体"/>
                <a:ea typeface="思源黑体"/>
              </a:rPr>
              <a:t>瑞士奶酪模型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5257800" y="4495800"/>
            <a:ext cx="61341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每层防线都有洞，单一防线会漏——多层叠加，洞才堵得住。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8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10 / 12</a:t>
            </a:r>
            <a:endParaRPr/>
          </a:p>
        </p:txBody>
      </p:sp>
    </p:spTree>
  </p:cSld>
</p:sld>
</file>

<file path=ppt/slides/slide11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35" name="" descr="&lt;Slide&#10;  style={{&#10;    width: '1280px', height: '720px',&#10;    background: '#F5F7FA',&#10;    padding: '20px 60px',&#10;    fontFamily: '&quot;思源黑体&quot;, sans-serif',&#10;  }}&#10;&gt;&#10;  &lt;Box style={{ width: '100%', height: '100%' }}&gt;&#10;    &lt;Text style={{ fontSize: 14, color: '#FF9F1C', fontWeight: 'bold', letterSpacing: 2, marginBottom: 8 }}&gt;SECURITY&lt;/Text&gt;&#10;    &lt;Text style={{ fontSize: 34, color: '#16263F', fontWeight: 'bold', marginBottom: 24 }}&gt;安全防线：事前设界、事中收权、事后兜底&lt;/Text&gt;&#10;    &lt;Box style={{ width: 56, height: 4, background: '#22D3EE', marginBottom: 26 }} /&gt;&#10;&#10;    &lt;Box style={{ flexDirection: 'row', gap: 24, flex: 1 }}&gt;&#10;      &lt;Box style={{ flex: 1, background: '#FFFFFF', borderRadius: 14, padding: '26px 24px', boxShadow: '0 2px 12px rgba(22,38,63,0.06)' }}&gt;&#10;        &lt;Box style={{ flexDirection: 'row', alignItems: 'center', gap: 10, marginBottom: 14 }}&gt;&#10;          &lt;FAIcon name='shield' style={{ fill: '#22D3EE', width: 28, height: 28 }} /&gt;&#10;          &lt;Text style={{ fontSize: 20, fontWeight: 'bold', color: '#16263F' }}&gt;事前 · 设界&lt;/Text&gt;&#10;        &lt;/Box&gt;&#10;        &lt;Text style={{ fontSize: 14, color: '#5B6B7A', lineHeight: 1.9 }}&gt;&#10;          · 红线黑名单：敏感操作直接禁&lt;br /&gt;&#10;          · 黄线：高危操作需人工审批&lt;br /&gt;&#10;          · 审计日志：记录谁在什么时候做了什么&#10;        &lt;/Text&gt;&#10;        &lt;Box style={{ marginTop: 'auto', paddingTop: 14 }}&gt;&#10;          &lt;Text style={{ fontSize: 13, color: '#FF9F1C', fontWeight: 'bold' }}&gt;把危险挡在门外&lt;/Text&gt;&#10;        &lt;/Box&gt;&#10;      &lt;/Box&gt;&#10;&#10;      &lt;Box style={{ flex: 1, background: '#16263F', borderRadius: 14, padding: '26px 24px' }}&gt;&#10;        &lt;Box style={{ flexDirection: 'row', alignItems: 'center', gap: 10, marginBottom: 14 }}&gt;&#10;          &lt;FAIcon name='lock' style={{ fill: '#FF9F1C', width: 28, height: 28 }} /&gt;&#10;          &lt;Text style={{ fontSize: 20, fontWeight: 'bold', color: '#FFFFFF' }}&gt;事中 · 收权&lt;/Text&gt;&#10;        &lt;/Box&gt;&#10;        &lt;Text style={{ fontSize: 14, color: '#DCE7F5', lineHeight: 1.9 }}&gt;&#10;          · 权限收窄：最小权限原则&lt;br /&gt;&#10;          · Pre-flight：执行前预检，危险动作拦截&lt;br /&gt;&#10;          · 每次工具调用都过权限校验&#10;        &lt;/Text&gt;&#10;        &lt;Box style={{ marginTop: 'auto', paddingTop: 14 }}&gt;&#10;          &lt;Text style={{ fontSize: 13, color: '#22D3EE', fontWeight: 'bold' }}&gt;把危害压到最小&lt;/Text&gt;&#10;        &lt;/Box&gt;&#10;      &lt;/Box&gt;&#10;&#10;      &lt;Box style={{ flex: 1, background: '#FFFFFF', borderRadius: 14, padding: '26px 24px', boxShadow: '0 2px 12px rgba(22,38,63,0.06)' }}&gt;&#10;        &lt;Box style={{ flexDirection: 'row', alignItems: 'center', gap: 10, marginBottom: 14 }}&gt;&#10;          &lt;FAIcon name='history' style={{ fill: '#22D3EE', width: 28, height: 28 }} /&gt;&#10;          &lt;Text style={{ fontSize: 20, fontWeight: 'bold', color: '#16263F' }}&gt;事后 · 兜底&lt;/Text&gt;&#10;        &lt;/Box&gt;&#10;        &lt;Text style={{ fontSize: 14, color: '#5B6B7A', lineHeight: 1.9 }}&gt;&#10;          · 定期巡检：异常行为复盘&lt;br /&gt;&#10;          · 灾备回滚：出问题能恢复现场&lt;br /&gt;&#10;          · 把事故沉淀成新的防线&#10;        &lt;/Text&gt;&#10;        &lt;Box style={{ marginTop: 'auto', paddingTop: 14 }}&gt;&#10;          &lt;Text style={{ fontSize: 13, color: '#FF9F1C', fontWeight: 'bold' }}&gt;把损失降到最低&lt;/Text&gt;&#10;        &lt;/Box&gt;&#10;      &lt;/Box&gt;&#10;    &lt;/Box&gt;&#10;&#10;    &lt;Box style={{ marginTop: 20, background: '#DCE7F5', borderRadius: 10, padding: '14px 22px' }}&gt;&#10;      &lt;Text style={{ fontSize: 15, color: '#16263F', fontWeight: 'bold' }}&gt;&#10;        安全是分层设防：一层会漏，三层叠加才靠谱——呼应瑞士奶酪模型&#10;      &lt;/Text&gt;&#10;    &lt;/Box&gt;&#10;  &lt;/Box&gt;&#10;  &lt;Box style={{ position: 'absolute', bottom: 14, left: 60, width: 1160, flexDirection: 'row', justifyContent: 'space-between' }}&gt;&#10;    &lt;Text style={{ fontSize: 14, color: '#5B6B7A' }}&gt;AI 从零开始 · 第 8 讲&lt;/Text&gt;&#10;    &lt;Text style={{ fontSize: 14, color: '#5B6B7A' }}&gt;11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SECURITY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安全防线：事前设界、事中收权、事后兜底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571500" y="104775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40" name=""/>
          <p:cNvSpPr/>
          <p:nvPr/>
        </p:nvSpPr>
        <p:spPr>
          <a:xfrm rot="0" flipH="0" flipV="0">
            <a:off x="571500" y="1333500"/>
            <a:ext cx="3533775" cy="470535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00100" y="1581150"/>
            <a:ext cx="266700" cy="266700"/>
          </a:xfrm>
          <a:prstGeom prst="rect">
            <a:avLst/>
          </a:prstGeom>
          <a:ln/>
        </p:spPr>
      </p:pic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1162050" y="1600200"/>
            <a:ext cx="9429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6263F"/>
                </a:solidFill>
                <a:latin typeface="思源黑体"/>
                <a:ea typeface="思源黑体"/>
              </a:rPr>
              <a:t>事前</a:t>
            </a:r>
            <a:r>
              <a:rPr lang="en-US" sz="1500" b="1">
                <a:solidFill>
                  <a:srgbClr val="16263F"/>
                </a:solidFill>
                <a:latin typeface="思源黑体"/>
                <a:ea typeface="思源黑体"/>
              </a:rPr>
              <a:t> · </a:t>
            </a:r>
            <a:r>
              <a:rPr lang="zh-CN" sz="1500" b="1">
                <a:solidFill>
                  <a:srgbClr val="16263F"/>
                </a:solidFill>
                <a:latin typeface="思源黑体"/>
                <a:ea typeface="思源黑体"/>
              </a:rPr>
              <a:t>设界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800100" y="1981200"/>
            <a:ext cx="3076575" cy="9144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红线黑名单：敏感操作直接禁</a:t>
            </a:r>
            <a:endParaRPr/>
          </a:p>
          <a:p>
            <a:pPr>
              <a:lnSpc>
                <a:spcPct val="19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黄线：高危操作需人工审批</a:t>
            </a:r>
            <a:endParaRPr/>
          </a:p>
          <a:p>
            <a:pPr>
              <a:lnSpc>
                <a:spcPct val="19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审计日志：记录谁在什么时候做了什么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800100" y="5638800"/>
            <a:ext cx="3076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9F1C"/>
                </a:solidFill>
                <a:latin typeface="思源黑体"/>
                <a:ea typeface="思源黑体"/>
              </a:rPr>
              <a:t>把危险挡在门外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4333875" y="1333500"/>
            <a:ext cx="3524250" cy="4705350"/>
          </a:xfrm>
          <a:prstGeom prst="roundRect">
            <a:avLst>
              <a:gd name="adj" fmla="val 3784"/>
            </a:avLst>
          </a:prstGeom>
          <a:solidFill>
            <a:srgbClr val="16263F"/>
          </a:solidFill>
          <a:ln/>
        </p:spPr>
        <p:txBody>
          <a:bodyPr/>
          <a:p/>
        </p:txBody>
      </p:sp>
      <p:pic>
        <p:nvPicPr>
          <p:cNvPr id="4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562475" y="1581150"/>
            <a:ext cx="266700" cy="266700"/>
          </a:xfrm>
          <a:prstGeom prst="rect">
            <a:avLst/>
          </a:prstGeom>
          <a:ln/>
        </p:spPr>
      </p:pic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4924425" y="1600200"/>
            <a:ext cx="9429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思源黑体"/>
                <a:ea typeface="思源黑体"/>
              </a:rPr>
              <a:t>事中</a:t>
            </a:r>
            <a:r>
              <a:rPr lang="en-US" sz="1500" b="1">
                <a:solidFill>
                  <a:srgbClr val="FFFFFF"/>
                </a:solidFill>
                <a:latin typeface="思源黑体"/>
                <a:ea typeface="思源黑体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思源黑体"/>
                <a:ea typeface="思源黑体"/>
              </a:rPr>
              <a:t>收权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4562475" y="1981200"/>
            <a:ext cx="3067050" cy="9144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·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权限收窄：最小权限原则</a:t>
            </a:r>
            <a:endParaRPr/>
          </a:p>
          <a:p>
            <a:pPr>
              <a:lnSpc>
                <a:spcPct val="190000"/>
              </a:lnSpc>
            </a:pP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· Pre-flight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：执行前预检，危险动作拦截</a:t>
            </a:r>
            <a:endParaRPr/>
          </a:p>
          <a:p>
            <a:pPr>
              <a:lnSpc>
                <a:spcPct val="190000"/>
              </a:lnSpc>
            </a:pP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·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每次工具调用都过权限校验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4562475" y="5638800"/>
            <a:ext cx="3067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22D3EE"/>
                </a:solidFill>
                <a:latin typeface="思源黑体"/>
                <a:ea typeface="思源黑体"/>
              </a:rPr>
              <a:t>把危害压到最小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8086725" y="1333500"/>
            <a:ext cx="3533775" cy="470535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5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315325" y="1581150"/>
            <a:ext cx="266700" cy="266700"/>
          </a:xfrm>
          <a:prstGeom prst="rect">
            <a:avLst/>
          </a:prstGeom>
          <a:ln/>
        </p:spPr>
      </p:pic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8677275" y="1600200"/>
            <a:ext cx="9429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6263F"/>
                </a:solidFill>
                <a:latin typeface="思源黑体"/>
                <a:ea typeface="思源黑体"/>
              </a:rPr>
              <a:t>事后</a:t>
            </a:r>
            <a:r>
              <a:rPr lang="en-US" sz="1500" b="1">
                <a:solidFill>
                  <a:srgbClr val="16263F"/>
                </a:solidFill>
                <a:latin typeface="思源黑体"/>
                <a:ea typeface="思源黑体"/>
              </a:rPr>
              <a:t> · </a:t>
            </a:r>
            <a:r>
              <a:rPr lang="zh-CN" sz="1500" b="1">
                <a:solidFill>
                  <a:srgbClr val="16263F"/>
                </a:solidFill>
                <a:latin typeface="思源黑体"/>
                <a:ea typeface="思源黑体"/>
              </a:rPr>
              <a:t>兜底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8315325" y="1981200"/>
            <a:ext cx="3076575" cy="9144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定期巡检：异常行为复盘</a:t>
            </a:r>
            <a:endParaRPr/>
          </a:p>
          <a:p>
            <a:pPr>
              <a:lnSpc>
                <a:spcPct val="19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灾备回滚：出问题能恢复现场</a:t>
            </a:r>
            <a:endParaRPr/>
          </a:p>
          <a:p>
            <a:pPr>
              <a:lnSpc>
                <a:spcPct val="19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把事故沉淀成新的防线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8315325" y="5638800"/>
            <a:ext cx="3076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9F1C"/>
                </a:solidFill>
                <a:latin typeface="思源黑体"/>
                <a:ea typeface="思源黑体"/>
              </a:rPr>
              <a:t>把损失降到最低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571500" y="6229350"/>
            <a:ext cx="11049000" cy="438150"/>
          </a:xfrm>
          <a:prstGeom prst="roundRect">
            <a:avLst>
              <a:gd name="adj" fmla="val 21739"/>
            </a:avLst>
          </a:prstGeom>
          <a:solidFill>
            <a:srgbClr val="DCE7F5"/>
          </a:soli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781050" y="6362700"/>
            <a:ext cx="10629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6263F"/>
                </a:solidFill>
                <a:latin typeface="思源黑体"/>
                <a:ea typeface="思源黑体"/>
              </a:rPr>
              <a:t>安全是分层设防：一层会漏，三层叠加才靠谱——呼应瑞士奶酪模型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8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11220450" y="65627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11 / 12</a:t>
            </a:r>
            <a:endParaRPr/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59" name="" descr="&lt;Slide&#10;  style={{&#10;    width: '1280px', height: '720px',&#10;    background: 'linear-gradient(135deg, #16263F 0%, #1E3A5F 100%)',&#10;    padding: '20px 60px',&#10;    fontFamily: '&quot;思源黑体&quot;, sans-serif',&#10;  }}&#10;&gt;&#10;  &lt;Box style={{ position: 'absolute', top: -60, right: -60, width: 260, height: 260, borderRadius: 130, background: 'rgba(34,211,238,0.1)' }} /&gt;&#10;&#10;  &lt;Box style={{ position: 'relative', zIndex: 2, width: '100%', height: '100%', flexDirection: 'column', justifyContent: 'center' }}&gt;&#10;    &lt;Text style={{ fontSize: 14, color: '#22D3EE', fontWeight: 'bold', letterSpacing: 3, marginBottom: 14 }}&gt;CHAPTER 04 · 守住底线&lt;/Text&gt;&#10;    &lt;Text style={{ fontSize: 38, color: '#FFFFFF', fontWeight: 'bold', marginBottom: 22 }}&gt;上线前 10 问：问完了再上生产&lt;/Text&gt;&#10;&#10;    &lt;Box style={{ flexDirection: 'row', gap: 24, marginBottom: 20 }}&gt;&#10;      &lt;Box style={{ flex: 1, background: 'rgba(255,255,255,0.07)', border: '1px solid rgba(220,231,245,0.2)', borderRadius: 12, padding: '18px 22px' }}&gt;&#10;        &lt;Text style={{ fontSize: 14, color: '#DCE7F5', lineHeight: 2 }}&gt;&#10;          ① 有终止策略吗？&lt;br /&gt;② 每步有验证门吗？&lt;br /&gt;③ 上下文会不会失忆？&lt;br /&gt;④ 有评测集吗？&lt;br /&gt;⑤ 评测进 CI 了吗？&#10;        &lt;/Text&gt;&#10;      &lt;/Box&gt;&#10;      &lt;Box style={{ flex: 1, background: 'rgba(255,255,255,0.07)', border: '1px solid rgba(220,231,245,0.2)', borderRadius: 12, padding: '18px 22px' }}&gt;&#10;        &lt;Text style={{ fontSize: 14, color: '#DCE7F5', lineHeight: 2 }}&gt;&#10;          ⑥ 能追踪到工具层吗？&lt;br /&gt;⑦ 失败会回流测试集吗？&lt;br /&gt;⑧ 权限收窄了吗？&lt;br /&gt;⑨ 有审计日志吗？&lt;br /&gt;⑩ 出问题能回滚吗？&#10;        &lt;/Text&gt;&#10;      &lt;/Box&gt;&#10;    &lt;/Box&gt;&#10;&#10;    &lt;Box style={{ background: 'rgba(255,159,28,0.12)', border: '1px solid rgba(255,159,28,0.3)', borderRadius: 14, padding: '20px 26px', marginBottom: 14 }}&gt;&#10;      &lt;Text style={{ fontSize: 17, fontWeight: 'bold', color: '#FF9F1C', marginBottom: 8 }}&gt;动手练习&lt;/Text&gt;&#10;      &lt;Text style={{ fontSize: 14, color: '#DCE7F5', lineHeight: 1.8 }}&gt;&#10;        给你上一讲写的 Agent 补三样东西：一个验证门、一条失败回流、一个指标进 CI，跑通后截图。&#10;      &lt;/Text&gt;&#10;    &lt;/Box&gt;&#10;&#10;    &lt;Box style={{ background: 'rgba(255,255,255,0.06)', borderRadius: 12, padding: '16px 24px' }}&gt;&#10;      &lt;Text style={{ fontSize: 14, color: '#DCE7F5', lineHeight: 1.9 }}&gt;&#10;        自测 3 题：Harness 六大组件是什么？评测为什么难？安全三层防线是哪三层？&#10;      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6263F"/>
              </a:gs>
              <a:gs pos="100000">
                <a:srgbClr val="1E3A5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61" name=""/>
          <p:cNvSpPr/>
          <p:nvPr/>
        </p:nvSpPr>
        <p:spPr>
          <a:xfrm rot="0" flipH="0" flipV="0">
            <a:off x="10287000" y="-571500"/>
            <a:ext cx="2476500" cy="2476500"/>
          </a:xfrm>
          <a:prstGeom prst="roundRect">
            <a:avLst>
              <a:gd name="adj" fmla="val 50000"/>
            </a:avLst>
          </a:prstGeom>
          <a:solidFill>
            <a:srgbClr val="22D3EE">
              <a:alpha val="10000"/>
            </a:srgbClr>
          </a:solidFill>
          <a:ln/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571500" y="104775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225">
                <a:solidFill>
                  <a:srgbClr val="22D3EE"/>
                </a:solidFill>
                <a:latin typeface="思源黑体"/>
                <a:ea typeface="思源黑体"/>
              </a:rPr>
              <a:t>CHAPTER 04 · </a:t>
            </a:r>
            <a:r>
              <a:rPr lang="zh-CN" sz="1050" b="1" spc="225">
                <a:solidFill>
                  <a:srgbClr val="22D3EE"/>
                </a:solidFill>
                <a:latin typeface="思源黑体"/>
                <a:ea typeface="思源黑体"/>
              </a:rPr>
              <a:t>守住底线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571500" y="1343025"/>
            <a:ext cx="110490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>
                <a:solidFill>
                  <a:srgbClr val="FFFFFF"/>
                </a:solidFill>
                <a:latin typeface="思源黑体"/>
                <a:ea typeface="思源黑体"/>
              </a:rPr>
              <a:t>上线前</a:t>
            </a:r>
            <a:r>
              <a:rPr lang="en-US" sz="2850" b="1">
                <a:solidFill>
                  <a:srgbClr val="FFFFFF"/>
                </a:solidFill>
                <a:latin typeface="思源黑体"/>
                <a:ea typeface="思源黑体"/>
              </a:rPr>
              <a:t> 10 </a:t>
            </a:r>
            <a:r>
              <a:rPr lang="zh-CN" sz="2850" b="1">
                <a:solidFill>
                  <a:srgbClr val="FFFFFF"/>
                </a:solidFill>
                <a:latin typeface="思源黑体"/>
                <a:ea typeface="思源黑体"/>
              </a:rPr>
              <a:t>问：问完了再上生产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571500" y="1990725"/>
            <a:ext cx="5410200" cy="1943100"/>
          </a:xfrm>
          <a:prstGeom prst="roundRect">
            <a:avLst>
              <a:gd name="adj" fmla="val 5882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DCE7F5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781050" y="2162175"/>
            <a:ext cx="4991100" cy="16002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①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有终止策略吗？</a:t>
            </a:r>
            <a:endParaRPr/>
          </a:p>
          <a:p>
            <a:pPr>
              <a:lnSpc>
                <a:spcPct val="200000"/>
              </a:lnSpc>
            </a:pP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②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每步有验证门吗？</a:t>
            </a:r>
            <a:endParaRPr/>
          </a:p>
          <a:p>
            <a:pPr>
              <a:lnSpc>
                <a:spcPct val="200000"/>
              </a:lnSpc>
            </a:pP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③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上下文会不会失忆？</a:t>
            </a:r>
            <a:endParaRPr/>
          </a:p>
          <a:p>
            <a:pPr>
              <a:lnSpc>
                <a:spcPct val="200000"/>
              </a:lnSpc>
            </a:pP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④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有评测集吗？</a:t>
            </a:r>
            <a:endParaRPr/>
          </a:p>
          <a:p>
            <a:pPr>
              <a:lnSpc>
                <a:spcPct val="200000"/>
              </a:lnSpc>
            </a:pP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⑤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评测进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CI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了吗？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6210300" y="1990725"/>
            <a:ext cx="5410200" cy="1943100"/>
          </a:xfrm>
          <a:prstGeom prst="roundRect">
            <a:avLst>
              <a:gd name="adj" fmla="val 5882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DCE7F5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6419850" y="2162175"/>
            <a:ext cx="4991100" cy="16002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⑥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能追踪到工具层吗？</a:t>
            </a:r>
            <a:endParaRPr/>
          </a:p>
          <a:p>
            <a:pPr>
              <a:lnSpc>
                <a:spcPct val="200000"/>
              </a:lnSpc>
            </a:pP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⑦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失败会回流测试集吗？</a:t>
            </a:r>
            <a:endParaRPr/>
          </a:p>
          <a:p>
            <a:pPr>
              <a:lnSpc>
                <a:spcPct val="200000"/>
              </a:lnSpc>
            </a:pP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⑧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权限收窄了吗？</a:t>
            </a:r>
            <a:endParaRPr/>
          </a:p>
          <a:p>
            <a:pPr>
              <a:lnSpc>
                <a:spcPct val="200000"/>
              </a:lnSpc>
            </a:pP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⑨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有审计日志吗？</a:t>
            </a:r>
            <a:endParaRPr/>
          </a:p>
          <a:p>
            <a:pPr>
              <a:lnSpc>
                <a:spcPct val="200000"/>
              </a:lnSpc>
            </a:pP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⑩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出问题能回滚吗？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571500" y="4124325"/>
            <a:ext cx="11049000" cy="952500"/>
          </a:xfrm>
          <a:prstGeom prst="roundRect">
            <a:avLst>
              <a:gd name="adj" fmla="val 14000"/>
            </a:avLst>
          </a:prstGeom>
          <a:solidFill>
            <a:srgbClr val="FF9F1C">
              <a:alpha val="12000"/>
            </a:srgbClr>
          </a:solidFill>
          <a:ln w="12700">
            <a:solidFill>
              <a:srgbClr val="FF9F1C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819150" y="4314825"/>
            <a:ext cx="10553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9F1C"/>
                </a:solidFill>
                <a:latin typeface="思源黑体"/>
                <a:ea typeface="思源黑体"/>
              </a:rPr>
              <a:t>动手练习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819150" y="4591050"/>
            <a:ext cx="10553700" cy="2952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给你上一讲写的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Agent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补三样东西：一个验证门、一条失败回流、一个指标进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CI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，跑通后截图。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571500" y="5210175"/>
            <a:ext cx="11049000" cy="609600"/>
          </a:xfrm>
          <a:prstGeom prst="roundRect">
            <a:avLst>
              <a:gd name="adj" fmla="val 18750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800100" y="5362575"/>
            <a:ext cx="10591800" cy="3048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自测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3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题：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Harness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六大组件是什么？评测为什么难？安全三层防线是哪三层？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2026-08-13T21:35:19Z</dcterms:created>
  <dcterms:modified xsi:type="dcterms:W3CDTF">2026-08-13T21:35:19Z</dcterms:modified>
</cp:coreProperties>
</file>