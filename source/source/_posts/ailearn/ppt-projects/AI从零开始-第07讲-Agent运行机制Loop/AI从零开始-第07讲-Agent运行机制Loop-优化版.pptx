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13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presProps" Target="presProps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10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4" Type="http://schemas.openxmlformats.org/officeDocument/2006/relationships/image" Target="media/image4.svg" /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7.svg" /><Relationship Id="rId2" Type="http://schemas.openxmlformats.org/officeDocument/2006/relationships/image" Target="media/image6.svg" /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9.svg" /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12.svg" /><Relationship Id="rId2" Type="http://schemas.openxmlformats.org/officeDocument/2006/relationships/image" Target="media/image11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5.svg" /><Relationship Id="rId2" Type="http://schemas.openxmlformats.org/officeDocument/2006/relationships/image" Target="media/image14.svg" /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7.svg" /><Relationship Id="rId1" Type="http://schemas.openxmlformats.org/officeDocument/2006/relationships/image" Target="media/image16.svg" /><Relationship Id="rId3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4" Type="http://schemas.openxmlformats.org/officeDocument/2006/relationships/image" Target="media/image21.svg" /><Relationship Id="rId3" Type="http://schemas.openxmlformats.org/officeDocument/2006/relationships/image" Target="media/image20.svg" /><Relationship Id="rId5" Type="http://schemas.openxmlformats.org/officeDocument/2006/relationships/image" Target="media/image22.svg" /><Relationship Id="rId2" Type="http://schemas.openxmlformats.org/officeDocument/2006/relationships/image" Target="media/image19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7 讲&lt;/Text&gt;&#10;    &lt;Text style={{ fontSize: 52, color: '#FFFFFF', fontWeight: 'bold', lineHeight: 1.25, marginBottom: 20 }}&gt;&#10;      Agent Loop&lt;br /&gt;Agent 是怎么跑起来的&#10;    &lt;/Text&gt;&#10;    &lt;Box style={{ width: 80, height: 4, background: '#FF9F1C', marginBottom: 28 }} /&gt;&#10;    &lt;Text style={{ fontSize: 22, color: '#DCE7F5', lineHeight: 1.6 }}&gt;&#10;      接收指令 → 思考 → 执行 → 观察 → 判断，一个循环跑到底&#10;    &lt;/Text&gt;&#10;    &lt;Text style={{ fontSize: 15, color: '#8FA4B8', marginTop: 36 }}&gt;&#10;      学完能独立写出 50 行最简 Agent Loop，看懂框架背后的循环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7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Agent Loop</a:t>
            </a:r>
            <a:endParaRPr/>
          </a:p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Agent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是怎么跑起来的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接收指令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思考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执行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观察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判断，一个循环跑到底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学完能独立写出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50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行最简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Agent Loop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，看懂框架背后的循环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AGENT LOOP&lt;/Text&gt;&#10;      &lt;Text style={{ fontSize: 34, color: '#16263F', fontWeight: 'bold', lineHeight: 1.35, marginBottom: 24 }}&gt;&#10;        Agent 的心跳&lt;br /&gt;就是这四步循环&#10;      &lt;/Text&gt;&#10;      &lt;Box style={{ width: 56, height: 4, background: '#22D3EE', marginBottom: 24 }} /&gt;&#10;      &lt;Text style={{ fontSize: 16, color: '#5B6B7A', lineHeight: 1.7 }}&gt;&#10;        任何 Agent，无论多复杂，本质都是同一个循环：&lt;span style={{ fontWeight: 'bold', color: '#16263F' }}&gt;接收指令 → 思考 → 执行 → 观察 → 判断&lt;/span&gt;，直到目标达成或达到终止条件。&#10;      &lt;/Text&gt;&#10;      &lt;Text style={{ fontSize: 15, color: '#5B6B7A', lineHeight: 1.7, marginTop: 16 }}&gt;&#10;        实现方式分三种流派：确定性循环、SDK Loop、多 Agent 协作——下一页细讲。&#10;      &lt;/Text&gt;&#10;    &lt;/Box&gt;&#10;&#10;    &lt;Box style={{ flex: 1, flexDirection: 'column', gap: 18, justifyContent: 'center' }}&gt;&#10;      &lt;Box style={{ flexDirection: 'row', gap: 16 }}&gt;&#10;        {[&#10;          { n: '思考', icon: 'brain', d: 'LLM 推理下一步' },&#10;          { n: '执行', icon: 'wrench', d: '调用工具/生成' },&#10;          { n: '观察', icon: 'eye', d: '读取工具结果' },&#10;          { n: '判断', icon: 'check-circle', d: '是否继续循环' },&#10;        ].map((item, idx) =&gt; (&#10;          &lt;Box key={idx} style={{ flex: 1, background: '#FFFFFF', borderRadius: 12, padding: '22px 18px', boxShadow: '0 2px 12px rgba(22,38,63,0.06)', alignItems: 'center' }}&gt;&#10;            &lt;Box style={{ width: 52, height: 52, borderRadius: 26, background: '#EAF2FB', justifyContent: 'center', alignItems: 'center', marginBottom: 12 }}&gt;&#10;              &lt;FAIcon name={item.icon} style={{ fill: '#22D3EE', width: 26, height: 26 }} /&gt;&#10;            &lt;/Box&gt;&#10;            &lt;Text style={{ fontSize: 20, fontWeight: 'bold', color: '#16263F', marginBottom: 6 }}&gt;{item.n}&lt;/Text&gt;&#10;            &lt;Text style={{ fontSize: 13, color: '#5B6B7A', textAlign: 'center' }}&gt;{item.d}&lt;/Text&gt;&#10;          &lt;/Box&gt;&#10;        ))}&#10;      &lt;/Box&gt;&#10;&#10;      &lt;Box style={{ background: '#16263F', borderRadius: 12, padding: '18px 24px' }}&gt;&#10;        &lt;Text style={{ fontSize: 15, color: '#DCE7F5', lineHeight: 1.7 }}&gt;&#10;          &lt;span style={{ color: '#FF9F1C', fontWeight: 'bold' }}&gt;循环的起点&lt;/span&gt;是「接收指令」：用户一句需求进入循环，每转一圈离目标近一步；&lt;span style={{ color: '#22D3EE', fontWeight: 'bold' }}&gt;判断&lt;/span&gt;决定是回到思考还是终止。&#10;        &lt;/Text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7 讲&lt;/Text&gt;&#10;    &lt;Text style={{ fontSize: 14, color: '#5B6B7A' }}&gt;02 / 0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AGENT LOOP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的心跳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就是这四步循环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任何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Agent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，无论多复杂，本质都是同一个循环：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接收指令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思考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执行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观察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判断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，直到目标达成或达到终止条件。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3295650"/>
            <a:ext cx="3429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实现方式分三种流派：确定性循环、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SDK Loop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、多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Agent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协作——下一页细讲。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381500" y="2143125"/>
            <a:ext cx="16954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4981575" y="23526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05400" y="2476500"/>
            <a:ext cx="247650" cy="247650"/>
          </a:xfrm>
          <a:prstGeom prst="rect">
            <a:avLst/>
          </a:prstGeom>
          <a:ln/>
        </p:spPr>
      </p:pic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038725" y="2962275"/>
            <a:ext cx="390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思考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772025" y="3248025"/>
            <a:ext cx="914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LLM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推理下一步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229350" y="2143125"/>
            <a:ext cx="16954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829425" y="23526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53250" y="2476500"/>
            <a:ext cx="247650" cy="2476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86575" y="2962275"/>
            <a:ext cx="390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执行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677025" y="3248025"/>
            <a:ext cx="8001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调用工具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/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生成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8077200" y="2143125"/>
            <a:ext cx="16954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8677275" y="23526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801100" y="2476500"/>
            <a:ext cx="247650" cy="247650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34425" y="2962275"/>
            <a:ext cx="390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观察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543925" y="3248025"/>
            <a:ext cx="76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读取工具结果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9925050" y="2143125"/>
            <a:ext cx="16954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10525125" y="2352675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648950" y="2476500"/>
            <a:ext cx="247650" cy="24765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582275" y="2962275"/>
            <a:ext cx="390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判断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391775" y="3248025"/>
            <a:ext cx="76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是否继续循环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381500" y="3781425"/>
            <a:ext cx="7239000" cy="933450"/>
          </a:xfrm>
          <a:prstGeom prst="roundRect">
            <a:avLst>
              <a:gd name="adj" fmla="val 12245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610100" y="3952875"/>
            <a:ext cx="678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循环的起点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是「接收指令」：用户一句需求进入循环，每转一圈离目标近一步；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判断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决定是回到思考还是终止。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7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09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THREE FLAVORS&lt;/Text&gt;&#10;    &lt;Text style={{ fontSize: 34, color: '#16263F', fontWeight: 'bold', marginBottom: 24 }}&gt;三种流派：从「写死」到「放飞」，复杂度递增&lt;/Text&gt;&#10;    &lt;Box style={{ width: 56, height: 4, background: '#22D3EE', marginBottom: 30 }} /&gt;&#10;&#10;    &lt;Box style={{ flexDirection: 'row', gap: 24, flex: 1 }}&gt;&#10;      &lt;Box style={{ flex: 1, background: '#FFFFFF', borderRadius: 14, padding: '28px 26px', boxShadow: '0 2px 12px rgba(22,38,63,0.06)' }}&gt;&#10;        &lt;Box style={{ flexDirection: 'row', alignItems: 'center', gap: 12, marginBottom: 14 }}&gt;&#10;          &lt;FAIcon name='cog' style={{ fill: '#22D3EE', width: 28, height: 28 }} /&gt;&#10;          &lt;Text style={{ fontSize: 20, fontWeight: 'bold', color: '#16263F' }}&gt;确定性循环&lt;/Text&gt;&#10;        &lt;/Box&gt;&#10;        &lt;Text style={{ fontSize: 15, color: '#5B6B7A', lineHeight: 1.8 }}&gt;&#10;          流程写死在代码里，每一步都可预测、可复现。&lt;br /&gt;&#10;          适合固定流程，改需求要改代码。&#10;        &lt;/Text&gt;&#10;        &lt;Box style={{ marginTop: 'auto', paddingTop: 16 }}&gt;&#10;          &lt;Text style={{ fontSize: 14, color: '#FF9F1C', fontWeight: 'bold' }}&gt;优点：稳定可控&lt;/Text&gt;&#10;        &lt;/Box&gt;&#10;      &lt;/Box&gt;&#10;&#10;      &lt;Box style={{ flex: 1, background: '#16263F', borderRadius: 14, padding: '28px 26px' }}&gt;&#10;        &lt;Box style={{ flexDirection: 'row', alignItems: 'center', gap: 12, marginBottom: 14 }}&gt;&#10;          &lt;FAIcon name='layer-group' style={{ fill: '#FF9F1C', width: 28, height: 28 }} /&gt;&#10;          &lt;Text style={{ fontSize: 20, fontWeight: 'bold', color: '#FFFFFF' }}&gt;SDK Loop（主流）&lt;/Text&gt;&#10;        &lt;/Box&gt;&#10;        &lt;Text style={{ fontSize: 15, color: '#DCE7F5', lineHeight: 1.8 }}&gt;&#10;          用 LangChain / Claude Agent SDK 的现成循环，模型自主决定每步。&lt;br /&gt;&#10;          灵活 + 工具生态齐全，是工程首选。&#10;        &lt;/Text&gt;&#10;        &lt;Box style={{ marginTop: 'auto', paddingTop: 16 }}&gt;&#10;          &lt;Text style={{ fontSize: 14, color: '#22D3EE', fontWeight: 'bold' }}&gt;优点：灵活 + 生态&lt;/Text&gt;&#10;        &lt;/Box&gt;&#10;      &lt;/Box&gt;&#10;&#10;      &lt;Box style={{ flex: 1, background: '#FFFFFF', borderRadius: 14, padding: '28px 26px', boxShadow: '0 2px 12px rgba(22,38,63,0.06)' }}&gt;&#10;        &lt;Box style={{ flexDirection: 'row', alignItems: 'center', gap: 12, marginBottom: 14 }}&gt;&#10;          &lt;FAIcon name='users' style={{ fill: '#22D3EE', width: 28, height: 28 }} /&gt;&#10;          &lt;Text style={{ fontSize: 20, fontWeight: 'bold', color: '#16263F' }}&gt;多 Agent 协作&lt;/Text&gt;&#10;        &lt;/Box&gt;&#10;        &lt;Text style={{ fontSize: 15, color: '#5B6B7A', lineHeight: 1.8 }}&gt;&#10;          多个 Agent 分工：规划者、执行者、评审者相互配合。&lt;br /&gt;&#10;          能力最强，但调试与成本翻倍。&#10;        &lt;/Text&gt;&#10;        &lt;Box style={{ marginTop: 'auto', paddingTop: 16 }}&gt;&#10;          &lt;Text style={{ fontSize: 14, color: '#FF9F1C', fontWeight: 'bold' }}&gt;优点：能力上限高&lt;/Text&gt;&#10;        &lt;/Box&gt;&#10;      &lt;/Box&gt;&#10;    &lt;/Box&gt;&#10;&#10;    &lt;Box style={{ marginTop: 22, background: '#DCE7F5', borderRadius: 10, padding: '14px 22px' }}&gt;&#10;      &lt;Text style={{ fontSize: 16, color: '#16263F', fontWeight: 'bold' }}&gt;&#10;        选型心法：先确定性跑通，再上 SDK Loop，只有确需多角色分工才上多 Agent&#10;      &lt;/Text&gt;&#10;    &lt;/Box&gt;&#10;  &lt;/Box&gt;&#10;  &lt;Box style={{ position: 'absolute', bottom: 14, left: 60, width: 1160, flexDirection: 'row', justifyContent: 'space-between' }}&gt;&#10;    &lt;Text style={{ fontSize: 14, color: '#5B6B7A' }}&gt;AI 从零开始 · 第 7 讲&lt;/Text&gt;&#10;    &lt;Text style={{ fontSize: 14, color: '#5B6B7A' }}&gt;03 / 0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THREE FLAVORS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三种流派：从「写死」到「放飞」，复杂度递增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571500" y="1371600"/>
            <a:ext cx="3533775" cy="46291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638300"/>
            <a:ext cx="266700" cy="26670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200150" y="165735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确定性循环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2038350"/>
            <a:ext cx="30384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流程写死在代码里，每一步都可预测、可复现。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适合固定流程，改需求要改代码。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19150" y="557212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优点：稳定可控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333875" y="1371600"/>
            <a:ext cx="3524250" cy="4629150"/>
          </a:xfrm>
          <a:prstGeom prst="roundRect">
            <a:avLst>
              <a:gd name="adj" fmla="val 3784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638300"/>
            <a:ext cx="266700" cy="266700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962525" y="1657350"/>
            <a:ext cx="170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SDK Loop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（主流）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581525" y="2038350"/>
            <a:ext cx="30289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用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LangChain / Claude Agent SDK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的现成循环，模型自主决定每步。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灵活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工具生态齐全，是工程首选。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581525" y="5572125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优点：灵活</a:t>
            </a: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 + </a:t>
            </a: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生态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8086725" y="1371600"/>
            <a:ext cx="3533775" cy="462915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34375" y="1638300"/>
            <a:ext cx="266700" cy="26670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715375" y="1657350"/>
            <a:ext cx="1228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多</a:t>
            </a: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协作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34375" y="2038350"/>
            <a:ext cx="30384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多个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Agent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分工：规划者、执行者、评审者相互配合。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能力最强，但调试与成本翻倍。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334375" y="557212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优点：能力上限高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选型心法：先确定性跑通，再上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SDK Loop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，只有确需多角色分工才上多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7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7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MINIMAL LOOP&lt;/Text&gt;&#10;    &lt;Text style={{ fontSize: 34, color: '#16263F', fontWeight: 'bold', marginBottom: 24 }}&gt;50 行实现最简 Agent Loop：看懂循环的骨架&lt;/Text&gt;&#10;    &lt;Box style={{ width: 56, height: 4, background: '#22D3EE', marginBottom: 24 }} /&gt;&#10;&#10;    &lt;Box style={{ flexDirection: 'row', gap: 28, flex: 1 }}&gt;&#10;      &lt;Box style={{ flex: 2, background: '#16263F', borderRadius: 12, padding: '18px 18px' }}&gt;&#10;        &lt;CodeBlock&#10;          code={`# 工具注册表：名称 -&gt; 可执行函数&#10;TOOLS = {&#10;    &quot;get_weather&quot;: lambda city: f&quot;{city}: 晴, 22°C&quot;,&#10;    &quot;calculator&quot;:  lambda expr: eval(expr),&#10;}&#10;&#10;def agent_loop(task, max_steps=10):&#10;    messages = [{&quot;role&quot;: &quot;user&quot;, &quot;content&quot;: task}]&#10;    for step in range(max_steps):            # 硬限制：防死循环&#10;        reply = llm(messages, tools=TOOLS)   # 思考：LLM 决定&#10;        if reply.stop_reason == &quot;end_turn&quot;:  # 判断：LLM 自决终止&#10;            return reply.text&#10;        for call in reply.tool_uses:         # 执行 + 观察&#10;            result = TOOLS[call.name](**call.input)&#10;            messages.append({&#10;                &quot;role&quot;: &quot;tool_result&quot;,&#10;                &quot;tool_use_id&quot;: call.id,&#10;                &quot;content&quot;: str(result),&#10;            })&#10;    return &quot;达到最大步数，停止&quot;               # 兜底终止`}&#10;          language='python'&#10;          width={700}&#10;          fontSize={13}&#10;        /&gt;&#10;      &lt;/Box&gt;&#10;&#10;      &lt;Box style={{ flex: 1, flexDirection: 'column', gap: 16 }}&gt;&#10;        &lt;Box style={{ background: '#FFFFFF', borderRadius: 12, padding: '20px 22px', boxShadow: '0 2px 12px rgba(22,38,63,0.06)' }}&gt;&#10;          &lt;Box style={{ flexDirection: 'row', alignItems: 'center', gap: 10, marginBottom: 10 }}&gt;&#10;            &lt;FAIcon name='stop-circle' style={{ fill: '#FF9F1C', width: 22, height: 22 }} /&gt;&#10;            &lt;Text style={{ fontSize: 19, fontWeight: 'bold', color: '#16263F' }}&gt;终止策略（两种）&lt;/Text&gt;&#10;          &lt;/Box&gt;&#10;          &lt;Text style={{ fontSize: 15, color: '#5B6B7A', lineHeight: 1.8 }}&gt;&#10;            · 硬限制：max_steps 上限，兜底防死循环&lt;br /&gt;&#10;            · LLM 自决：stop_reason 判断模型自己说「做完了」&#10;          &lt;/Text&gt;&#10;        &lt;/Box&gt;&#10;&#10;        &lt;Box style={{ background: '#FFFFFF', borderRadius: 12, padding: '20px 22px', boxShadow: '0 2px 12px rgba(22,38,63,0.06)' }}&gt;&#10;          &lt;Box style={{ flexDirection: 'row', alignItems: 'center', gap: 10, marginBottom: 10 }}&gt;&#10;            &lt;FAIcon name='puzzle-piece' style={{ fill: '#22D3EE', width: 22, height: 22 }} /&gt;&#10;            &lt;Text style={{ fontSize: 19, fontWeight: 'bold', color: '#16263F' }}&gt;工具注册表&lt;/Text&gt;&#10;          &lt;/Box&gt;&#10;          &lt;Text style={{ fontSize: 15, color: '#5B6B7A', lineHeight: 1.8 }}&gt;&#10;            TOOLS 字典 = 白名单：LLM 只能调用注册过的工具，能力边界由你定义。&#10;          &lt;/Text&gt;&#10;        &lt;/Box&gt;&#10;&#10;        &lt;Box style={{ background: '#DCE7F5', borderRadius: 10, padding: '14px 20px' }}&gt;&#10;          &lt;Text style={{ fontSize: 15, color: '#16263F', fontWeight: 'bold' }}&gt;&#10;            这 50 行就是所有 Agent 框架的「最小公分母」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7 讲&lt;/Text&gt;&#10;    &lt;Text style={{ fontSize: 14, color: '#5B6B7A' }}&gt;04 / 0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MINIMAL LOOP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50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行实现最简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Loop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：看懂循环的骨架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571500" y="1314450"/>
            <a:ext cx="7191375" cy="5353050"/>
          </a:xfrm>
          <a:prstGeom prst="roundRect">
            <a:avLst>
              <a:gd name="adj" fmla="val 2135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8029575" y="1314450"/>
            <a:ext cx="3590925" cy="1628775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39125" y="1514475"/>
            <a:ext cx="209550" cy="209550"/>
          </a:xfrm>
          <a:prstGeom prst="rect">
            <a:avLst/>
          </a:prstGeom>
          <a:ln/>
        </p:spPr>
      </p:pic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543925" y="1504950"/>
            <a:ext cx="147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终止策略（两种）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239125" y="1819275"/>
            <a:ext cx="31718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硬限制：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max_steps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上限，兜底防死循环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· LLM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自决：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stop_reason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判断模型自己说「做完了」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8029575" y="3095625"/>
            <a:ext cx="3590925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39125" y="3295650"/>
            <a:ext cx="209550" cy="20955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543925" y="3286125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工具注册表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39125" y="3600450"/>
            <a:ext cx="31718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TOOLS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字典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=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白名单：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LLM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只能调用注册过的工具，能力边界由你定义。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8029575" y="4562475"/>
            <a:ext cx="3590925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220075" y="4695825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这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 50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行就是所有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框架的「最小公分母」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42950" y="1485900"/>
            <a:ext cx="6848475" cy="4429125"/>
          </a:xfrm>
          <a:prstGeom prst="roundRect">
            <a:avLst>
              <a:gd name="adj" fmla="val 1720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84" name=""/>
          <p:cNvSpPr txBox="1"/>
          <p:nvPr/>
        </p:nvSpPr>
        <p:spPr>
          <a:xfrm rot="0" flipH="0" flipV="0">
            <a:off x="895350" y="1619250"/>
            <a:ext cx="6543675" cy="416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工具注册表：名称 -&gt; 可执行函数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TOOLS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"get_weather"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lambda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city: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{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city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}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: 晴, 22°C"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"calculator"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lambda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expr: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eval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(expr),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agent_loop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(task, max_steps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messages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[{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"role"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"user"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"content"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task}]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step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range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(max_steps):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硬限制：防死循环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reply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llm(messages, </a:t>
            </a:r>
            <a:r>
              <a:rPr sz="975">
                <a:solidFill>
                  <a:srgbClr val="E36209"/>
                </a:solidFill>
                <a:latin typeface="Menlo"/>
                <a:ea typeface="Menlo"/>
              </a:rPr>
              <a:t>tools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TOOLS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思考：LLM 决定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reply.stop_reason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"end_turn"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判断：LLM 自决终止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reply.text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call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reply.tool_uses: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执行 + 观察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result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TOOLS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[call.name](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**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call.input)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messages.append({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"role"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"tool_result"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"tool_use_id"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call.id,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   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"content"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str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(result),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})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75">
                <a:solidFill>
                  <a:srgbClr val="032F62"/>
                </a:solidFill>
                <a:latin typeface="Menlo"/>
                <a:ea typeface="Menlo"/>
              </a:rPr>
              <a:t>"达到最大步数，停止"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   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兜底终止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7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7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MESSAGE LIFECYCLE&lt;/Text&gt;&#10;    &lt;Text style={{ fontSize: 34, color: '#16263F', fontWeight: 'bold', marginBottom: 24 }}&gt;消息生命周期：Tool Use 与 Tool Result 交替推进&lt;/Text&gt;&#10;    &lt;Box style={{ width: 56, height: 4, background: '#22D3EE', marginBottom: 24 }} /&gt;&#10;&#10;    &lt;Box style={{ background: '#FFFFFF', borderRadius: 14, padding: '22px 26px', boxShadow: '0 2px 12px rgba(22,38,63,0.06)', marginBottom: 20 }}&gt;&#10;      &lt;Text style={{ fontSize: 14, color: '#5B6B7A', marginBottom: 14 }}&gt;一轮循环中，消息数组像对话一样交替增长：&lt;/Text&gt;&#10;      &lt;Box style={{ flexDirection: 'row', alignItems: 'center', gap: 0 }}&gt;&#10;        {[&#10;          { t: 'user', d: '帮我查天气' },&#10;          { t: 'tool_use', d: '调用 get_weather' },&#10;          { t: 'tool_result', d: '北京: 晴 22°C' },&#10;          { t: 'tool_use', d: '调用 calculator' },&#10;          { t: 'final', d: '今天晴，适合出行' },&#10;        ].map((item, idx) =&gt; (&#10;          &lt;Box key={idx} style={{ flexDirection: 'row', alignItems: 'center', flex: 1 }}&gt;&#10;            &lt;Box style={{ flex: 1, background: item.t === 'tool_use' ? '#16263F' : item.t === 'final' ? '#EAF2FB' : '#F5F7FA', border: '1px solid #E3EAF2', borderRadius: 10, padding: '14px 12px', alignItems: 'center' }}&gt;&#10;              &lt;Text style={{ fontSize: 12, color: item.t === 'tool_use' ? '#FF9F1C' : '#22D3EE', fontWeight: 'bold', marginBottom: 4 }}&gt;{item.t}&lt;/Text&gt;&#10;              &lt;Text style={{ fontSize: 13, color: item.t === 'tool_use' ? '#DCE7F5' : '#1B2733', textAlign: 'center' }}&gt;{item.d}&lt;/Text&gt;&#10;            &lt;/Box&gt;&#10;            {idx &lt; 4 &amp;&amp; (&#10;              &lt;Box style={{ width: 22, justifyContent: 'center', alignItems: 'center' }}&gt;&#10;                &lt;FAIcon name='arrow-right' style={{ fill: '#FF9F1C', width: 16, height: 16 }} /&gt;&#10;              &lt;/Box&gt;&#10;            )}&#10;          &lt;/Box&gt;&#10;        ))}&#10;      &lt;/Box&gt;&#10;    &lt;/Box&gt;&#10;&#10;    &lt;Box style={{ flexDirection: 'row', gap: 24, flex: 1 }}&gt;&#10;      &lt;Box style={{ flex: 1, background: '#FFFFFF', borderRadius: 12, padding: '22px 24px', boxShadow: '0 2px 12px rgba(22,38,63,0.06)' }}&gt;&#10;        &lt;Box style={{ flexDirection: 'row', alignItems: 'center', gap: 10, marginBottom: 12 }}&gt;&#10;          &lt;FAIcon name='clone' style={{ fill: '#22D3EE', width: 24, height: 24 }} /&gt;&#10;          &lt;Text style={{ fontSize: 19, fontWeight: 'bold', color: '#16263F' }}&gt;并行工具调用&lt;/Text&gt;&#10;        &lt;/Box&gt;&#10;        &lt;Text style={{ fontSize: 15, color: '#5B6B7A', lineHeight: 1.8 }}&gt;&#10;          一次可返回多个 tool_use，框架并发执行、结果聚合后再进入下一轮——省时省 token。&#10;        &lt;/Text&gt;&#10;      &lt;/Box&gt;&#10;&#10;      &lt;Box style={{ flex: 1, background: '#16263F', borderRadius: 12, padding: '22px 24px' }}&gt;&#10;        &lt;Box style={{ flexDirection: 'row', alignItems: 'center', gap: 10, marginBottom: 12 }}&gt;&#10;          &lt;FAIcon name='plug' style={{ fill: '#FF9F1C', width: 24, height: 24 }} /&gt;&#10;          &lt;Text style={{ fontSize: 19, fontWeight: 'bold', color: '#FFFFFF' }}&gt;Hooks 拦截&lt;/Text&gt;&#10;        &lt;/Box&gt;&#10;        &lt;Text style={{ fontSize: 15, color: '#DCE7F5', lineHeight: 1.8 }}&gt;&#10;          在消息节点前后插入钩子（PreToolUse / PostToolUse），不改核心循环即可扩展日志、权限、缓存。&#10;        &lt;/Text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7 讲&lt;/Text&gt;&#10;    &lt;Text style={{ fontSize: 14, color: '#5B6B7A' }}&gt;05 / 0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MESSAGE LIFECYCLE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消息生命周期：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Tool Use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与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Tool Result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交替推进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571500" y="1314450"/>
            <a:ext cx="11049000" cy="1314450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19150" y="1524000"/>
            <a:ext cx="1055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一轮循环中，消息数组像对话一样交替增长：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19150" y="1819275"/>
            <a:ext cx="1905000" cy="600075"/>
          </a:xfrm>
          <a:prstGeom prst="roundRect">
            <a:avLst>
              <a:gd name="adj" fmla="val 15873"/>
            </a:avLst>
          </a:prstGeom>
          <a:solidFill>
            <a:srgbClr val="F5F7FA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647825" y="195262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思源黑体"/>
                <a:ea typeface="思源黑体"/>
              </a:rPr>
              <a:t>user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457325" y="2133600"/>
            <a:ext cx="638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帮我查天气</a:t>
            </a:r>
            <a:endParaRPr/>
          </a:p>
        </p:txBody>
      </p:sp>
      <p:pic>
        <p:nvPicPr>
          <p:cNvPr id="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752725" y="2047875"/>
            <a:ext cx="152400" cy="152400"/>
          </a:xfrm>
          <a:prstGeom prst="rect">
            <a:avLst/>
          </a:prstGeom>
          <a:ln/>
        </p:spPr>
      </p:pic>
      <p:sp>
        <p:nvSpPr>
          <p:cNvPr id="98" name=""/>
          <p:cNvSpPr/>
          <p:nvPr/>
        </p:nvSpPr>
        <p:spPr>
          <a:xfrm rot="0" flipH="0" flipV="0">
            <a:off x="2933700" y="1819275"/>
            <a:ext cx="1895475" cy="600075"/>
          </a:xfrm>
          <a:prstGeom prst="roundRect">
            <a:avLst>
              <a:gd name="adj" fmla="val 15873"/>
            </a:avLst>
          </a:prstGeom>
          <a:solidFill>
            <a:srgbClr val="16263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648075" y="19526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9F1C"/>
                </a:solidFill>
                <a:latin typeface="思源黑体"/>
                <a:ea typeface="思源黑体"/>
              </a:rPr>
              <a:t>tool_use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400425" y="2133600"/>
            <a:ext cx="971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调用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get_weather</a:t>
            </a:r>
            <a:endParaRPr/>
          </a:p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57750" y="2047875"/>
            <a:ext cx="152400" cy="152400"/>
          </a:xfrm>
          <a:prstGeom prst="rect">
            <a:avLst/>
          </a:prstGeom>
          <a:ln/>
        </p:spPr>
      </p:pic>
      <p:sp>
        <p:nvSpPr>
          <p:cNvPr id="102" name=""/>
          <p:cNvSpPr/>
          <p:nvPr/>
        </p:nvSpPr>
        <p:spPr>
          <a:xfrm rot="0" flipH="0" flipV="0">
            <a:off x="5038725" y="1819275"/>
            <a:ext cx="1905000" cy="600075"/>
          </a:xfrm>
          <a:prstGeom prst="roundRect">
            <a:avLst>
              <a:gd name="adj" fmla="val 15873"/>
            </a:avLst>
          </a:prstGeom>
          <a:solidFill>
            <a:srgbClr val="F5F7FA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695950" y="19526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思源黑体"/>
                <a:ea typeface="思源黑体"/>
              </a:rPr>
              <a:t>tool_result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610225" y="2133600"/>
            <a:ext cx="762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北京</a:t>
            </a:r>
            <a:r>
              <a:rPr lang="en-US" sz="975">
                <a:solidFill>
                  <a:srgbClr val="1B2733"/>
                </a:solidFill>
                <a:latin typeface="思源黑体"/>
                <a:ea typeface="思源黑体"/>
              </a:rPr>
              <a:t>: </a:t>
            </a: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晴</a:t>
            </a:r>
            <a:r>
              <a:rPr lang="en-US" sz="975">
                <a:solidFill>
                  <a:srgbClr val="1B2733"/>
                </a:solidFill>
                <a:latin typeface="思源黑体"/>
                <a:ea typeface="思源黑体"/>
              </a:rPr>
              <a:t> 22°C</a:t>
            </a:r>
            <a:endParaRPr/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72300" y="2047875"/>
            <a:ext cx="152400" cy="152400"/>
          </a:xfrm>
          <a:prstGeom prst="rect">
            <a:avLst/>
          </a:prstGeom>
          <a:ln/>
        </p:spPr>
      </p:pic>
      <p:sp>
        <p:nvSpPr>
          <p:cNvPr id="106" name=""/>
          <p:cNvSpPr/>
          <p:nvPr/>
        </p:nvSpPr>
        <p:spPr>
          <a:xfrm rot="0" flipH="0" flipV="0">
            <a:off x="7153275" y="1819275"/>
            <a:ext cx="1895475" cy="600075"/>
          </a:xfrm>
          <a:prstGeom prst="roundRect">
            <a:avLst>
              <a:gd name="adj" fmla="val 15873"/>
            </a:avLst>
          </a:prstGeom>
          <a:solidFill>
            <a:srgbClr val="16263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867650" y="19526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9F1C"/>
                </a:solidFill>
                <a:latin typeface="思源黑体"/>
                <a:ea typeface="思源黑体"/>
              </a:rPr>
              <a:t>tool_use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696200" y="2133600"/>
            <a:ext cx="8191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DCE7F5"/>
                </a:solidFill>
                <a:latin typeface="思源黑体"/>
                <a:ea typeface="思源黑体"/>
              </a:rPr>
              <a:t>调用</a:t>
            </a:r>
            <a:r>
              <a:rPr lang="en-US" sz="975">
                <a:solidFill>
                  <a:srgbClr val="DCE7F5"/>
                </a:solidFill>
                <a:latin typeface="思源黑体"/>
                <a:ea typeface="思源黑体"/>
              </a:rPr>
              <a:t> calculator</a:t>
            </a:r>
            <a:endParaRPr/>
          </a:p>
        </p:txBody>
      </p:sp>
      <p:pic>
        <p:nvPicPr>
          <p:cNvPr id="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077325" y="2047875"/>
            <a:ext cx="152400" cy="152400"/>
          </a:xfrm>
          <a:prstGeom prst="rect">
            <a:avLst/>
          </a:prstGeom>
          <a:ln/>
        </p:spPr>
      </p:pic>
      <p:sp>
        <p:nvSpPr>
          <p:cNvPr id="110" name=""/>
          <p:cNvSpPr/>
          <p:nvPr/>
        </p:nvSpPr>
        <p:spPr>
          <a:xfrm rot="0" flipH="0" flipV="0">
            <a:off x="9258300" y="1819275"/>
            <a:ext cx="2114550" cy="600075"/>
          </a:xfrm>
          <a:prstGeom prst="roundRect">
            <a:avLst>
              <a:gd name="adj" fmla="val 15873"/>
            </a:avLst>
          </a:prstGeom>
          <a:solidFill>
            <a:srgbClr val="EAF2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201275" y="1952625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思源黑体"/>
                <a:ea typeface="思源黑体"/>
              </a:rPr>
              <a:t>final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810750" y="2133600"/>
            <a:ext cx="1019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1B2733"/>
                </a:solidFill>
                <a:latin typeface="思源黑体"/>
                <a:ea typeface="思源黑体"/>
              </a:rPr>
              <a:t>今天晴，适合出行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71500" y="2819400"/>
            <a:ext cx="5410200" cy="384810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3028950"/>
            <a:ext cx="228600" cy="22860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23950" y="3038475"/>
            <a:ext cx="1114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并行工具调用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00100" y="3371850"/>
            <a:ext cx="4953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一次可返回多个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tool_use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，框架并发执行、结果聚合后再进入下一轮——省时省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token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210300" y="2819400"/>
            <a:ext cx="5410200" cy="3848100"/>
          </a:xfrm>
          <a:prstGeom prst="roundRect">
            <a:avLst>
              <a:gd name="adj" fmla="val 2970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38900" y="3028950"/>
            <a:ext cx="228600" cy="228600"/>
          </a:xfrm>
          <a:prstGeom prst="rect">
            <a:avLst/>
          </a:prstGeom>
          <a:ln/>
        </p:spPr>
      </p:pic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762750" y="3038475"/>
            <a:ext cx="981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>Hooks </a:t>
            </a: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拦截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438900" y="3371850"/>
            <a:ext cx="4953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在消息节点前后插入钩子（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PreToolUse / PostToolUse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），不改核心循环即可扩展日志、权限、缓存。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7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3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CONTEXT AMNESIA&lt;/Text&gt;&#10;      &lt;Text style={{ fontSize: 34, color: '#16263F', fontWeight: 'bold', lineHeight: 1.35, marginBottom: 24 }}&gt;&#10;        上下文失忆：&lt;br /&gt;Token 窗口有物理上限&#10;      &lt;/Text&gt;&#10;      &lt;Box style={{ width: 56, height: 4, background: '#22D3EE', marginBottom: 24 }} /&gt;&#10;      &lt;Text style={{ fontSize: 16, color: '#5B6B7A', lineHeight: 1.7 }}&gt;&#10;        模型不是「无限记忆」，上下文窗口装满了，&lt;span style={{ fontWeight: 'bold', color: '#16263F' }}&gt;最早的对话会被挤掉&lt;/span&gt;——Agent 跑得越久越容易「失忆」。&#10;      &lt;/Text&gt;&#10;      &lt;Box style={{ marginTop: 18, background: '#16263F', borderRadius: 10, padding: '14px 18px' }}&gt;&#10;        &lt;Text style={{ fontSize: 14, color: '#FF9F1C', fontWeight: 'bold' }}&gt;&#10;          记忆不是免费的，需要主动管理&#10;        &lt;/Text&gt;&#10;      &lt;/Box&gt;&#10;    &lt;/Box&gt;&#10;&#10;    &lt;Box style={{ flex: 1, flexDirection: 'column', gap: 16, justifyContent: 'center' }}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cut' style={{ fill: '#22D3EE', width: 26, height: 26 }} /&gt;&#10;        &lt;/Box&gt;&#10;        &lt;Box style={{ flex: 1 }}&gt;&#10;          &lt;Text style={{ fontSize: 19, fontWeight: 'bold', color: '#16263F', marginBottom: 6 }}&gt;滑动窗口截断&lt;/Text&gt;&#10;          &lt;Text style={{ fontSize: 14, color: '#5B6B7A', lineHeight: 1.6 }}&gt;只保留最近 N 轮消息，简单粗暴，但会丢掉早期关键信息。&lt;/Text&gt;&#10;        &lt;/Box&gt;&#10;      &lt;/Box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compress' style={{ fill: '#22D3EE', width: 26, height: 26 }} /&gt;&#10;        &lt;/Box&gt;&#10;        &lt;Box style={{ flex: 1 }}&gt;&#10;          &lt;Text style={{ fontSize: 19, fontWeight: 'bold', color: '#16263F', marginBottom: 6 }}&gt;上下文压缩&lt;/Text&gt;&#10;          &lt;Text style={{ fontSize: 14, color: '#5B6B7A', lineHeight: 1.6 }}&gt;用 LLM 把历史总结成摘要，保留要点、省 token，但有信息损耗。&lt;/Text&gt;&#10;        &lt;/Box&gt;&#10;      &lt;/Box&gt;&#10;      &lt;Box style={{ flexDirection: 'row', gap: 16, background: '#FFFFFF', borderRadius: 12, padding: '20px 24px', boxShadow: '0 2px 12px rgba(22,38,63,0.06)' }}&gt;&#10;        &lt;Box style={{ width: 52, height: 52, borderRadius: 13, background: '#EAF2FB', justifyContent: 'center', alignItems: 'center' }}&gt;&#10;          &lt;FAIcon name='database' style={{ fill: '#22D3EE', width: 26, height: 26 }} /&gt;&#10;        &lt;/Box&gt;&#10;        &lt;Box style={{ flex: 1 }}&gt;&#10;          &lt;Text style={{ fontSize: 19, fontWeight: 'bold', color: '#16263F', marginBottom: 6 }}&gt;外部记忆&lt;/Text&gt;&#10;          &lt;Text style={{ fontSize: 14, color: '#5B6B7A', lineHeight: 1.6 }}&gt;写入向量库/文件，用时再检索——最可靠，但要多一套存储。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7 讲&lt;/Text&gt;&#10;    &lt;Text style={{ fontSize: 14, color: '#5B6B7A' }}&gt;06 / 0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CONTEXT AMNESIA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上下文失忆：</a:t>
            </a:r>
            <a:endParaRPr/>
          </a:p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Token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窗口有物理上限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模型不是「无限记忆」，上下文窗口装满了，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最早的对话会被挤掉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——Agent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跑得越久越容易「失忆」。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71500" y="3314700"/>
            <a:ext cx="3429000" cy="428625"/>
          </a:xfrm>
          <a:prstGeom prst="roundRect">
            <a:avLst>
              <a:gd name="adj" fmla="val 2222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42950" y="3448050"/>
            <a:ext cx="308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记忆不是免费的，需要主动管理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381500" y="1905000"/>
            <a:ext cx="7239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4610100" y="20955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33925" y="2219325"/>
            <a:ext cx="247650" cy="2476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257800" y="209550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滑动窗口截断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257800" y="23717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只保留最近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N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轮消息，简单粗暴，但会丢掉早期关键信息。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381500" y="2971800"/>
            <a:ext cx="7239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4610100" y="31623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33925" y="3286125"/>
            <a:ext cx="247650" cy="24765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257800" y="316230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上下文压缩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257800" y="34385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用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LLM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把历史总结成摘要，保留要点、省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token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，但有信息损耗。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381500" y="4038600"/>
            <a:ext cx="7239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4610100" y="4229100"/>
            <a:ext cx="495300" cy="4953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33925" y="4352925"/>
            <a:ext cx="247650" cy="24765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257800" y="4229100"/>
            <a:ext cx="613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外部记忆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257800" y="4505325"/>
            <a:ext cx="6134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写入向量库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/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文件，用时再检索——最可靠，但要多一套存储。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7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09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8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PERSISTENT RULES&lt;/Text&gt;&#10;    &lt;Text style={{ fontSize: 34, color: '#16263F', fontWeight: 'bold', marginBottom: 24 }}&gt;持久规则与会话恢复：让 Agent 记住「该怎么做」&lt;/Text&gt;&#10;    &lt;Box style={{ width: 56, height: 4, background: '#22D3EE', marginBottom: 26 }} /&gt;&#10;&#10;    &lt;Box style={{ flexDirection: 'row', gap: 26, flex: 1 }}&gt;&#10;      &lt;Box style={{ flex: 3, background: '#16263F', borderRadius: 14, padding: '28px 28px', justifyContent: 'space-between' }}&gt;&#10;        &lt;Box style={{ flexDirection: 'row', alignItems: 'center', gap: 12, marginBottom: 16 }}&gt;&#10;          &lt;FAIcon name='file-text' style={{ fill: '#FF9F1C', width: 28, height: 28 }} /&gt;&#10;          &lt;Text style={{ fontSize: 21, fontWeight: 'bold', color: '#FFFFFF' }}&gt;CLAUDE.md 持久规则&lt;/Text&gt;&#10;        &lt;/Box&gt;&#10;        &lt;Text style={{ fontSize: 15, color: '#DCE7F5', lineHeight: 1.9 }}&gt;&#10;          把「项目的约定、命令、边界」写进 CLAUDE.md，每次会话自动注入——规则不靠记性，靠文件持久化。&#10;        &lt;/Text&gt;&#10;        &lt;Box style={{ marginTop: 16, background: 'rgba(255,255,255,0.08)', borderRadius: 8, padding: '12px 16px' }}&gt;&#10;          &lt;Text style={{ fontSize: 13, color: '#22D3EE', fontFamily: '&quot;JetBrains Mono&quot;, monospace', lineHeight: 1.7 }}&gt;&#10;            # CLAUDE.md&lt;br /&gt;本项目使用 npm，测试用 vitest&lt;br /&gt;禁止直接改 main 分支&#10;          &lt;/Text&gt;&#10;        &lt;/Box&gt;&#10;      &lt;/Box&gt;&#10;&#10;      &lt;Box style={{ flex: 4, flexDirection: 'column', gap: 16 }}&gt;&#10;        &lt;Box style={{ flex: 1, background: '#FFFFFF', borderRadius: 12, padding: '22px 24px', boxShadow: '0 2px 12px rgba(22,38,63,0.06)' }}&gt;&#10;          &lt;Box style={{ flexDirection: 'row', alignItems: 'center', gap: 10, marginBottom: 10 }}&gt;&#10;            &lt;FAIcon name='redo' style={{ fill: '#22D3EE', width: 24, height: 24 }} /&gt;&#10;            &lt;Text style={{ fontSize: 19, fontWeight: 'bold', color: '#16263F' }}&gt;会话断点恢复&lt;/Text&gt;&#10;          &lt;/Box&gt;&#10;          &lt;Text style={{ fontSize: 15, color: '#5B6B7A', lineHeight: 1.8 }}&gt;&#10;            把对话历史与中间状态存下来，任务中断后能从断点继续，不必从头再来。&#10;          &lt;/Text&gt;&#10;        &lt;/Box&gt;&#10;&#10;        &lt;Box style={{ flex: 1, background: '#FFFFFF', borderRadius: 12, padding: '22px 24px', boxShadow: '0 2px 12px rgba(22,38,63,0.06)' }}&gt;&#10;          &lt;Box style={{ flexDirection: 'row', alignItems: 'center', gap: 10, marginBottom: 10 }}&gt;&#10;            &lt;FAIcon name='magic' style={{ fill: '#22D3EE', width: 24, height: 24 }} /&gt;&#10;            &lt;Text style={{ fontSize: 19, fontWeight: 'bold', color: '#16263F' }}&gt;PreCompact Hook&lt;/Text&gt;&#10;          &lt;/Box&gt;&#10;          &lt;Text style={{ fontSize: 15, color: '#5B6B7A', lineHeight: 1.8 }}&gt;&#10;            上下文快满时自动触发的钩子——在压缩前把关键信息先落盘，再摘要，避免失忆。&#10;          &lt;/Text&gt;&#10;        &lt;/Box&gt;&#10;&#10;        &lt;Box style={{ background: '#DCE7F5', borderRadius: 10, padding: '12px 18px' }}&gt;&#10;          &lt;Text style={{ fontSize: 14, color: '#16263F', fontWeight: 'bold' }}&gt;&#10;            规则靠文件，进度靠断点，关键信息靠钩子——三件套对抗失忆&#10;          &lt;/Text&gt;&#10;        &lt;/Box&gt;&#10;      &lt;/Box&gt;&#10;    &lt;/Box&gt;&#10;  &lt;/Box&gt;&#10;  &lt;Box style={{ position: 'absolute', bottom: 14, left: 60, width: 1160, flexDirection: 'row', justifyContent: 'space-between' }}&gt;&#10;    &lt;Text style={{ fontSize: 14, color: '#5B6B7A' }}&gt;AI 从零开始 · 第 7 讲&lt;/Text&gt;&#10;    &lt;Text style={{ fontSize: 14, color: '#5B6B7A' }}&gt;07 / 0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PERSISTENT RULES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持久规则与会话恢复：让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记住「该怎么做」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571500" y="1333500"/>
            <a:ext cx="4629150" cy="5334000"/>
          </a:xfrm>
          <a:prstGeom prst="roundRect">
            <a:avLst>
              <a:gd name="adj" fmla="val 2881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600200"/>
            <a:ext cx="266700" cy="266700"/>
          </a:xfrm>
          <a:prstGeom prst="rect">
            <a:avLst/>
          </a:prstGeom>
          <a:ln/>
        </p:spPr>
      </p:pic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219200" y="1609725"/>
            <a:ext cx="2066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CLAUDE.md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持久规则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3314700"/>
            <a:ext cx="40957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把「项目的约定、命令、边界」写进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CLAUDE.md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，每次会话自动注入——规则不靠记性，靠文件持久化。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838200" y="5410200"/>
            <a:ext cx="4095750" cy="9906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90600" y="5524500"/>
            <a:ext cx="3790950" cy="7620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# CLAUDE.md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本项目使用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npm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，测试用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vitest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禁止直接改</a:t>
            </a:r>
            <a:r>
              <a:rPr lang="en-US" sz="975">
                <a:solidFill>
                  <a:srgbClr val="22D3EE"/>
                </a:solidFill>
                <a:latin typeface="JetBrains Mono"/>
                <a:ea typeface="JetBrains Mono"/>
              </a:rPr>
              <a:t> main </a:t>
            </a:r>
            <a:r>
              <a:rPr lang="zh-CN" sz="975">
                <a:solidFill>
                  <a:srgbClr val="22D3EE"/>
                </a:solidFill>
                <a:latin typeface="JetBrains Mono"/>
                <a:ea typeface="JetBrains Mono"/>
              </a:rPr>
              <a:t>分支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448300" y="1333500"/>
            <a:ext cx="6172200" cy="23241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676900" y="1543050"/>
            <a:ext cx="228600" cy="228600"/>
          </a:xfrm>
          <a:prstGeom prst="rect">
            <a:avLst/>
          </a:prstGeom>
          <a:ln/>
        </p:spPr>
      </p:pic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00750" y="1552575"/>
            <a:ext cx="1114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会话断点恢复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676900" y="1866900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把对话历史与中间状态存下来，任务中断后能从断点继续，不必从头再来。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448300" y="3810000"/>
            <a:ext cx="6172200" cy="2314575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676900" y="4019550"/>
            <a:ext cx="228600" cy="22860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00750" y="4029075"/>
            <a:ext cx="1571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PreCompact Hook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676900" y="4343400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上下文快满时自动触发的钩子——在压缩前把关键信息先落盘，再摘要，避免失忆。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448300" y="6276975"/>
            <a:ext cx="6172200" cy="390525"/>
          </a:xfrm>
          <a:prstGeom prst="roundRect">
            <a:avLst>
              <a:gd name="adj" fmla="val 24390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619750" y="6391275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6263F"/>
                </a:solidFill>
                <a:latin typeface="思源黑体"/>
                <a:ea typeface="思源黑体"/>
              </a:rPr>
              <a:t>规则靠文件，进度靠断点，关键信息靠钩子——三件套对抗失忆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7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1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80, paddingTop: 20 }}&gt;&#10;      &lt;Text style={{ fontSize: 14, color: '#FF9F1C', fontWeight: 'bold', letterSpacing: 2, marginBottom: 12 }}&gt;OBSERVABILITY&lt;/Text&gt;&#10;      &lt;Text style={{ fontSize: 34, color: '#16263F', fontWeight: 'bold', lineHeight: 1.35, marginBottom: 24 }}&gt;&#10;        可观测性：&lt;br /&gt;看不懂日志，就治不了 Agent&#10;      &lt;/Text&gt;&#10;      &lt;Box style={{ width: 56, height: 4, background: '#22D3EE', marginBottom: 24 }} /&gt;&#10;&#10;      &lt;Box style={{ background: '#FFFFFF', borderRadius: 12, padding: '18px 22px', boxShadow: '0 2px 12px rgba(22,38,63,0.06)', marginBottom: 14 }}&gt;&#10;        &lt;Text style={{ fontSize: 17, fontWeight: 'bold', color: '#16263F', marginBottom: 8 }}&gt;ResultMessage 读懂停止原因&lt;/Text&gt;&#10;        &lt;Text style={{ fontSize: 14, color: '#5B6B7A', lineHeight: 1.7 }}&gt;&#10;          循环结束必有一条 ResultMessage，它告诉你为什么停：正常完成 / 达到步数上限 / 被中断。&#10;        &lt;/Text&gt;&#10;      &lt;/Box&gt;&#10;&#10;      &lt;Box style={{ background: '#16263F', borderRadius: 12, padding: '18px 22px' }}&gt;&#10;        &lt;Text style={{ fontSize: 17, fontWeight: 'bold', color: '#FFFFFF', marginBottom: 8 }}&gt;effort 参数控成本&lt;/Text&gt;&#10;        &lt;Text style={{ fontSize: 14, color: '#DCE7F5', lineHeight: 1.7 }}&gt;&#10;          思考强度可调：effort 越高推理越深、token 越多、越贵——成本意识从读日志开始。&#10;        &lt;/Text&gt;&#10;      &lt;/Box&gt;&#10;    &lt;/Box&gt;&#10;&#10;    &lt;Box style={{ flex: 1, flexDirection: 'column', gap: 12, justifyContent: 'center' }}&gt;&#10;      {[&#10;        { t: 'SystemMessage', d: '系统提示词，定义角色与规则', icon: 'cog', n: '01' },&#10;        { t: 'UserMessage', d: '用户输入，任务的起点', icon: 'user', n: '02' },&#10;        { t: 'AssistantMessage', d: '模型回复，可能含 tool_use', icon: 'comment', n: '03' },&#10;        { t: 'ToolProgress', d: '工具执行的进度反馈', icon: 'spinner', n: '04' },&#10;        { t: 'ResultMessage', d: '最终结果，含停止原因', icon: 'flag-checkered', n: '05' },&#10;      ].map((item, idx) =&gt; (&#10;        &lt;Box key={idx} style={{ flexDirection: 'row', alignItems: 'center', gap: 16, background: '#FFFFFF', borderRadius: 12, padding: '16px 22px', boxShadow: '0 2px 12px rgba(22,38,63,0.06)' }}&gt;&#10;          &lt;Box style={{ width: 44, height: 44, borderRadius: 11, background: '#EAF2FB', justifyContent: 'center', alignItems: 'center' }}&gt;&#10;            &lt;FAIcon name={item.icon} style={{ fill: '#22D3EE', width: 22, height: 22 }} /&gt;&#10;          &lt;/Box&gt;&#10;          &lt;Box style={{ flex: 1 }}&gt;&#10;            &lt;Text style={{ fontSize: 17, fontWeight: 'bold', color: '#16263F', marginBottom: 3 }}&gt;{item.t}&lt;/Text&gt;&#10;            &lt;Text style={{ fontSize: 14, color: '#5B6B7A' }}&gt;{item.d}&lt;/Text&gt;&#10;          &lt;/Box&gt;&#10;          &lt;Text style={{ fontSize: 13, color: '#FF9F1C', fontWeight: 'bold' }}&gt;{item.n}&lt;/Text&gt;&#10;        &lt;/Box&gt;&#10;      ))}&#10;    &lt;/Box&gt;&#10;  &lt;/Box&gt;&#10;  &lt;Box style={{ position: 'absolute', bottom: 14, left: 60, width: 1160, flexDirection: 'row', justifyContent: 'space-between' }}&gt;&#10;    &lt;Text style={{ fontSize: 14, color: '#5B6B7A' }}&gt;AI 从零开始 · 第 7 讲&lt;/Text&gt;&#10;    &lt;Text style={{ fontSize: 14, color: '#5B6B7A' }}&gt;08 / 09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OBSERVABILITY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619500" cy="1581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可观测性：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看不懂日志，就治不了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71500" y="2466975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571500" y="2733675"/>
            <a:ext cx="36195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81050" y="29051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ResultMessage </a:t>
            </a: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读懂停止原因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81050" y="3181350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循环结束必有一条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ResultMessage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，它告诉你为什么停：正常完成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达到步数上限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/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被中断。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71500" y="4038600"/>
            <a:ext cx="3619500" cy="1171575"/>
          </a:xfrm>
          <a:prstGeom prst="roundRect">
            <a:avLst>
              <a:gd name="adj" fmla="val 9756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effort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参数控成本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思考强度可调：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effort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越高推理越深、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token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越多、越贵——成本意识从读日志开始。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572000" y="1390650"/>
            <a:ext cx="7048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781550" y="15430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86325" y="1647825"/>
            <a:ext cx="209550" cy="209550"/>
          </a:xfrm>
          <a:prstGeom prst="rect">
            <a:avLst/>
          </a:prstGeom>
          <a:ln/>
        </p:spPr>
      </p:pic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353050" y="1562100"/>
            <a:ext cx="5762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SystemMessage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353050" y="1790700"/>
            <a:ext cx="576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系统提示词，定义角色与规则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268075" y="16764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572000" y="2228850"/>
            <a:ext cx="7048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4781550" y="23812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86325" y="2486025"/>
            <a:ext cx="209550" cy="20955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353050" y="2400300"/>
            <a:ext cx="5762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UserMessage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353050" y="2628900"/>
            <a:ext cx="576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用户输入，任务的起点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268075" y="25146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572000" y="3067050"/>
            <a:ext cx="7048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4781550" y="32194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1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886325" y="3324225"/>
            <a:ext cx="209550" cy="209550"/>
          </a:xfrm>
          <a:prstGeom prst="rect">
            <a:avLst/>
          </a:prstGeom>
          <a:ln/>
        </p:spPr>
      </p:pic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353050" y="3238500"/>
            <a:ext cx="5762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AssistantMessage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353050" y="3467100"/>
            <a:ext cx="576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模型回复，可能含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tool_use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268075" y="33528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4572000" y="3905250"/>
            <a:ext cx="7048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4781550" y="40576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886325" y="4162425"/>
            <a:ext cx="209550" cy="209550"/>
          </a:xfrm>
          <a:prstGeom prst="rect">
            <a:avLst/>
          </a:prstGeom>
          <a:ln/>
        </p:spPr>
      </p:pic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353050" y="4076700"/>
            <a:ext cx="5762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ToolProgress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353050" y="4305300"/>
            <a:ext cx="576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工具执行的进度反馈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268075" y="41910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572000" y="4743450"/>
            <a:ext cx="7048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4781550" y="489585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886325" y="5000625"/>
            <a:ext cx="209550" cy="209550"/>
          </a:xfrm>
          <a:prstGeom prst="rect">
            <a:avLst/>
          </a:prstGeom>
          <a:ln/>
        </p:spPr>
      </p:pic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353050" y="4914900"/>
            <a:ext cx="5762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ResultMessage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353050" y="5143500"/>
            <a:ext cx="576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最终结果，含停止原因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268075" y="50292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7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14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CHAPTER 03 · 看见与控制&lt;/Text&gt;&#10;    &lt;Text style={{ fontSize: 40, color: '#FFFFFF', fontWeight: 'bold', marginBottom: 28 }}&gt;先跑通，再上框架，避免过度设计&lt;/Text&gt;&#10;&#10;    &lt;Box style={{ flexDirection: 'row', gap: 24, marginBottom: 26 }}&gt;&#10;      &lt;Box style={{ flex: 1, background: 'rgba(255,255,255,0.07)', border: '1px solid rgba(220,231,245,0.2)', borderRadius: 14, padding: '24px 26px' }}&gt;&#10;        &lt;Text style={{ fontSize: 19, fontWeight: 'bold', color: '#FFFFFF', marginBottom: 10 }}&gt;四步循环&lt;/Text&gt;&#10;        &lt;Text style={{ fontSize: 14, color: '#DCE7F5', lineHeight: 1.8 }}&gt;&#10;          接收指令 → 思考 → 执行 → 观察 → 判断&lt;br /&gt;所有框架的本质&#10;        &lt;/Text&gt;&#10;      &lt;/Box&gt;&#10;      &lt;Box style={{ flex: 1, background: 'rgba(255,255,255,0.07)', border: '1px solid rgba(220,231,245,0.2)', borderRadius: 14, padding: '24px 26px' }}&gt;&#10;        &lt;Text style={{ fontSize: 19, fontWeight: 'bold', color: '#FFFFFF', marginBottom: 10 }}&gt;三板斧治失忆&lt;/Text&gt;&#10;        &lt;Text style={{ fontSize: 14, color: '#DCE7F5', lineHeight: 1.8 }}&gt;&#10;          滑动窗口 / 上下文压缩 / 外部记忆&lt;br /&gt;记忆靠主动管理&#10;        &lt;/Text&gt;&#10;      &lt;/Box&gt;&#10;      &lt;Box style={{ flex: 1, background: 'rgba(255,255,255,0.07)', border: '1px solid rgba(220,231,245,0.2)', borderRadius: 14, padding: '24px 26px' }}&gt;&#10;        &lt;Text style={{ fontSize: 19, fontWeight: 'bold', color: '#FFFFFF', marginBottom: 10 }}&gt;可观测性&lt;/Text&gt;&#10;        &lt;Text style={{ fontSize: 14, color: '#DCE7F5', lineHeight: 1.8 }}&gt;&#10;          ResultMessage 读停止原因&lt;br /&gt;effort 控制成本&#10;        &lt;/Text&gt;&#10;      &lt;/Box&gt;&#10;    &lt;/Box&gt;&#10;&#10;    &lt;Box style={{ background: 'rgba(255,159,28,0.12)', border: '1px solid rgba(255,159,28,0.3)', borderRadius: 14, padding: '22px 26px', marginBottom: 14 }}&gt;&#10;      &lt;Text style={{ fontSize: 18, fontWeight: 'bold', color: '#FF9F1C', marginBottom: 10 }}&gt;动手练习&lt;/Text&gt;&#10;      &lt;Text style={{ fontSize: 15, color: '#DCE7F5', lineHeight: 1.9 }}&gt;&#10;        用任意 SDK 跑通一个带工具调用的 Agent，在日志里找到 Tool Use 与 Tool Result 的交替，并记录 ResultMessage 的停止原因。&#10;      &lt;/Text&gt;&#10;    &lt;/Box&gt;&#10;&#10;    &lt;Box style={{ background: 'rgba(255,255,255,0.06)', borderRadius: 12, padding: '18px 24px' }}&gt;&#10;      &lt;Text style={{ fontSize: 15, color: '#DCE7F5', lineHeight: 1.9 }}&gt;&#10;        自测 3 题：四步循环是什么？终止策略有哪两种？上下文满了怎么防失忆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71500" y="119062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03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看见与控制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71500" y="1485900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先跑通，再上框架，避免过度设计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71500" y="2209800"/>
            <a:ext cx="3533775" cy="1352550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19150" y="2438400"/>
            <a:ext cx="3038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四步循环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19150" y="2752725"/>
            <a:ext cx="3038475" cy="581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接收指令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思考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执行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观察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→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判断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所有框架的本质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333875" y="2209800"/>
            <a:ext cx="3524250" cy="1352550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581525" y="2438400"/>
            <a:ext cx="3028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三板斧治失忆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581525" y="2752725"/>
            <a:ext cx="3028950" cy="581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滑动窗口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/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上下文压缩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/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外部记忆</a:t>
            </a:r>
            <a:endParaRPr/>
          </a:p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记忆靠主动管理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086725" y="2209800"/>
            <a:ext cx="3533775" cy="1352550"/>
          </a:xfrm>
          <a:prstGeom prst="roundRect">
            <a:avLst>
              <a:gd name="adj" fmla="val 98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34375" y="2438400"/>
            <a:ext cx="3038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可观测性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34375" y="2752725"/>
            <a:ext cx="3038475" cy="581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ResultMessage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读停止原因</a:t>
            </a:r>
            <a:endParaRPr/>
          </a:p>
          <a:p>
            <a:pPr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effort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控制成本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3810000"/>
            <a:ext cx="11049000" cy="1057275"/>
          </a:xfrm>
          <a:prstGeom prst="roundRect">
            <a:avLst>
              <a:gd name="adj" fmla="val 12613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19150" y="4019550"/>
            <a:ext cx="1055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19150" y="4324350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用任意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SDK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跑通一个带工具调用的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Agent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，在日志里找到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Tool Use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与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Tool Result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的交替，并记录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ResultMessage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的停止原因。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71500" y="5000625"/>
            <a:ext cx="11049000" cy="676275"/>
          </a:xfrm>
          <a:prstGeom prst="roundRect">
            <a:avLst>
              <a:gd name="adj" fmla="val 16901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0100" y="5172075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题：四步循环是什么？终止策略有哪两种？上下文满了怎么防失忆？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2026-08-13T21:30:52Z</dcterms:created>
  <dcterms:modified xsi:type="dcterms:W3CDTF">2026-08-13T21:30:52Z</dcterms:modified>
</cp:coreProperties>
</file>