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13" Type="http://schemas.openxmlformats.org/officeDocument/2006/relationships/presProps" Target="presProps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15" Type="http://schemas.openxmlformats.org/officeDocument/2006/relationships/viewProps" Target="viewProps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4" Type="http://schemas.openxmlformats.org/officeDocument/2006/relationships/tableStyles" Target="tableStyles.xml" /><Relationship Id="rId12" Type="http://schemas.openxmlformats.org/officeDocument/2006/relationships/notesMaster" Target="notesMasters/notesMaster1.xml" /><Relationship Id="rId9" Type="http://schemas.openxmlformats.org/officeDocument/2006/relationships/slide" Target="slides/slide9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4.svg" /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7.svg" /><Relationship Id="rId2" Type="http://schemas.openxmlformats.org/officeDocument/2006/relationships/image" Target="media/image6.svg" /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media/image11.svg" /><Relationship Id="rId2" Type="http://schemas.openxmlformats.org/officeDocument/2006/relationships/image" Target="media/image10.svg" /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5 讲&lt;/Text&gt;&#10;    &lt;Text style={{ fontSize: 52, color: '#FFFFFF', fontWeight: 'bold', lineHeight: 1.25, marginBottom: 20 }}&gt;&#10;      RAG 检索&lt;br /&gt;增强生成&#10;    &lt;/Text&gt;&#10;    &lt;Box style={{ width: 80, height: 4, background: '#FF9F1C', marginBottom: 28 }} /&gt;&#10;    &lt;Text style={{ fontSize: 22, color: '#DCE7F5', lineHeight: 1.6 }}&gt;&#10;      让模型学会「先查资料，再回答」&#10;    &lt;/Text&gt;&#10;    &lt;Text style={{ fontSize: 15, color: '#8FA4B8', marginTop: 36 }}&gt;&#10;      学完能做「上传文档 → 智能问答」的 demo，并看清工业级架构方向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5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RAG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检索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增强生成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259080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让模型学会「先查资料，再回答」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学完能做「上传文档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智能问答」的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demo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，并看清工业级架构方向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1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WHY RAG&lt;/Text&gt;&#10;    &lt;Text style={{ fontSize: 34, color: '#16263F', fontWeight: 'bold', marginBottom: 24 }}&gt;为什么需要 RAG：补上模型的两块短板&lt;/Text&gt;&#10;    &lt;Box style={{ width: 56, height: 4, background: '#22D3EE', marginBottom: 22 }} /&gt;&#10;&#10;    &lt;Box style={{ flexDirection: 'row', gap: 16, marginBottom: 20 }}&gt;&#10;      &lt;Box style={{ flex: 1, background: '#16263F', borderRadius: 12, padding: '18px 22px' }}&gt;&#10;        &lt;Text style={{ fontSize: 19, fontWeight: 'bold', color: '#FF9F1C', marginBottom: 8 }}&gt;知识有截止日期&lt;/Text&gt;&#10;        &lt;Text style={{ fontSize: 14, color: '#DCE7F5', lineHeight: 1.7 }}&gt;训练数据停在某个时间点，之后的新知识一概不知。&lt;/Text&gt;&#10;      &lt;/Box&gt;&#10;      &lt;Box style={{ flex: 1, background: '#16263F', borderRadius: 12, padding: '18px 22px' }}&gt;&#10;        &lt;Text style={{ fontSize: 19, fontWeight: 'bold', color: '#FF9F1C', marginBottom: 8 }}&gt;幻觉&lt;/Text&gt;&#10;        &lt;Text style={{ fontSize: 14, color: '#DCE7F5', lineHeight: 1.7 }}&gt;不确定时会一本正经地编造，让你难辨真假。&lt;/Text&gt;&#10;      &lt;/Box&gt;&#10;    &lt;/Box&gt;&#10;&#10;    &lt;Box style={{ flexDirection: 'row', gap: 24, flex: 1 }}&gt;&#10;      &lt;Box style={{ flex: 1, background: '#FFFFFF', borderRadius: 14, padding: '24px 26px', boxShadow: '0 2px 12px rgba(22,38,63,0.06)' }}&gt;&#10;        &lt;Box style={{ flexDirection: 'row', alignItems: 'center', gap: 12, marginBottom: 12 }}&gt;&#10;          &lt;FAIcon name='book-open' style={{ fill: '#22D3EE', width: 26, height: 26 }} /&gt;&#10;          &lt;Text style={{ fontSize: 20, fontWeight: 'bold', color: '#16263F' }}&gt;RAG（检索增强）&lt;/Text&gt;&#10;        &lt;/Box&gt;&#10;        &lt;Text style={{ fontSize: 14, color: '#5B6B7A', lineHeight: 1.9 }}&gt;&#10;          · 外挂知识库，不改模型权重&lt;br /&gt;&#10;          · 知识可实时更新、可溯源&lt;br /&gt;&#10;          · 成本低，换库即可换知识&#10;        &lt;/Text&gt;&#10;      &lt;/Box&gt;&#10;      &lt;Box style={{ flex: 1, background: '#FFFFFF', borderRadius: 14, padding: '24px 26px', boxShadow: '0 2px 12px rgba(22,38,63,0.06)' }}&gt;&#10;        &lt;Box style={{ flexDirection: 'row', alignItems: 'center', gap: 12, marginBottom: 12 }}&gt;&#10;          &lt;FAIcon name='microchip' style={{ fill: '#FF9F1C', width: 26, height: 26 }} /&gt;&#10;          &lt;Text style={{ fontSize: 20, fontWeight: 'bold', color: '#16263F' }}&gt;微调（Fine-tune）&lt;/Text&gt;&#10;        &lt;/Box&gt;&#10;        &lt;Text style={{ fontSize: 14, color: '#5B6B7A', lineHeight: 1.9 }}&gt;&#10;          · 修改模型权重，深度融入&lt;br /&gt;&#10;          · 需训练数据与算力，成本高&lt;br /&gt;&#10;          · 知识更新要重新训练&#10;        &lt;/Text&gt;&#10;      &lt;/Box&gt;&#10;    &lt;/Box&gt;&#10;&#10;    &lt;Box style={{ marginTop: 18, background: '#DCE7F5', borderRadius: 10, padding: '14px 22px' }}&gt;&#10;      &lt;Text style={{ fontSize: 16, color: '#16263F', fontWeight: 'bold' }}&gt;&#10;        多数场景先上 RAG：快、省、可控；微调留给「风格/领域深度定制」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5 讲&lt;/Text&gt;&#10;    &lt;Text style={{ fontSize: 14, color: '#5B6B7A' }}&gt;0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WHY RAG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为什么需要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RAG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：补上模型的两块短板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571500" y="1295400"/>
            <a:ext cx="5448300" cy="914400"/>
          </a:xfrm>
          <a:prstGeom prst="roundRect">
            <a:avLst>
              <a:gd name="adj" fmla="val 12500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81050" y="1466850"/>
            <a:ext cx="5029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9F1C"/>
                </a:solidFill>
                <a:latin typeface="思源黑体"/>
                <a:ea typeface="思源黑体"/>
              </a:rPr>
              <a:t>知识有截止日期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81050" y="176212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训练数据停在某个时间点，之后的新知识一概不知。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172200" y="1295400"/>
            <a:ext cx="5448300" cy="914400"/>
          </a:xfrm>
          <a:prstGeom prst="roundRect">
            <a:avLst>
              <a:gd name="adj" fmla="val 12500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381750" y="1466850"/>
            <a:ext cx="5029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9F1C"/>
                </a:solidFill>
                <a:latin typeface="思源黑体"/>
                <a:ea typeface="思源黑体"/>
              </a:rPr>
              <a:t>幻觉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381750" y="176212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不确定时会一本正经地编造，让你难辨真假。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571500" y="2400300"/>
            <a:ext cx="5410200" cy="3638550"/>
          </a:xfrm>
          <a:prstGeom prst="roundRect">
            <a:avLst>
              <a:gd name="adj" fmla="val 366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628900"/>
            <a:ext cx="247650" cy="247650"/>
          </a:xfrm>
          <a:prstGeom prst="rect">
            <a:avLst/>
          </a:prstGeom>
          <a:ln/>
        </p:spPr>
      </p:pic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81100" y="2638425"/>
            <a:ext cx="159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RAG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（检索增强）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19150" y="2990850"/>
            <a:ext cx="4914900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外挂知识库，不改模型权重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知识可实时更新、可溯源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成本低，换库即可换知识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210300" y="2400300"/>
            <a:ext cx="5410200" cy="3638550"/>
          </a:xfrm>
          <a:prstGeom prst="roundRect">
            <a:avLst>
              <a:gd name="adj" fmla="val 366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57950" y="2628900"/>
            <a:ext cx="247650" cy="247650"/>
          </a:xfrm>
          <a:prstGeom prst="rect">
            <a:avLst/>
          </a:prstGeom>
          <a:ln/>
        </p:spPr>
      </p:pic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819900" y="2638425"/>
            <a:ext cx="163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微调（</a:t>
            </a: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Fine-tune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457950" y="2990850"/>
            <a:ext cx="4914900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修改模型权重，深度融入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需训练数据与算力，成本高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知识更新要重新训练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多数场景先上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RAG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：快、省、可控；微调留给「风格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/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领域深度定制」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5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4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RAG PIPELINE&lt;/Text&gt;&#10;    &lt;Text style={{ fontSize: 34, color: '#16263F', fontWeight: 'bold', marginBottom: 24 }}&gt;RAG 原理：Retriever + Generator 双引擎&lt;/Text&gt;&#10;    &lt;Box style={{ width: 56, height: 4, background: '#22D3EE', marginBottom: 26 }} /&gt;&#10;&#10;    &lt;Box style={{ flexDirection: 'row', alignItems: 'stretch', gap: 0, flex: 1 }}&gt;&#10;      {[&#10;        { t: '加载', e: 'Load', d: '读取 PDF/网页/数据库' },&#10;        { t: '分割', e: 'Split', d: '切成带上下文的片段' },&#10;        { t: '向量化', e: 'Embed', d: '文本转为高维向量' },&#10;        { t: '存储', e: 'Store', d: '向量入库建索引' },&#10;        { t: '检索', e: 'Retrieve', d: '按语义找最相关片段' },&#10;        { t: '生成', e: 'Generate', d: 'LLM 结合检索结果作答' },&#10;      ].map((item, idx) =&gt; (&#10;        &lt;Box key={idx} style={{ flexDirection: 'row', alignItems: 'center', flex: 1 }}&gt;&#10;          &lt;Box style={{ flex: 1, background: '#FFFFFF', borderRadius: 12, padding: '22px 16px', boxShadow: '0 2px 12px rgba(22,38,63,0.06)', alignItems: 'center' }}&gt;&#10;            &lt;Text style={{ fontSize: 21, fontWeight: 'bold', color: '#16263F', marginBottom: 4 }}&gt;{item.t}&lt;/Text&gt;&#10;            &lt;Text style={{ fontSize: 12, color: '#22D3EE', fontWeight: 'bold', fontFamily: '&quot;JetBrains Mono&quot;, monospace', marginBottom: 8 }}&gt;{item.e}&lt;/Text&gt;&#10;            &lt;Text style={{ fontSize: 12, color: '#5B6B7A', textAlign: 'center', lineHeight: 1.5 }}&gt;{item.d}&lt;/Text&gt;&#10;          &lt;/Box&gt;&#10;          {idx &lt; 5 &amp;&amp; (&#10;            &lt;Box style={{ width: 26, justifyContent: 'center', alignItems: 'center' }}&gt;&#10;              &lt;FAIcon name='chevron-right' style={{ fill: '#FF9F1C', width: 18, height: 18 }} /&gt;&#10;            &lt;/Box&gt;&#10;          )}&#10;        &lt;/Box&gt;&#10;      ))}&#10;    &lt;/Box&gt;&#10;&#10;    &lt;Box style={{ marginTop: 26, background: '#16263F', borderRadius: 14, padding: '22px 28px' }}&gt;&#10;      &lt;Box style={{ flexDirection: 'row', alignItems: 'center', gap: 16, marginBottom: 10 }}&gt;&#10;        &lt;FAIcon name='sitemap' style={{ fill: '#FF9F1C', width: 28, height: 28 }} /&gt;&#10;        &lt;Text style={{ fontSize: 20, fontWeight: 'bold', color: '#FFFFFF' }}&gt;两个关键角色&lt;/Text&gt;&#10;      &lt;/Box&gt;&#10;      &lt;Text style={{ fontSize: 15, color: '#DCE7F5', lineHeight: 1.8 }}&gt;&#10;        &lt;span style={{ color: '#22D3EE', fontWeight: 'bold' }}&gt;Retriever（检索器）&lt;/span&gt;负责「查什么」，&lt;span style={{ color: '#22D3EE', fontWeight: 'bold' }}&gt;Generator（生成器）&lt;/span&gt;负责「怎么答」——检索到的片段作为上下文喂给模型，答案就有了事实依据。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5 讲&lt;/Text&gt;&#10;    &lt;Text style={{ fontSize: 14, color: '#5B6B7A' }}&gt;0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RAG PIPELINE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RAG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原理：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Retriever + Generator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双引擎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571500" y="2762250"/>
            <a:ext cx="1590675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62050" y="2971800"/>
            <a:ext cx="40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63F"/>
                </a:solidFill>
                <a:latin typeface="思源黑体"/>
                <a:ea typeface="思源黑体"/>
              </a:rPr>
              <a:t>加载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228725" y="3257550"/>
            <a:ext cx="276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JetBrains Mono"/>
                <a:ea typeface="JetBrains Mono"/>
              </a:rPr>
              <a:t>Load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00100" y="3476625"/>
            <a:ext cx="11430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读取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 PDF/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网页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/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数据库</a:t>
            </a:r>
            <a:endParaRPr/>
          </a:p>
        </p:txBody>
      </p:sp>
      <p:pic>
        <p:nvPicPr>
          <p:cNvPr id="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200275" y="3248025"/>
            <a:ext cx="171450" cy="171450"/>
          </a:xfrm>
          <a:prstGeom prst="rect">
            <a:avLst/>
          </a:prstGeom>
          <a:ln/>
        </p:spPr>
      </p:pic>
      <p:sp>
        <p:nvSpPr>
          <p:cNvPr id="94" name=""/>
          <p:cNvSpPr/>
          <p:nvPr/>
        </p:nvSpPr>
        <p:spPr>
          <a:xfrm rot="0" flipH="0" flipV="0">
            <a:off x="2409825" y="2762250"/>
            <a:ext cx="16002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009900" y="2971800"/>
            <a:ext cx="40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63F"/>
                </a:solidFill>
                <a:latin typeface="思源黑体"/>
                <a:ea typeface="思源黑体"/>
              </a:rPr>
              <a:t>分割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038475" y="325755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JetBrains Mono"/>
                <a:ea typeface="JetBrains Mono"/>
              </a:rPr>
              <a:t>Split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686050" y="3476625"/>
            <a:ext cx="105727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切成带上下文的片段</a:t>
            </a:r>
            <a:endParaRPr/>
          </a:p>
        </p:txBody>
      </p:sp>
      <p:pic>
        <p:nvPicPr>
          <p:cNvPr id="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48125" y="3248025"/>
            <a:ext cx="171450" cy="171450"/>
          </a:xfrm>
          <a:prstGeom prst="rect">
            <a:avLst/>
          </a:prstGeom>
          <a:ln/>
        </p:spPr>
      </p:pic>
      <p:sp>
        <p:nvSpPr>
          <p:cNvPr id="99" name=""/>
          <p:cNvSpPr/>
          <p:nvPr/>
        </p:nvSpPr>
        <p:spPr>
          <a:xfrm rot="0" flipH="0" flipV="0">
            <a:off x="4257675" y="2762250"/>
            <a:ext cx="1590675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743450" y="2971800"/>
            <a:ext cx="61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63F"/>
                </a:solidFill>
                <a:latin typeface="思源黑体"/>
                <a:ea typeface="思源黑体"/>
              </a:rPr>
              <a:t>向量化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876800" y="325755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JetBrains Mono"/>
                <a:ea typeface="JetBrains Mono"/>
              </a:rPr>
              <a:t>Embed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581525" y="3476625"/>
            <a:ext cx="94297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文本转为高维向量</a:t>
            </a:r>
            <a:endParaRPr/>
          </a:p>
        </p:txBody>
      </p:sp>
      <p:pic>
        <p:nvPicPr>
          <p:cNvPr id="1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86450" y="3248025"/>
            <a:ext cx="171450" cy="171450"/>
          </a:xfrm>
          <a:prstGeom prst="rect">
            <a:avLst/>
          </a:prstGeom>
          <a:ln/>
        </p:spPr>
      </p:pic>
      <p:sp>
        <p:nvSpPr>
          <p:cNvPr id="104" name=""/>
          <p:cNvSpPr/>
          <p:nvPr/>
        </p:nvSpPr>
        <p:spPr>
          <a:xfrm rot="0" flipH="0" flipV="0">
            <a:off x="6096000" y="2762250"/>
            <a:ext cx="1590675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686550" y="2971800"/>
            <a:ext cx="40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63F"/>
                </a:solidFill>
                <a:latin typeface="思源黑体"/>
                <a:ea typeface="思源黑体"/>
              </a:rPr>
              <a:t>存储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715125" y="325755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JetBrains Mono"/>
                <a:ea typeface="JetBrains Mono"/>
              </a:rPr>
              <a:t>Store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486525" y="3476625"/>
            <a:ext cx="8191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向量入库建索引</a:t>
            </a:r>
            <a:endParaRPr/>
          </a:p>
        </p:txBody>
      </p:sp>
      <p:pic>
        <p:nvPicPr>
          <p:cNvPr id="1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24775" y="3248025"/>
            <a:ext cx="171450" cy="171450"/>
          </a:xfrm>
          <a:prstGeom prst="rect">
            <a:avLst/>
          </a:prstGeom>
          <a:ln/>
        </p:spPr>
      </p:pic>
      <p:sp>
        <p:nvSpPr>
          <p:cNvPr id="109" name=""/>
          <p:cNvSpPr/>
          <p:nvPr/>
        </p:nvSpPr>
        <p:spPr>
          <a:xfrm rot="0" flipH="0" flipV="0">
            <a:off x="7934325" y="2762250"/>
            <a:ext cx="16002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534400" y="2971800"/>
            <a:ext cx="40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63F"/>
                </a:solidFill>
                <a:latin typeface="思源黑体"/>
                <a:ea typeface="思源黑体"/>
              </a:rPr>
              <a:t>检索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458200" y="3257550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JetBrains Mono"/>
                <a:ea typeface="JetBrains Mono"/>
              </a:rPr>
              <a:t>Retrieve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210550" y="3476625"/>
            <a:ext cx="105727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按语义找最相关片段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72625" y="3248025"/>
            <a:ext cx="171450" cy="171450"/>
          </a:xfrm>
          <a:prstGeom prst="rect">
            <a:avLst/>
          </a:prstGeom>
          <a:ln/>
        </p:spPr>
      </p:pic>
      <p:sp>
        <p:nvSpPr>
          <p:cNvPr id="114" name=""/>
          <p:cNvSpPr/>
          <p:nvPr/>
        </p:nvSpPr>
        <p:spPr>
          <a:xfrm rot="0" flipH="0" flipV="0">
            <a:off x="9782175" y="2762250"/>
            <a:ext cx="1838325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496550" y="2971800"/>
            <a:ext cx="409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263F"/>
                </a:solidFill>
                <a:latin typeface="思源黑体"/>
                <a:ea typeface="思源黑体"/>
              </a:rPr>
              <a:t>生成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429875" y="3257550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JetBrains Mono"/>
                <a:ea typeface="JetBrains Mono"/>
              </a:rPr>
              <a:t>Generate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106025" y="3476625"/>
            <a:ext cx="11906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LLM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结合检索结果作答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71500" y="5572125"/>
            <a:ext cx="11049000" cy="1095375"/>
          </a:xfrm>
          <a:prstGeom prst="roundRect">
            <a:avLst>
              <a:gd name="adj" fmla="val 12174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8200" y="5781675"/>
            <a:ext cx="266700" cy="26670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257300" y="5800725"/>
            <a:ext cx="1171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两个关键角色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8200" y="6143625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 b="1">
                <a:solidFill>
                  <a:srgbClr val="22D3EE"/>
                </a:solidFill>
                <a:latin typeface="思源黑体"/>
                <a:ea typeface="思源黑体"/>
              </a:rPr>
              <a:t>Retriever</a:t>
            </a: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（检索器）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负责「查什么」，</a:t>
            </a:r>
            <a:r>
              <a:rPr lang="en-US" sz="1125" b="1">
                <a:solidFill>
                  <a:srgbClr val="22D3EE"/>
                </a:solidFill>
                <a:latin typeface="思源黑体"/>
                <a:ea typeface="思源黑体"/>
              </a:rPr>
              <a:t>Generator</a:t>
            </a: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（生成器）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负责「怎么答」——检索到的片段作为上下文喂给模型，答案就有了事实依据。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5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4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EMBEDDING&lt;/Text&gt;&#10;      &lt;Text style={{ fontSize: 34, color: '#16263F', fontWeight: 'bold', lineHeight: 1.35, marginBottom: 24 }}&gt;&#10;        嵌入模型&lt;br /&gt;把文字变成向量&#10;      &lt;/Text&gt;&#10;      &lt;Box style={{ width: 56, height: 4, background: '#22D3EE', marginBottom: 24 }} /&gt;&#10;      &lt;Text style={{ fontSize: 16, color: '#5B6B7A', lineHeight: 1.7 }}&gt;&#10;        把「语义」映射到高维空间的坐标——&lt;span style={{ fontWeight: 'bold', color: '#16263F' }}&gt;意思越接近，向量距离越近&lt;/span&gt;，这就是相似度检索的基础。&#10;      &lt;/Text&gt;&#10;    &lt;/Box&gt;&#10;&#10;    &lt;Box style={{ flex: 1, flexDirection: 'column', gap: 14, justifyContent: 'center' }}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language' style={{ fill: '#22D3EE', width: 26, height: 26 }} /&gt;&#10;        &lt;/Box&gt;&#10;        &lt;Box style={{ flex: 1 }}&gt;&#10;          &lt;Text style={{ fontSize: 19, fontWeight: 'bold', color: '#16263F', marginBottom: 4 }}&gt;text2vec · 中文场景&lt;/Text&gt;&#10;          &lt;Text style={{ fontSize: 13, color: '#5B6B7A' }}&gt;中文语义效果好，国产开源首选&lt;/Text&gt;&#10;        &lt;/Box&gt;&#10;      &lt;/Box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globe' style={{ fill: '#22D3EE', width: 26, height: 26 }} /&gt;&#10;        &lt;/Box&gt;&#10;        &lt;Box style={{ flex: 1 }}&gt;&#10;          &lt;Text style={{ fontSize: 19, fontWeight: 'bold', color: '#16263F', marginBottom: 4 }}&gt;bge-m3 · 多语言&lt;/Text&gt;&#10;          &lt;Text style={{ fontSize: 13, color: '#5B6B7A' }}&gt;中英混排通用，兼顾检索与排序&lt;/Text&gt;&#10;        &lt;/Box&gt;&#10;      &lt;/Box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feather' style={{ fill: '#22D3EE', width: 26, height: 26 }} /&gt;&#10;        &lt;/Box&gt;&#10;        &lt;Box style={{ flex: 1 }}&gt;&#10;          &lt;Text style={{ fontSize: 19, fontWeight: 'bold', color: '#16263F', marginBottom: 4 }}&gt;bge-small · 轻量&lt;/Text&gt;&#10;          &lt;Text style={{ fontSize: 13, color: '#5B6B7A' }}&gt;体积小、速度快，适合本地部署&lt;/Text&gt;&#10;        &lt;/Box&gt;&#10;      &lt;/Box&gt;&#10;      &lt;Box style={{ background: '#16263F', borderRadius: 12, padding: '16px 24px' }}&gt;&#10;        &lt;Text style={{ fontSize: 14, color: '#DCE7F5', lineHeight: 1.7 }}&gt;&#10;          &lt;span style={{ color: '#FF9F1C', fontWeight: 'bold' }}&gt;选型原则：&lt;/span&gt;先看语种，再看规模与硬件——中文 text2vec、多语言 bge-m3、资源紧 bge-small&#10;        &lt;/Text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5 讲&lt;/Text&gt;&#10;    &lt;Text style={{ fontSize: 14, color: '#5B6B7A' }}&gt;0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EMBEDDING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嵌入模型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把文字变成向量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把「语义」映射到高维空间的坐标——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意思越接近，向量距离越近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，这就是相似度检索的基础。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381500" y="1628775"/>
            <a:ext cx="7239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4610100" y="181927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33925" y="1943100"/>
            <a:ext cx="247650" cy="247650"/>
          </a:xfrm>
          <a:prstGeom prst="rect">
            <a:avLst/>
          </a:prstGeom>
          <a:ln/>
        </p:spPr>
      </p:pic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257800" y="1819275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text2vec · </a:t>
            </a: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中文场景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257800" y="2076450"/>
            <a:ext cx="6134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中文语义效果好，国产开源首选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381500" y="2638425"/>
            <a:ext cx="7239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4610100" y="28289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2952750"/>
            <a:ext cx="247650" cy="24765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257800" y="2828925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bge-m3 · </a:t>
            </a: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多语言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257800" y="3086100"/>
            <a:ext cx="6134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中英混排通用，兼顾检索与排序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4381500" y="3648075"/>
            <a:ext cx="7239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4610100" y="383857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33925" y="3962400"/>
            <a:ext cx="247650" cy="247650"/>
          </a:xfrm>
          <a:prstGeom prst="rect">
            <a:avLst/>
          </a:prstGeom>
          <a:ln/>
        </p:spPr>
      </p:pic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257800" y="3838575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bge-small · </a:t>
            </a: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轻量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257800" y="4095750"/>
            <a:ext cx="6134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体积小、速度快，适合本地部署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4381500" y="4657725"/>
            <a:ext cx="7239000" cy="581025"/>
          </a:xfrm>
          <a:prstGeom prst="roundRect">
            <a:avLst>
              <a:gd name="adj" fmla="val 1967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610100" y="4810125"/>
            <a:ext cx="67818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选型原则：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先看语种，再看规模与硬件——中文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text2vec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、多语言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bge-m3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、资源紧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bge-small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5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9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VECTOR DATABASE&lt;/Text&gt;&#10;    &lt;Text style={{ fontSize: 34, color: '#16263F', fontWeight: 'bold', marginBottom: 24 }}&gt;向量数据库：让语义搜索「查得快」&lt;/Text&gt;&#10;    &lt;Box style={{ width: 56, height: 4, background: '#22D3EE', marginBottom: 24 }} /&gt;&#10;&#10;    &lt;Box style={{ flexDirection: 'row', gap: 18, marginBottom: 20 }}&gt;&#10;      {[&#10;        { t: 'Chroma', d: '轻量易用\n本地嵌入式首选' },&#10;        { t: 'Pinecone', d: '托管服务\n免运维按量付费' },&#10;        { t: 'FAISS', d: 'Meta 开源\n高性能向量检索' },&#10;        { t: 'Qdrant', d: 'Rust 实现\n自带过滤与高可用' },&#10;      ].map((item, idx) =&gt; (&#10;        &lt;Box key={idx} style={{ flex: 1, background: '#FFFFFF', borderRadius: 12, padding: '20px 18px', boxShadow: '0 2px 12px rgba(22,38,63,0.06)', alignItems: 'center' }}&gt;&#10;          &lt;Text style={{ fontSize: 20, fontWeight: 'bold', color: '#16263F', marginBottom: 8 }}&gt;{item.t}&lt;/Text&gt;&#10;          &lt;Text style={{ fontSize: 13, color: '#5B6B7A', textAlign: 'center', lineHeight: 1.6, whiteSpace: 'pre-line' }}&gt;{item.d}&lt;/Text&gt;&#10;        &lt;/Box&gt;&#10;      ))}&#10;    &lt;/Box&gt;&#10;&#10;    &lt;Box style={{ background: '#16263F', borderRadius: 14, padding: '22px 28px' }}&gt;&#10;      &lt;Box style={{ flexDirection: 'row', alignItems: 'center', gap: 16, marginBottom: 12 }}&gt;&#10;        &lt;FAIcon name='search' style={{ fill: '#FF9F1C', width: 28, height: 28 }} /&gt;&#10;        &lt;Text style={{ fontSize: 20, fontWeight: 'bold', color: '#FFFFFF' }}&gt;相似性搜索：KNN vs ANN&lt;/Text&gt;&#10;      &lt;/Box&gt;&#10;      &lt;Text style={{ fontSize: 15, color: '#DCE7F5', lineHeight: 1.8 }}&gt;&#10;        &lt;span style={{ color: '#22D3EE', fontWeight: 'bold' }}&gt;KNN&lt;/span&gt; 精确但慢，遍历全部向量；&lt;span style={{ color: '#22D3EE', fontWeight: 'bold' }}&gt;ANN&lt;/span&gt; 近似但快，用索引换取速度。&#10;        &lt;span style={{ color: '#FF9F1C', fontWeight: 'bold' }}&gt;召回率&lt;/span&gt;衡量检索「找得全不全」——答案质量的上限，取决于检索这一步。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5 讲&lt;/Text&gt;&#10;    &lt;Text style={{ fontSize: 14, color: '#5B6B7A' }}&gt;0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VECTOR DATABASE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向量数据库：让语义搜索「查得快」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571500" y="1314450"/>
            <a:ext cx="2638425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533525" y="1504950"/>
            <a:ext cx="72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Chroma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447800" y="1809750"/>
            <a:ext cx="88582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轻量易用
本地嵌入式首选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3381375" y="1314450"/>
            <a:ext cx="26289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276725" y="1504950"/>
            <a:ext cx="847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Pinecone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257675" y="1809750"/>
            <a:ext cx="88582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托管服务
免运维按量付费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181725" y="1314450"/>
            <a:ext cx="2638425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229475" y="1504950"/>
            <a:ext cx="552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FAISS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058025" y="1809750"/>
            <a:ext cx="88582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Meta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开源
高性能向量检索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8991600" y="1314450"/>
            <a:ext cx="26289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991725" y="1504950"/>
            <a:ext cx="628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Qdrant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801225" y="1809750"/>
            <a:ext cx="101917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Rust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实现
自带过滤与高可用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571500" y="2667000"/>
            <a:ext cx="11049000" cy="1114425"/>
          </a:xfrm>
          <a:prstGeom prst="roundRect">
            <a:avLst>
              <a:gd name="adj" fmla="val 11966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2876550"/>
            <a:ext cx="266700" cy="26670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257300" y="2895600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相似性搜索：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KNN vs ANN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38200" y="3257550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 b="1">
                <a:solidFill>
                  <a:srgbClr val="22D3EE"/>
                </a:solidFill>
                <a:latin typeface="思源黑体"/>
                <a:ea typeface="思源黑体"/>
              </a:rPr>
              <a:t>KNN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精确但慢，遍历全部向量；</a:t>
            </a:r>
            <a:r>
              <a:rPr lang="en-US" sz="1125" b="1">
                <a:solidFill>
                  <a:srgbClr val="22D3EE"/>
                </a:solidFill>
                <a:latin typeface="思源黑体"/>
                <a:ea typeface="思源黑体"/>
              </a:rPr>
              <a:t>ANN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近似但快，用索引换取速度。</a:t>
            </a: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召回率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衡量检索「找得全不全」——答案质量的上限，取决于检索这一步。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5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7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RETRIEVAL ADVANCED&lt;/Text&gt;&#10;    &lt;Text style={{ fontSize: 34, color: '#16263F', fontWeight: 'bold', marginBottom: 24 }}&gt;检索进阶三件套：让检索更准&lt;/Text&gt;&#10;    &lt;Box style={{ width: 56, height: 4, background: '#22D3EE', marginBottom: 26 }} /&gt;&#10;&#10;    &lt;Box style={{ flexDirection: 'row', gap: 24, flex: 1 }}&gt;&#10;      &lt;Box style={{ flex: 1, background: '#FFFFFF', borderRadius: 14, padding: '26px 24px', boxShadow: '0 2px 12px rgba(22,38,63,0.06)' }}&gt;&#10;        &lt;Text style={{ fontSize: 20, fontWeight: 'bold', color: '#16263F', marginBottom: 10 }}&gt;Query 查询&lt;/Text&gt;&#10;        &lt;Text style={{ fontSize: 13, color: '#22D3EE', fontWeight: 'bold', marginBottom: 12 }}&gt;输入侧优化&lt;/Text&gt;&#10;        &lt;Text style={{ fontSize: 14, color: '#5B6B7A', lineHeight: 1.8 }}&gt;&#10;          把口语化问题改写成更适合检索的表达，或拆解成多个子查询，扩大命中面。&#10;        &lt;/Text&gt;&#10;      &lt;/Box&gt;&#10;      &lt;Box style={{ flex: 1, background: '#FFFFFF', borderRadius: 14, padding: '26px 24px', boxShadow: '0 2px 12px rgba(22,38,63,0.06)' }}&gt;&#10;        &lt;Text style={{ fontSize: 20, fontWeight: 'bold', color: '#16263F', marginBottom: 10 }}&gt;Reranker 重排序&lt;/Text&gt;&#10;        &lt;Text style={{ fontSize: 13, color: '#22D3EE', fontWeight: 'bold', marginBottom: 12 }}&gt;BM25 · DPR&lt;/Text&gt;&#10;        &lt;Text style={{ fontSize: 14, color: '#5B6B7A', lineHeight: 1.8 }}&gt;&#10;          对初筛结果二次排序，把真正相关的片段排到最前——粗召回 + 精排序。&#10;        &lt;/Text&gt;&#10;      &lt;/Box&gt;&#10;      &lt;Box style={{ flex: 1, background: '#16263F', borderRadius: 14, padding: '26px 24px' }}&gt;&#10;        &lt;Text style={{ fontSize: 20, fontWeight: 'bold', color: '#FFFFFF', marginBottom: 10 }}&gt;Rewrite 重写&lt;/Text&gt;&#10;        &lt;Text style={{ fontSize: 13, color: '#FF9F1C', fontWeight: 'bold', marginBottom: 12 }}&gt;多轮上下文补全&lt;/Text&gt;&#10;        &lt;Text style={{ fontSize: 14, color: '#DCE7F5', lineHeight: 1.8 }}&gt;&#10;          多轮对话中，把「它呢？」补全成完整问题，避免指代缺失导致检索跑偏。&#10;        &lt;/Text&gt;&#10;      &lt;/Box&gt;&#10;    &lt;/Box&gt;&#10;&#10;    &lt;Box style={{ marginTop: 22, background: '#DCE7F5', borderRadius: 10, padding: '14px 22px' }}&gt;&#10;      &lt;Text style={{ fontSize: 16, color: '#16263F', fontWeight: 'bold' }}&gt;&#10;        先保证「检索到」，再谈「检索准」——三件套按需叠加，别一上来全上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5 讲&lt;/Text&gt;&#10;    &lt;Text style={{ fontSize: 14, color: '#5B6B7A' }}&gt;0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RETRIEVAL ADVANCED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检索进阶三件套：让检索更准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571500" y="1333500"/>
            <a:ext cx="3533775" cy="46672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00100" y="158115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Query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查询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00100" y="19050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输入侧优化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00100" y="2171700"/>
            <a:ext cx="30765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把口语化问题改写成更适合检索的表达，或拆解成多个子查询，扩大命中面。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333875" y="1333500"/>
            <a:ext cx="3524250" cy="46672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562475" y="1581150"/>
            <a:ext cx="3067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Reranker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重排序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562475" y="1905000"/>
            <a:ext cx="3067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BM25 · DPR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62475" y="2171700"/>
            <a:ext cx="30670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对初筛结果二次排序，把真正相关的片段排到最前——粗召回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精排序。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086725" y="1333500"/>
            <a:ext cx="3533775" cy="4667250"/>
          </a:xfrm>
          <a:prstGeom prst="roundRect">
            <a:avLst>
              <a:gd name="adj" fmla="val 3774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315325" y="158115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Rewrite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重写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315325" y="19050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多轮上下文补全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315325" y="2171700"/>
            <a:ext cx="30765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多轮对话中，把「它呢？」补全成完整问题，避免指代缺失导致检索跑偏。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先保证「检索到」，再谈「检索准」——三件套按需叠加，别一上来全上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5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93" name="" descr="&lt;Slide&#10;  style={{&#10;    width: '1280px', height: '720px',&#10;    background: '#16263F',&#10;    padding: '20px 60px',&#10;    fontFamily: '&quot;思源黑体&quot;, sans-serif',&#10;  }}&#10;&gt;&#10;  &lt;Box style={{ width: '100%', height: '100%', flexDirection: 'row', gap: 44 }}&gt;&#10;    &lt;Box style={{ flex: 1, flexDirection: 'column', justifyContent: 'center' }}&gt;&#10;      &lt;Text style={{ fontSize: 14, color: '#22D3EE', fontWeight: 'bold', letterSpacing: 3, marginBottom: 14 }}&gt;PRACTICE 01 · STREAMLIT 问答机器人&lt;/Text&gt;&#10;      &lt;Text style={{ fontSize: 34, color: '#FFFFFF', fontWeight: 'bold', lineHeight: 1.3, marginBottom: 18 }}&gt;&#10;        上传文档，到智能问答&#10;      &lt;/Text&gt;&#10;      &lt;Text style={{ fontSize: 16, color: '#DCE7F5', lineHeight: 1.8, marginBottom: 22 }}&gt;&#10;        一条链走完 &lt;span style={{ color: '#FF9F1C', fontWeight: 'bold' }}&gt;加载 → 分块 → 向量化 → 存库 → 检索&lt;/span&gt;，Streamlit 负责界面。&#10;      &lt;/Text&gt;&#10;      &lt;Box style={{ background: 'rgba(255,159,28,0.12)', border: '1px solid rgba(255,159,28,0.3)', borderRadius: 10, padding: '14px 18px' }}&gt;&#10;        &lt;Text style={{ fontSize: 14, color: '#FF9F1C', fontWeight: 'bold' }}&gt;&#10;          TextLoader 读文件，RecursiveTextSplitter 切块，Chroma 存向量&#10;        &lt;/Text&gt;&#10;      &lt;/Box&gt;&#10;    &lt;/Box&gt;&#10;&#10;    &lt;Box style={{ flex: 1, justifyContent: 'center' }}&gt;&#10;      &lt;CodeBlock&#10;        code={`from langchain_community.document_loaders import TextLoader&#10;from langchain.text_splitter import RecursiveCharacterTextSplitter&#10;from langchain_openai import OpenAIEmbeddings&#10;from langchain_chroma import Chroma&#10;&#10;docs = TextLoader(&quot;知识库.txt&quot;).load()&#10;chunks = RecursiveCharacterTextSplitter(&#10;    chunk_size=500).split_documents(docs)&#10;store = Chroma.from_documents(chunks, OpenAIEmbeddings())&#10;retriever = store.as_retriever()&#10;&#10;hits = retriever.get_relevant_documents(&quot;问题&quot;)`}&#10;        language='python'&#10;        width={560}&#10;        fontSize={13}&#10;      /&gt;&#10;    &lt;/Box&gt;&#10;  &lt;/Box&gt;&#10;  &lt;Box style={{ position: 'absolute', bottom: 14, left: 60, right: 60, flexDirection: 'row', justifyContent: 'space-between' }}&gt;&#10;    &lt;Text style={{ fontSize: 14, color: '#8FA4B8' }}&gt;AI 从零开始 · 第 5 讲&lt;/Text&gt;&#10;    &lt;Text style={{ fontSize: 14, color: '#8FA4B8' }}&gt;0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71500" y="2457450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PRACTICE 01 · STREAMLIT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问答机器人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71500" y="2752725"/>
            <a:ext cx="531495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FFFFF"/>
                </a:solidFill>
                <a:latin typeface="思源黑体"/>
                <a:ea typeface="思源黑体"/>
              </a:rPr>
              <a:t>上传文档，到智能问答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71500" y="3438525"/>
            <a:ext cx="5314950" cy="3333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一条链走完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r>
              <a:rPr lang="zh-CN" sz="1200" b="1">
                <a:solidFill>
                  <a:srgbClr val="FF9F1C"/>
                </a:solidFill>
                <a:latin typeface="思源黑体"/>
                <a:ea typeface="思源黑体"/>
              </a:rPr>
              <a:t>加载</a:t>
            </a:r>
            <a:r>
              <a:rPr lang="en-US" sz="1200" b="1">
                <a:solidFill>
                  <a:srgbClr val="FF9F1C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FF9F1C"/>
                </a:solidFill>
                <a:latin typeface="思源黑体"/>
                <a:ea typeface="思源黑体"/>
              </a:rPr>
              <a:t>分块</a:t>
            </a:r>
            <a:r>
              <a:rPr lang="en-US" sz="1200" b="1">
                <a:solidFill>
                  <a:srgbClr val="FF9F1C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FF9F1C"/>
                </a:solidFill>
                <a:latin typeface="思源黑体"/>
                <a:ea typeface="思源黑体"/>
              </a:rPr>
              <a:t>向量化</a:t>
            </a:r>
            <a:r>
              <a:rPr lang="en-US" sz="1200" b="1">
                <a:solidFill>
                  <a:srgbClr val="FF9F1C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FF9F1C"/>
                </a:solidFill>
                <a:latin typeface="思源黑体"/>
                <a:ea typeface="思源黑体"/>
              </a:rPr>
              <a:t>存库</a:t>
            </a:r>
            <a:r>
              <a:rPr lang="en-US" sz="1200" b="1">
                <a:solidFill>
                  <a:srgbClr val="FF9F1C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FF9F1C"/>
                </a:solidFill>
                <a:latin typeface="思源黑体"/>
                <a:ea typeface="思源黑体"/>
              </a:rPr>
              <a:t>检索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，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Streamlit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负责界面。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71500" y="3981450"/>
            <a:ext cx="5314950" cy="428625"/>
          </a:xfrm>
          <a:prstGeom prst="roundRect">
            <a:avLst>
              <a:gd name="adj" fmla="val 22222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42950" y="4114800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TextLoader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读文件，</a:t>
            </a: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RecursiveTextSplitter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切块，</a:t>
            </a: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Chroma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存向量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305550" y="2047875"/>
            <a:ext cx="5314950" cy="2771775"/>
          </a:xfrm>
          <a:prstGeom prst="roundRect">
            <a:avLst>
              <a:gd name="adj" fmla="val 2749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201" name=""/>
          <p:cNvSpPr txBox="1"/>
          <p:nvPr/>
        </p:nvSpPr>
        <p:spPr>
          <a:xfrm rot="0" flipH="0" flipV="0">
            <a:off x="6457950" y="2181225"/>
            <a:ext cx="5010150" cy="2505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langchain_community.document_loaders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TextLoader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langchain.text_splitter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RecursiveCharacterTextSplitter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langchain_openai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OpenAIEmbeddings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langchain_chroma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Chroma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docs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TextLoader(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"知识库.txt"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).load()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chunks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RecursiveCharacterTextSplitter(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chunk_size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500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).split_documents(docs)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store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Chroma.from_documents(chunks, OpenAIEmbeddings())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retriever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store.as_retriever()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hits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retriever.get_relevant_documents(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"问题"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5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04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36 }}&gt;&#10;    &lt;Box style={{ flex: 3, flexDirection: 'column' }}&gt;&#10;      &lt;Text style={{ fontSize: 14, color: '#FF9F1C', fontWeight: 'bold', letterSpacing: 2, marginBottom: 8 }}&gt;PRACTICE 02 · AGENT 化检索&lt;/Text&gt;&#10;      &lt;Text style={{ fontSize: 34, color: '#16263F', fontWeight: 'bold', marginBottom: 16 }}&gt;把检索器变成 Agent 的一件「工具」&lt;/Text&gt;&#10;      &lt;Box style={{ width: 56, height: 4, background: '#22D3EE', marginBottom: 18 }} /&gt;&#10;      &lt;CodeBlock&#10;        code={`from langchain.agents import create_react_agent, AgentExecutor&#10;from langchain.tools.retriever import create_retriever_tool&#10;&#10;# 把 retriever 包装成工具&#10;tool = create_retriever_tool(&#10;    retriever, &quot;search_docs&quot;,&#10;    &quot;在知识库中检索答案&quot;,&#10;)&#10;&#10;agent = create_react_agent(llm, [tool], prompt)&#10;executor = AgentExecutor(agent=agent, tools=[tool])&#10;&#10;executor.invoke({&quot;input&quot;: &quot;今天的股价多少？&quot;})`}&#10;        language='python'&#10;        width={620}&#10;        fontSize={13}&#10;      /&gt;&#10;    &lt;/Box&gt;&#10;&#10;    &lt;Box style={{ flex: 2, flexDirection: 'column', gap: 14, justifyContent: 'center' }}&gt;&#10;      &lt;Box style={{ background: '#FFFFFF', borderRadius: 12, padding: '16px 20px', boxShadow: '0 2px 12px rgba(22,38,63,0.06)' }}&gt;&#10;        &lt;Text style={{ fontSize: 17, fontWeight: 'bold', color: '#16263F', marginBottom: 4 }}&gt;自主决策&lt;/Text&gt;&#10;        &lt;Text style={{ fontSize: 13, color: '#5B6B7A', lineHeight: 1.6 }}&gt;Agent 自己判断「要不要查、查几次」，不再写死检索逻辑。&lt;/Text&gt;&#10;      &lt;/Box&gt;&#10;      &lt;Box style={{ background: '#FFFFFF', borderRadius: 12, padding: '16px 20px', boxShadow: '0 2px 12px rgba(22,38,63,0.06)' }}&gt;&#10;        &lt;Text style={{ fontSize: 17, fontWeight: 'bold', color: '#16263F', marginBottom: 4 }}&gt;查不到就明说&lt;/Text&gt;&#10;        &lt;Text style={{ fontSize: 13, color: '#5B6B7A', lineHeight: 1.6 }}&gt;检索无结果时坦诚「我没查到」，而不是硬编一个答案。&lt;/Text&gt;&#10;      &lt;/Box&gt;&#10;      &lt;Box style={{ background: '#16263F', borderRadius: 12, padding: '16px 20px' }}&gt;&#10;        &lt;Text style={{ fontSize: 14, color: '#DCE7F5', lineHeight: 1.6 }}&gt;&#10;          这是 RAG 与 Agent 的交汇点——&lt;span style={{ color: '#22D3EE', fontWeight: 'bold' }}&gt;下一讲正式展开 Agent&lt;/span&gt;。&#10;        &lt;/Text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5 讲&lt;/Text&gt;&#10;    &lt;Text style={{ fontSize: 14, color: '#5B6B7A' }}&gt;0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641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PRACTICE 02 · AGENT </a:t>
            </a:r>
            <a:r>
              <a:rPr lang="zh-CN" sz="1050" b="1" spc="150">
                <a:solidFill>
                  <a:srgbClr val="FF9F1C"/>
                </a:solidFill>
                <a:latin typeface="思源黑体"/>
                <a:ea typeface="思源黑体"/>
              </a:rPr>
              <a:t>化检索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6419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把检索器变成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的一件「工具」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9715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7334250" y="2238375"/>
            <a:ext cx="4286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524750" y="2390775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自主决策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524750" y="2628900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Agent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自己判断「要不要查、查几次」，不再写死检索逻辑。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334250" y="3152775"/>
            <a:ext cx="4286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524750" y="3305175"/>
            <a:ext cx="390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查不到就明说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524750" y="3543300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检索无结果时坦诚「我没查到」，而不是硬编一个答案。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334250" y="4067175"/>
            <a:ext cx="4286250" cy="561975"/>
          </a:xfrm>
          <a:prstGeom prst="roundRect">
            <a:avLst>
              <a:gd name="adj" fmla="val 20339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524750" y="4219575"/>
            <a:ext cx="39052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这是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RAG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与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的交汇点——</a:t>
            </a:r>
            <a:r>
              <a:rPr lang="zh-CN" sz="1050" b="1">
                <a:solidFill>
                  <a:srgbClr val="22D3EE"/>
                </a:solidFill>
                <a:latin typeface="思源黑体"/>
                <a:ea typeface="思源黑体"/>
              </a:rPr>
              <a:t>下一讲正式展开</a:t>
            </a: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 Agent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571500" y="1181100"/>
            <a:ext cx="6419850" cy="2971800"/>
          </a:xfrm>
          <a:prstGeom prst="roundRect">
            <a:avLst>
              <a:gd name="adj" fmla="val 2564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218" name=""/>
          <p:cNvSpPr txBox="1"/>
          <p:nvPr/>
        </p:nvSpPr>
        <p:spPr>
          <a:xfrm rot="0" flipH="0" flipV="0">
            <a:off x="723900" y="1314450"/>
            <a:ext cx="6115050" cy="2705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langchain.agents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create_react_agent, AgentExecutor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langchain.tools.retriever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create_retriever_tool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把 retriever 包装成工具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tool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create_retriever_tool(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retriever,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"search_docs"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"在知识库中检索答案"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agent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create_react_agent(llm, [tool], prompt)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executor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AgentExecutor(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agent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agent,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tools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[tool])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executor.invoke({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"input"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"今天的股价多少？"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})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5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21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RESPONSE NOTES&lt;/Text&gt;&#10;    &lt;Text style={{ fontSize: 34, color: '#16263F', fontWeight: 'bold', marginBottom: 24 }}&gt;响应模型注意点：检索准，还要答得对&lt;/Text&gt;&#10;    &lt;Box style={{ width: 56, height: 4, background: '#22D3EE', marginBottom: 26 }} /&gt;&#10;&#10;    &lt;Box style={{ flexDirection: 'row', gap: 24, flex: 1 }}&gt;&#10;      &lt;Box style={{ flex: 1, background: '#FFFFFF', borderRadius: 14, padding: '26px 24px', boxShadow: '0 2px 12px rgba(22,38,63,0.06)' }}&gt;&#10;        &lt;Box style={{ width: 52, height: 52, borderRadius: 13, background: '#EAF2FB', justifyContent: 'center', alignItems: 'center', marginBottom: 14 }}&gt;&#10;          &lt;FAIcon name='object-group' style={{ fill: '#22D3EE', width: 26, height: 26 }} /&gt;&#10;        &lt;/Box&gt;&#10;        &lt;Text style={{ fontSize: 20, fontWeight: 'bold', color: '#16263F', marginBottom: 8 }}&gt;上下文融合&lt;/Text&gt;&#10;        &lt;Text style={{ fontSize: 14, color: '#5B6B7A', lineHeight: 1.8 }}&gt;&#10;          把检索片段与问题组织成清晰 prompt，明确「依据片段回答」，避免模型忽略上下文。&#10;        &lt;/Text&gt;&#10;      &lt;/Box&gt;&#10;      &lt;Box style={{ flex: 1, background: '#FFFFFF', borderRadius: 14, padding: '26px 24px', boxShadow: '0 2px 12px rgba(22,38,63,0.06)' }}&gt;&#10;        &lt;Box style={{ width: 52, height: 52, borderRadius: 13, background: '#EAF2FB', justifyContent: 'center', alignItems: 'center', marginBottom: 14 }}&gt;&#10;          &lt;FAIcon name='shield' style={{ fill: '#22D3EE', width: 26, height: 26 }} /&gt;&#10;        &lt;/Box&gt;&#10;        &lt;Text style={{ fontSize: 20, fontWeight: 'bold', color: '#16263F', marginBottom: 8 }}&gt;幻觉抑制&lt;/Text&gt;&#10;        &lt;Text style={{ fontSize: 14, color: '#5B6B7A', lineHeight: 1.8 }}&gt;&#10;          约束模型「不知道就承认」，检索无结果时禁止编造，必要时附来源。&#10;        &lt;/Text&gt;&#10;      &lt;/Box&gt;&#10;      &lt;Box style={{ flex: 1, background: '#16263F', borderRadius: 14, padding: '26px 24px' }}&gt;&#10;        &lt;Box style={{ width: 52, height: 52, borderRadius: 13, background: 'rgba(255,159,28,0.15)', justifyContent: 'center', alignItems: 'center', marginBottom: 14 }}&gt;&#10;          &lt;FAIcon name='link' style={{ fill: '#FF9F1C', width: 26, height: 26 }} /&gt;&#10;        &lt;/Box&gt;&#10;        &lt;Text style={{ fontSize: 20, fontWeight: 'bold', color: '#FFFFFF', marginBottom: 8 }}&gt;逻辑连贯性&lt;/Text&gt;&#10;        &lt;Text style={{ fontSize: 14, color: '#DCE7F5', lineHeight: 1.8 }}&gt;&#10;          多片段信息要整合成通顺表达，避免东拼西凑、前后矛盾。&#10;        &lt;/Text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5 讲&lt;/Text&gt;&#10;    &lt;Text style={{ fontSize: 14, color: '#5B6B7A' }}&gt;0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RESPONSE NOTES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响应模型注意点：检索准，还要答得对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571500" y="1333500"/>
            <a:ext cx="3533775" cy="5334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800100" y="15811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1704975"/>
            <a:ext cx="247650" cy="247650"/>
          </a:xfrm>
          <a:prstGeom prst="rect">
            <a:avLst/>
          </a:prstGeom>
          <a:ln/>
        </p:spPr>
      </p:pic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00100" y="220980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上下文融合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00100" y="2514600"/>
            <a:ext cx="30765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把检索片段与问题组织成清晰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prompt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，明确「依据片段回答」，避免模型忽略上下文。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4333875" y="1333500"/>
            <a:ext cx="3524250" cy="53340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4562475" y="15811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86300" y="1704975"/>
            <a:ext cx="247650" cy="247650"/>
          </a:xfrm>
          <a:prstGeom prst="rect">
            <a:avLst/>
          </a:prstGeom>
          <a:ln/>
        </p:spPr>
      </p:pic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562475" y="2209800"/>
            <a:ext cx="3067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幻觉抑制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562475" y="2514600"/>
            <a:ext cx="30670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约束模型「不知道就承认」，检索无结果时禁止编造，必要时附来源。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8086725" y="1333500"/>
            <a:ext cx="3533775" cy="5334000"/>
          </a:xfrm>
          <a:prstGeom prst="roundRect">
            <a:avLst>
              <a:gd name="adj" fmla="val 3774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8315325" y="15811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39150" y="1704975"/>
            <a:ext cx="247650" cy="24765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315325" y="220980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逻辑连贯性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315325" y="2514600"/>
            <a:ext cx="30765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多片段信息要整合成通顺表达，避免东拼西凑、前后矛盾。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5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40 }}&gt;&#10;    &lt;Box style={{ width: 320, paddingTop: 16 }}&gt;&#10;      &lt;Text style={{ fontSize: 14, color: '#FF9F1C', fontWeight: 'bold', letterSpacing: 2, marginBottom: 12 }}&gt;INDUSTRIAL ARCH&lt;/Text&gt;&#10;      &lt;Text style={{ fontSize: 34, color: '#16263F', fontWeight: 'bold', lineHeight: 1.35, marginBottom: 24 }}&gt;&#10;        进阶工业级架构&lt;br /&gt;从 demo 到生产&#10;      &lt;/Text&gt;&#10;      &lt;Box style={{ width: 56, height: 4, background: '#22D3EE', marginBottom: 24 }} /&gt;&#10;      &lt;Text style={{ fontSize: 16, color: '#5B6B7A', lineHeight: 1.7 }}&gt;&#10;        demo 是一条脚本，生产是&lt;span style={{ fontWeight: 'bold', color: '#16263F' }}&gt;五层组件 + 容器化&lt;/span&gt;协同——本页只看结构，不讲代码。&#10;      &lt;/Text&gt;&#10;    &lt;/Box&gt;&#10;&#10;    &lt;Box style={{ flex: 1, flexDirection: 'column', gap: 8, justifyContent: 'center' }}&gt;&#10;      &lt;Box style={{ flexDirection: 'row', alignItems: 'center', background: '#22D3EE', borderRadius: 8, padding: '12px 20px' }}&gt;&#10;        &lt;Text style={{ width: 180, fontSize: 16, fontWeight: 'bold', color: '#FFFFFF' }}&gt;React 前端&lt;/Text&gt;&#10;        &lt;Text style={{ flex: 1, fontSize: 13, color: '#FFFFFF', opacity: 0.95 }}&gt;对话界面与交互&lt;/Text&gt;&#10;      &lt;/Box&gt;&#10;      &lt;Box style={{ flexDirection: 'row', alignItems: 'center', background: '#2A9DB0', borderRadius: 8, padding: '12px 20px' }}&gt;&#10;        &lt;Text style={{ width: 180, fontSize: 16, fontWeight: 'bold', color: '#FFFFFF' }}&gt;CopilotKit&lt;/Text&gt;&#10;        &lt;Text style={{ flex: 1, fontSize: 13, color: '#FFFFFF', opacity: 0.95 }}&gt;前端 Agent 状态与工具 UI&lt;/Text&gt;&#10;      &lt;/Box&gt;&#10;      &lt;Box style={{ flexDirection: 'row', alignItems: 'center', background: '#2E5E8A', borderRadius: 8, padding: '12px 20px' }}&gt;&#10;        &lt;Text style={{ width: 180, fontSize: 16, fontWeight: 'bold', color: '#FFFFFF' }}&gt;NestJS 后端&lt;/Text&gt;&#10;        &lt;Text style={{ flex: 1, fontSize: 13, color: '#FFFFFF', opacity: 0.95 }}&gt;业务 API 与流式转发&lt;/Text&gt;&#10;      &lt;/Box&gt;&#10;      &lt;Box style={{ flexDirection: 'row', alignItems: 'center', background: '#274C78', borderRadius: 8, padding: '12px 20px' }}&gt;&#10;        &lt;Text style={{ width: 180, fontSize: 16, fontWeight: 'bold', color: '#FFFFFF' }}&gt;LangGraph 工作流&lt;/Text&gt;&#10;        &lt;Text style={{ flex: 1, fontSize: 13, color: '#FFFFFF', opacity: 0.95 }}&gt;RAG 流程编排与状态管理&lt;/Text&gt;&#10;      &lt;/Box&gt;&#10;      &lt;Box style={{ flexDirection: 'row', alignItems: 'center', background: '#1E3A5F', borderRadius: 8, padding: '12px 20px' }}&gt;&#10;        &lt;Text style={{ width: 180, fontSize: 16, fontWeight: 'bold', color: '#FFFFFF' }}&gt;Chroma 向量库&lt;/Text&gt;&#10;        &lt;Text style={{ flex: 1, fontSize: 13, color: '#FFFFFF', opacity: 0.95 }}&gt;语义检索与向量存储&lt;/Text&gt;&#10;      &lt;/Box&gt;&#10;      &lt;Box style={{ flexDirection: 'row', alignItems: 'center', background: '#FF9F1C', borderRadius: 8, padding: '12px 20px' }}&gt;&#10;        &lt;Text style={{ width: 180, fontSize: 16, fontWeight: 'bold', color: '#FFFFFF' }}&gt;Docker 容器化&lt;/Text&gt;&#10;        &lt;Text style={{ flex: 1, fontSize: 13, color: '#FFFFFF', opacity: 0.95 }}&gt;全套服务一键编排部署&lt;/Text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5 讲&lt;/Text&gt;&#10;    &lt;Text style={{ fontSize: 14, color: '#5B6B7A' }}&gt;10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3429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INDUSTRIAL ARCH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619125"/>
            <a:ext cx="3048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进阶工业级架构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从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demo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到生产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9050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2171700"/>
            <a:ext cx="3048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demo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是一条脚本，生产是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五层组件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+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容器化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协同——本页只看结构，不讲代码。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4000500" y="1981200"/>
            <a:ext cx="7620000" cy="419100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191000" y="2095500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React </a:t>
            </a: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前端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000500" y="2476500"/>
            <a:ext cx="7620000" cy="419100"/>
          </a:xfrm>
          <a:prstGeom prst="roundRect">
            <a:avLst>
              <a:gd name="adj" fmla="val 18182"/>
            </a:avLst>
          </a:prstGeom>
          <a:solidFill>
            <a:srgbClr val="2A9DB0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191000" y="2590800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CopilotKit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4000500" y="2971800"/>
            <a:ext cx="7620000" cy="419100"/>
          </a:xfrm>
          <a:prstGeom prst="roundRect">
            <a:avLst>
              <a:gd name="adj" fmla="val 18182"/>
            </a:avLst>
          </a:prstGeom>
          <a:solidFill>
            <a:srgbClr val="2E5E8A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191000" y="3086100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NestJS </a:t>
            </a: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后端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000500" y="3467100"/>
            <a:ext cx="7620000" cy="419100"/>
          </a:xfrm>
          <a:prstGeom prst="roundRect">
            <a:avLst>
              <a:gd name="adj" fmla="val 18182"/>
            </a:avLst>
          </a:prstGeom>
          <a:solidFill>
            <a:srgbClr val="274C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191000" y="3581400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LangGraph </a:t>
            </a: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工作流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4000500" y="3962400"/>
            <a:ext cx="7620000" cy="41910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191000" y="4076700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Chroma </a:t>
            </a: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向量库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000500" y="4457700"/>
            <a:ext cx="7620000" cy="419100"/>
          </a:xfrm>
          <a:prstGeom prst="roundRect">
            <a:avLst>
              <a:gd name="adj" fmla="val 18182"/>
            </a:avLst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191000" y="4572000"/>
            <a:ext cx="171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>Docker </a:t>
            </a: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容器化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905500" y="2114550"/>
            <a:ext cx="552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对话界面与交互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905500" y="2609850"/>
            <a:ext cx="552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前端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 Agent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状态与工具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 UI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905500" y="3105150"/>
            <a:ext cx="552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业务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 API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与流式转发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905500" y="3600450"/>
            <a:ext cx="552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RAG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流程编排与状态管理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905500" y="4095750"/>
            <a:ext cx="552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语义检索与向量存储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905500" y="4591050"/>
            <a:ext cx="552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全套服务一键编排部署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5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38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CHAPTER 04 · ROADMAP&lt;/Text&gt;&#10;    &lt;Text style={{ fontSize: 40, color: '#FFFFFF', fontWeight: 'bold', marginBottom: 12 }}&gt;从 demo 到工业级，三级跳&lt;/Text&gt;&#10;    &lt;Text style={{ fontSize: 16, color: '#DCE7F5', marginBottom: 30 }}&gt;&#10;      先跑通一条脚本，再做 Agent 化检索，最后演进到容器化生产架构&#10;    &lt;/Text&gt;&#10;&#10;    &lt;Box style={{ flexDirection: 'row', gap: 20, marginBottom: 26 }}&gt;&#10;      {[&#10;        { n: 'L1', t: '脚本级 demo', d: 'Streamlit + Chroma 跑通问答' },&#10;        { n: 'L2', t: 'Agent 化', d: '检索器变工具，自主决策' },&#10;        { n: 'L3', t: '工业级', d: '五层组件 + 容器化生产' },&#10;      ].map((item, idx) =&gt; (&#10;        &lt;Box key={idx} style={{ flex: 1, background: 'rgba(255,255,255,0.07)', border: '1px solid rgba(220,231,245,0.2)', borderRadius: 12, padding: '22px 22px' }}&gt;&#10;          &lt;Text style={{ fontSize: 13, color: '#FF9F1C', fontWeight: 'bold', marginBottom: 8 }}&gt;{item.n}&lt;/Text&gt;&#10;          &lt;Text style={{ fontSize: 20, fontWeight: 'bold', color: '#22D3EE', marginBottom: 6 }}&gt;{item.t}&lt;/Text&gt;&#10;          &lt;Text style={{ fontSize: 14, color: '#DCE7F5' }}&gt;{item.d}&lt;/Text&gt;&#10;        &lt;/Box&gt;&#10;      ))}&#10;    &lt;/Box&gt;&#10;&#10;    &lt;Box style={{ background: 'rgba(255,159,28,0.12)', border: '1px solid rgba(255,159,28,0.3)', borderRadius: 14, padding: '20px 24px', marginBottom: 14 }}&gt;&#10;      &lt;Text style={{ fontSize: 18, fontWeight: 'bold', color: '#FF9F1C', marginBottom: 8 }}&gt;动手练习 · 三步完成&lt;/Text&gt;&#10;      &lt;Text style={{ fontSize: 15, color: '#DCE7F5', lineHeight: 1.9 }}&gt;&#10;        ① 上传一份文档跑通 RAG 问答 → ② 换成 bge-m3 嵌入 + Qdrant → ③ 加上 Reranker 重排序对比效果&#10;      &lt;/Text&gt;&#10;    &lt;/Box&gt;&#10;&#10;    &lt;Box style={{ background: 'rgba(255,255,255,0.06)', borderRadius: 12, padding: '16px 22px' }}&gt;&#10;      &lt;Text style={{ fontSize: 15, color: '#DCE7F5', lineHeight: 1.9 }}&gt;&#10;        自测 3 题：RAG 六步流程？KNN 与 ANN 区别？检索三件套各解决什么问题？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71500" y="120015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04 · ROADMAP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71500" y="1495425"/>
            <a:ext cx="11049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从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demo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到工业级，三级跳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71500" y="2066925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先跑通一条脚本，再做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Agent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化检索，最后演进到容器化生产架构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571500" y="2543175"/>
            <a:ext cx="3552825" cy="1095375"/>
          </a:xfrm>
          <a:prstGeom prst="roundRect">
            <a:avLst>
              <a:gd name="adj" fmla="val 1043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81050" y="2752725"/>
            <a:ext cx="3133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L1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81050" y="2981325"/>
            <a:ext cx="3133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思源黑体"/>
                <a:ea typeface="思源黑体"/>
              </a:rPr>
              <a:t>脚本级</a:t>
            </a:r>
            <a:r>
              <a:rPr lang="en-US" sz="1500" b="1">
                <a:solidFill>
                  <a:srgbClr val="22D3EE"/>
                </a:solidFill>
                <a:latin typeface="思源黑体"/>
                <a:ea typeface="思源黑体"/>
              </a:rPr>
              <a:t> demo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81050" y="32670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Streamlit + Chroma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跑通问答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314825" y="2543175"/>
            <a:ext cx="3562350" cy="1095375"/>
          </a:xfrm>
          <a:prstGeom prst="roundRect">
            <a:avLst>
              <a:gd name="adj" fmla="val 1043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524375" y="2752725"/>
            <a:ext cx="3143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L2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524375" y="2981325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D3EE"/>
                </a:solidFill>
                <a:latin typeface="思源黑体"/>
                <a:ea typeface="思源黑体"/>
              </a:rPr>
              <a:t>Agent </a:t>
            </a:r>
            <a:r>
              <a:rPr lang="zh-CN" sz="1500" b="1">
                <a:solidFill>
                  <a:srgbClr val="22D3EE"/>
                </a:solidFill>
                <a:latin typeface="思源黑体"/>
                <a:ea typeface="思源黑体"/>
              </a:rPr>
              <a:t>化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524375" y="32670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检索器变工具，自主决策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8067675" y="2543175"/>
            <a:ext cx="3552825" cy="1095375"/>
          </a:xfrm>
          <a:prstGeom prst="roundRect">
            <a:avLst>
              <a:gd name="adj" fmla="val 1043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277225" y="2752725"/>
            <a:ext cx="3133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L3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277225" y="2981325"/>
            <a:ext cx="3133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思源黑体"/>
                <a:ea typeface="思源黑体"/>
              </a:rPr>
              <a:t>工业级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277225" y="32670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五层组件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容器化生产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571500" y="3886200"/>
            <a:ext cx="11049000" cy="1000125"/>
          </a:xfrm>
          <a:prstGeom prst="roundRect">
            <a:avLst>
              <a:gd name="adj" fmla="val 13333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0100" y="40767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动手练习</a:t>
            </a:r>
            <a:r>
              <a:rPr lang="en-US" sz="1350" b="1">
                <a:solidFill>
                  <a:srgbClr val="FF9F1C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三步完成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00100" y="4362450"/>
            <a:ext cx="105918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①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上传一份文档跑通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RAG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问答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②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换成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bge-m3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嵌入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+ Qdrant → ③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加上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Reranker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重排序对比效果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571500" y="5019675"/>
            <a:ext cx="11049000" cy="638175"/>
          </a:xfrm>
          <a:prstGeom prst="roundRect">
            <a:avLst>
              <a:gd name="adj" fmla="val 1791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81050" y="5172075"/>
            <a:ext cx="106299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自测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题：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RAG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六步流程？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KNN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与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ANN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区别？检索三件套各解决什么问题？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2026-08-13T21:36:36Z</dcterms:created>
  <dcterms:modified xsi:type="dcterms:W3CDTF">2026-08-13T21:36:36Z</dcterms:modified>
</cp:coreProperties>
</file>