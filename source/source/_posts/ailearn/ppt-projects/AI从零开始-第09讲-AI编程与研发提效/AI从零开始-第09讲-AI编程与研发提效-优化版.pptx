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15" Type="http://schemas.openxmlformats.org/officeDocument/2006/relationships/tableStyles" Target="tableStyles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presProps" Target="presProps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9" Type="http://schemas.openxmlformats.org/officeDocument/2006/relationships/slide" Target="slides/slide9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10.svg" /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12.svg" /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5" Type="http://schemas.openxmlformats.org/officeDocument/2006/relationships/image" Target="media/image16.svg" /><Relationship Id="rId1" Type="http://schemas.openxmlformats.org/officeDocument/2006/relationships/image" Target="media/image13.svg" /><Relationship Id="rId4" Type="http://schemas.openxmlformats.org/officeDocument/2006/relationships/image" Target="media/image6.svg" /><Relationship Id="rId3" Type="http://schemas.openxmlformats.org/officeDocument/2006/relationships/image" Target="media/image15.svg" /><Relationship Id="rId2" Type="http://schemas.openxmlformats.org/officeDocument/2006/relationships/image" Target="media/image14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7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5" Type="http://schemas.openxmlformats.org/officeDocument/2006/relationships/image" Target="media/image22.svg" /><Relationship Id="rId2" Type="http://schemas.openxmlformats.org/officeDocument/2006/relationships/image" Target="media/image19.svg" /><Relationship Id="rId4" Type="http://schemas.openxmlformats.org/officeDocument/2006/relationships/image" Target="media/image21.svg" /><Relationship Id="rId3" Type="http://schemas.openxmlformats.org/officeDocument/2006/relationships/image" Target="media/image20.svg" /><Relationship Id="rId1" Type="http://schemas.openxmlformats.org/officeDocument/2006/relationships/image" Target="media/image18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5.svg" /><Relationship Id="rId3" Type="http://schemas.openxmlformats.org/officeDocument/2006/relationships/image" Target="media/image6.svg" /><Relationship Id="rId1" Type="http://schemas.openxmlformats.org/officeDocument/2006/relationships/image" Target="media/image4.svg" /><Relationship Id="rId4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9 讲&lt;/Text&gt;&#10;    &lt;Text style={{ fontSize: 52, color: '#FFFFFF', fontWeight: 'bold', lineHeight: 1.25, marginBottom: 20 }}&gt;&#10;      从让 AI 写代码&lt;br /&gt;到让 AI 按规范写代码&#10;    &lt;/Text&gt;&#10;    &lt;Box style={{ width: 80, height: 4, background: '#FF9F1C', marginBottom: 28 }} /&gt;&#10;    &lt;Text style={{ fontSize: 22, color: '#DCE7F5', lineHeight: 1.6 }}&gt;&#10;      Spec 驱动 + 评审驱动 + 工程化工具，把研发提效落到实处&#10;    &lt;/Text&gt;&#10;    &lt;Text style={{ fontSize: 15, color: '#8FA4B8', marginTop: 36 }}&gt;&#10;      学完能落地 Spec-Kit 八命令工作流，让 AI 写出合规范的代码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9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从让</a:t>
            </a: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 AI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写代码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到让</a:t>
            </a: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 AI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按规范写代码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259080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Spec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驱动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评审驱动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工程化工具，把研发提效落到实处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学完能落地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Spec-Kit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八命令工作流，让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写出合规范的代码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18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SPEC DRIVEN&lt;/Text&gt;&#10;    &lt;Text style={{ fontSize: 34, color: '#16263F', fontWeight: 'bold', marginBottom: 24 }}&gt;先写规格再动手：把返工消灭在源头&lt;/Text&gt;&#10;    &lt;Box style={{ width: 56, height: 4, background: '#22D3EE', marginBottom: 24 }} /&gt;&#10;&#10;    &lt;Box style={{ flexDirection: 'row', gap: 24, flex: 1 }}&gt;&#10;      &lt;Box style={{ flex: 1, background: '#FFFFFF', borderRadius: 14, padding: '24px 26px', boxShadow: '0 2px 12px rgba(22,38,63,0.06)' }}&gt;&#10;        &lt;Box style={{ flexDirection: 'row', alignItems: 'center', gap: 10, marginBottom: 12 }}&gt;&#10;          &lt;FAIcon name='times-circle' style={{ fill: '#5B6B7A', width: 26, height: 26 }} /&gt;&#10;          &lt;Text style={{ fontSize: 20, fontWeight: 'bold', color: '#16263F' }}&gt;传统开发&lt;/Text&gt;&#10;        &lt;/Box&gt;&#10;        &lt;Text style={{ fontSize: 15, color: '#5B6B7A', lineHeight: 1.9 }}&gt;&#10;          边写边想，需求靠脑补&lt;br /&gt;&#10;          → 写一半发现理解错了&lt;br /&gt;&#10;          → 返工、返工、再返工&#10;        &lt;/Text&gt;&#10;      &lt;/Box&gt;&#10;&#10;      &lt;Box style={{ flex: 1, background: '#16263F', borderRadius: 14, padding: '24px 26px' }}&gt;&#10;        &lt;Box style={{ flexDirection: 'row', alignItems: 'center', gap: 10, marginBottom: 12 }}&gt;&#10;          &lt;FAIcon name='check-circle' style={{ fill: '#22D3EE', width: 26, height: 26 }} /&gt;&#10;          &lt;Text style={{ fontSize: 20, fontWeight: 'bold', color: '#FFFFFF' }}&gt;Spec 驱动&lt;/Text&gt;&#10;        &lt;/Box&gt;&#10;        &lt;Text style={{ fontSize: 15, color: '#DCE7F5', lineHeight: 1.9 }}&gt;&#10;          先写规格，和 AI 对齐预期&lt;br /&gt;&#10;          → 确认无误再动手&lt;br /&gt;&#10;          → 一次到位，返工最小化&#10;        &lt;/Text&gt;&#10;      &lt;/Box&gt;&#10;    &lt;/Box&gt;&#10;&#10;    &lt;Box style={{ marginTop: 20 }}&gt;&#10;      &lt;Text style={{ fontSize: 14, color: '#5B6B7A', marginBottom: 10 }}&gt;Spec 六要素：规格是「对齐」的载体&lt;/Text&gt;&#10;      &lt;Box style={{ flexDirection: 'row', gap: 12 }}&gt;&#10;        {['User Story', '验收标准', '数据模型', '功能需求', '边界', '成功指标'].map((item, idx) =&gt; (&#10;          &lt;Box key={idx} style={{ flex: 1, background: '#FFFFFF', borderRadius: 10, padding: '12px 10px', boxShadow: '0 2px 12px rgba(22,38,63,0.06)', alignItems: 'center' }}&gt;&#10;            &lt;Text style={{ fontSize: 14, color: '#16263F', fontWeight: 'bold', textAlign: 'center' }}&gt;{item}&lt;/Text&gt;&#10;          &lt;/Box&gt;&#10;        ))}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0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SPEC DRIVEN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先写规格再动手：把返工消灭在源头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571500" y="1314450"/>
            <a:ext cx="5410200" cy="45148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543050"/>
            <a:ext cx="247650" cy="247650"/>
          </a:xfrm>
          <a:prstGeom prst="rect">
            <a:avLst/>
          </a:prstGeom>
          <a:ln/>
        </p:spPr>
      </p:pic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62050" y="1552575"/>
            <a:ext cx="78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传统开发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19150" y="1905000"/>
            <a:ext cx="4914900" cy="9810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边写边想，需求靠脑补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→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写一半发现理解错了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→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返工、返工、再返工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210300" y="1314450"/>
            <a:ext cx="5410200" cy="4514850"/>
          </a:xfrm>
          <a:prstGeom prst="roundRect">
            <a:avLst>
              <a:gd name="adj" fmla="val 2954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57950" y="1543050"/>
            <a:ext cx="247650" cy="24765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800850" y="1552575"/>
            <a:ext cx="904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Spec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驱动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457950" y="1905000"/>
            <a:ext cx="4914900" cy="9810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先写规格，和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对齐预期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确认无误再动手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一次到位，返工最小化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71500" y="60198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Spec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六要素：规格是「对齐」的载体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71500" y="6276975"/>
            <a:ext cx="1743075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04900" y="6391275"/>
            <a:ext cx="6762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User Story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2428875" y="6276975"/>
            <a:ext cx="1752600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028950" y="6391275"/>
            <a:ext cx="5524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验收标准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295775" y="6276975"/>
            <a:ext cx="1743075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895850" y="6391275"/>
            <a:ext cx="5524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数据模型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153150" y="6276975"/>
            <a:ext cx="1743075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753225" y="6391275"/>
            <a:ext cx="5524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功能需求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8010525" y="6276975"/>
            <a:ext cx="1752600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753475" y="6391275"/>
            <a:ext cx="2762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边界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9877425" y="6276975"/>
            <a:ext cx="1743075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477500" y="6391275"/>
            <a:ext cx="5524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成功指标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46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40, paddingTop: 20 }}&gt;&#10;      &lt;Text style={{ fontSize: 14, color: '#FF9F1C', fontWeight: 'bold', letterSpacing: 2, marginBottom: 12 }}&gt;SPEC-KIT&lt;/Text&gt;&#10;      &lt;Text style={{ fontSize: 34, color: '#16263F', fontWeight: 'bold', lineHeight: 1.35, marginBottom: 24 }}&gt;&#10;        Spec-Kit 全流程&lt;br /&gt;八个命令一条流水线&#10;      &lt;/Text&gt;&#10;      &lt;Box style={{ width: 56, height: 4, background: '#22D3EE', marginBottom: 24 }} /&gt;&#10;      &lt;Text style={{ fontSize: 16, color: '#5B6B7A', lineHeight: 1.7 }}&gt;&#10;        从「定规则」到「写实现」，八个命令把需求一步步变成合规范的代码——&lt;span style={{ fontWeight: 'bold', color: '#16263F' }}&gt;每一步都对齐、可追溯&lt;/span&gt;。&#10;      &lt;/Text&gt;&#10;    &lt;/Box&gt;&#10;&#10;    &lt;Box style={{ flex: 1, flexDirection: 'row', gap: 16, justifyContent: 'center' }}&gt;&#10;      {[&#10;        [&#10;          { c: 'constitution', d: '定项目宪法' },&#10;          { c: 'specify', d: '写需求规格' },&#10;          { c: 'checklist', d: '生成检查清单' },&#10;          { c: 'clarify', d: '澄清模糊点' },&#10;        ],&#10;        [&#10;          { c: 'plan', d: '生成实现计划' },&#10;          { c: 'tasks', d: '拆解任务' },&#10;          { c: 'analyze', d: '分析一致性' },&#10;          { c: 'implement', d: '执行实现' },&#10;        ],&#10;      ].map((col, ci) =&gt; (&#10;        &lt;Box key={ci} style={{ flex: 1, flexDirection: 'column', gap: 12, justifyContent: 'center' }}&gt;&#10;          {col.map((item, idx) =&gt; (&#10;            &lt;Box key={idx} style={{ flexDirection: 'row', alignItems: 'center', gap: 14, background: '#FFFFFF', borderRadius: 10, padding: '14px 18px', boxShadow: '0 2px 12px rgba(22,38,63,0.06)' }}&gt;&#10;              &lt;Text style={{ fontSize: 13, color: '#FF9F1C', fontWeight: 'bold', width: 26 }}&gt;{ci * 4 + idx + 1}&lt;/Text&gt;&#10;              &lt;Box style={{ flex: 1 }}&gt;&#10;                &lt;Text style={{ fontSize: 15, color: '#16263F', fontWeight: 'bold', fontFamily: '&quot;JetBrains Mono&quot;, monospace' }}&gt;{item.c}&lt;/Text&gt;&#10;              &lt;/Box&gt;&#10;              &lt;Text style={{ fontSize: 13, color: '#5B6B7A' }}&gt;{item.d}&lt;/Text&gt;&#10;            &lt;/Box&gt;&#10;          ))}&#10;        &lt;/Box&gt;&#10;      ))}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0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SPEC-KIT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2385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Spec-Kit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全流程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八个命令一条流水线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238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从「定规则」到「写实现」，八个命令把需求一步步变成合规范的代码——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每一步都对齐、可追溯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191000" y="2381250"/>
            <a:ext cx="363855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362450" y="2524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743450" y="25146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JetBrains Mono"/>
                <a:ea typeface="JetBrains Mono"/>
              </a:rPr>
              <a:t>constitution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019925" y="2524125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定项目宪法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4191000" y="2933700"/>
            <a:ext cx="363855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362450" y="30765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743450" y="306705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JetBrains Mono"/>
                <a:ea typeface="JetBrains Mono"/>
              </a:rPr>
              <a:t>specify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019925" y="3076575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写需求规格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4191000" y="3486150"/>
            <a:ext cx="363855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362450" y="36290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743450" y="3619500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JetBrains Mono"/>
                <a:ea typeface="JetBrains Mono"/>
              </a:rPr>
              <a:t>checklist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96100" y="362902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生成检查清单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191000" y="4038600"/>
            <a:ext cx="363855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362450" y="4181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743450" y="417195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JetBrains Mono"/>
                <a:ea typeface="JetBrains Mono"/>
              </a:rPr>
              <a:t>clarify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019925" y="4181475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澄清模糊点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7981950" y="2381250"/>
            <a:ext cx="363855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153400" y="2524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5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534400" y="2514600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JetBrains Mono"/>
                <a:ea typeface="JetBrains Mono"/>
              </a:rPr>
              <a:t>plan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0687050" y="252412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生成实现计划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7981950" y="2933700"/>
            <a:ext cx="363855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153400" y="30765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6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534400" y="3067050"/>
            <a:ext cx="226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JetBrains Mono"/>
                <a:ea typeface="JetBrains Mono"/>
              </a:rPr>
              <a:t>tasks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934700" y="30765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拆解任务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981950" y="3486150"/>
            <a:ext cx="363855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153400" y="36290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7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534400" y="36195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JetBrains Mono"/>
                <a:ea typeface="JetBrains Mono"/>
              </a:rPr>
              <a:t>analyze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810875" y="3629025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分析一致性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7981950" y="4038600"/>
            <a:ext cx="363855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53400" y="4181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8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534400" y="4171950"/>
            <a:ext cx="226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JetBrains Mono"/>
                <a:ea typeface="JetBrains Mono"/>
              </a:rPr>
              <a:t>implement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934700" y="41814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执行实现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6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CLARIFY&lt;/Text&gt;&#10;    &lt;Text style={{ fontSize: 34, color: '#16263F', fontWeight: 'bold', marginBottom: 24 }}&gt;需求澄清的价值：多问一句，少返工十次&lt;/Text&gt;&#10;    &lt;Box style={{ width: 56, height: 4, background: '#22D3EE', marginBottom: 26 }} /&gt;&#10;&#10;    &lt;Box style={{ flexDirection: 'row', gap: 28, flex: 1 }}&gt;&#10;      &lt;Box style={{ flex: 1, background: '#FFFFFF', borderRadius: 14, padding: '26px 26px', boxShadow: '0 2px 12px rgba(22,38,63,0.06)' }}&gt;&#10;        &lt;Box style={{ flexDirection: 'row', alignItems: 'center', gap: 10, marginBottom: 14 }}&gt;&#10;          &lt;FAIcon name='question-circle' style={{ fill: '#5B6B7A', width: 28, height: 28 }} /&gt;&#10;          &lt;Text style={{ fontSize: 20, fontWeight: 'bold', color: '#16263F' }}&gt;开发者自己猜&lt;/Text&gt;&#10;        &lt;/Box&gt;&#10;        &lt;Text style={{ fontSize: 15, color: '#5B6B7A', lineHeight: 1.9 }}&gt;&#10;          需求一句话，剩下的全靠猜&lt;br /&gt;&#10;          → 猜错方向，白干半天&lt;br /&gt;&#10;          → 交付时才发现不对 → 返工&#10;        &lt;/Text&gt;&#10;        &lt;Box style={{ marginTop: 16, background: '#F5F7FA', borderRadius: 8, padding: '12px 16px' }}&gt;&#10;          &lt;Text style={{ fontSize: 14, color: '#5B6B7A', fontWeight: 'bold' }}&gt;成本：高返工、低信任&lt;/Text&gt;&#10;        &lt;/Box&gt;&#10;      &lt;/Box&gt;&#10;&#10;      &lt;Box style={{ flex: 1, background: '#16263F', borderRadius: 14, padding: '26px 26px' }}&gt;&#10;        &lt;Box style={{ flexDirection: 'row', alignItems: 'center', gap: 10, marginBottom: 14 }}&gt;&#10;          &lt;FAIcon name='comments' style={{ fill: '#22D3EE', width: 28, height: 28 }} /&gt;&#10;          &lt;Text style={{ fontSize: 20, fontWeight: 'bold', color: '#FFFFFF' }}&gt;结构化提问&lt;/Text&gt;&#10;        &lt;/Box&gt;&#10;        &lt;Text style={{ fontSize: 15, color: '#DCE7F5', lineHeight: 1.9 }}&gt;&#10;          把模糊点变成一个个具体问题&lt;br /&gt;&#10;          → 一问一答，和 AI 对齐理解&lt;br /&gt;&#10;          → 需求锁定后再 plan → 返工锐减&#10;        &lt;/Text&gt;&#10;        &lt;Box style={{ marginTop: 16, background: 'rgba(255,159,28,0.15)', borderRadius: 8, padding: '12px 16px' }}&gt;&#10;          &lt;Text style={{ fontSize: 14, color: '#FF9F1C', fontWeight: 'bold' }}&gt;成本：一次对齐，长期省&lt;/Text&gt;&#10;        &lt;/Box&gt;&#10;      &lt;/Box&gt;&#10;    &lt;/Box&gt;&#10;&#10;    &lt;Box style={{ marginTop: 20, background: '#DCE7F5', borderRadius: 10, padding: '14px 22px' }}&gt;&#10;      &lt;Text style={{ fontSize: 16, color: '#16263F', fontWeight: 'bold' }}&gt;&#10;        心法：带着猜测进 plan，必返工——澄清是性价比最高的一步&#10;      &lt;/Text&gt;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0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CLARIFY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需求澄清的价值：多问一句，少返工十次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571500" y="1333500"/>
            <a:ext cx="5391150" cy="4686300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581150"/>
            <a:ext cx="266700" cy="266700"/>
          </a:xfrm>
          <a:prstGeom prst="rect">
            <a:avLst/>
          </a:prstGeom>
          <a:ln/>
        </p:spPr>
      </p:pic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81100" y="1600200"/>
            <a:ext cx="1171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开发者自己猜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19150" y="1981200"/>
            <a:ext cx="4895850" cy="9810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需求一句话，剩下的全靠猜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→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猜错方向，白干半天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→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交付时才发现不对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返工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819150" y="3114675"/>
            <a:ext cx="4895850" cy="390525"/>
          </a:xfrm>
          <a:prstGeom prst="roundRect">
            <a:avLst>
              <a:gd name="adj" fmla="val 1951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71550" y="3228975"/>
            <a:ext cx="459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B6B7A"/>
                </a:solidFill>
                <a:latin typeface="思源黑体"/>
                <a:ea typeface="思源黑体"/>
              </a:rPr>
              <a:t>成本：高返工、低信任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229350" y="1333500"/>
            <a:ext cx="5391150" cy="4686300"/>
          </a:xfrm>
          <a:prstGeom prst="roundRect">
            <a:avLst>
              <a:gd name="adj" fmla="val 2846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77000" y="1581150"/>
            <a:ext cx="266700" cy="266700"/>
          </a:xfrm>
          <a:prstGeom prst="rect">
            <a:avLst/>
          </a:prstGeom>
          <a:ln/>
        </p:spPr>
      </p:pic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38950" y="160020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结构化提问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477000" y="1981200"/>
            <a:ext cx="4895850" cy="9810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把模糊点变成一个个具体问题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一问一答，和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对齐理解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需求锁定后再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plan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返工锐减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477000" y="3114675"/>
            <a:ext cx="4895850" cy="390525"/>
          </a:xfrm>
          <a:prstGeom prst="roundRect">
            <a:avLst>
              <a:gd name="adj" fmla="val 19512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629400" y="3228975"/>
            <a:ext cx="459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成本：一次对齐，长期省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心法：带着猜测进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plan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，必返工——澄清是性价比最高的一步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07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BEST PRACTICE&lt;/Text&gt;&#10;    &lt;Text style={{ fontSize: 34, color: '#16263F', fontWeight: 'bold', marginBottom: 24 }}&gt;场景 × 命令组合：不是所有需求都要走完八步&lt;/Text&gt;&#10;    &lt;Box style={{ width: 56, height: 4, background: '#22D3EE', marginBottom: 24 }} /&gt;&#10;&#10;    &lt;Box style={{ flexDirection: 'column', gap: 14, flex: 1 }}&gt;&#10;      {[&#10;        { s: '常规需求', c: 'constitution → specify → clarify → plan → implement', tag: '完整流程', dark: false },&#10;        { s: '复杂 bug', c: 'specify → plan → analyze → implement', tag: '重排查', dark: false },&#10;        { s: '小 bug', c: 'implement → code-review', tag: '轻量修复', dark: false },&#10;        { s: '配置错误', c: 'implement（改配置）→ 验证', tag: '最快路径', dark: true },&#10;      ].map((item, idx) =&gt; (&#10;        &lt;Box key={idx} style={{ flexDirection: 'row', alignItems: 'center', gap: 20, background: item.dark ? '#16263F' : '#FFFFFF', borderRadius: 12, padding: '20px 24px', boxShadow: item.dark ? undefined : '0 2px 12px rgba(22,38,63,0.06)' }}&gt;&#10;          &lt;Box style={{ width: 110 }}&gt;&#10;            &lt;Text style={{ fontSize: 18, fontWeight: 'bold', color: item.dark ? '#FFFFFF' : '#16263F' }}&gt;{item.s}&lt;/Text&gt;&#10;          &lt;/Box&gt;&#10;          &lt;Box style={{ width: 70 }}&gt;&#10;            &lt;Text style={{ fontSize: 13, color: item.dark ? '#22D3EE' : '#FF9F1C', fontWeight: 'bold' }}&gt;{item.tag}&lt;/Text&gt;&#10;          &lt;/Box&gt;&#10;          &lt;Box style={{ flex: 1 }}&gt;&#10;            &lt;Text style={{ fontSize: 14, color: item.dark ? '#DCE7F5' : '#5B6B7A', fontFamily: '&quot;JetBrains Mono&quot;, monospace' }}&gt;{item.c}&lt;/Text&gt;&#10;          &lt;/Box&gt;&#10;        &lt;/Box&gt;&#10;      ))}&#10;    &lt;/Box&gt;&#10;&#10;    &lt;Box style={{ marginTop: 18, background: '#DCE7F5', borderRadius: 10, padding: '14px 22px' }}&gt;&#10;      &lt;Text style={{ fontSize: 15, color: '#16263F', fontWeight: 'bold' }}&gt;&#10;        原则：小问题用短路径，大需求才走完整流水线——别让流程变成负担&#10;      &lt;/Text&gt;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0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BEST PRACTICE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场景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×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命令组合：不是所有需求都要走完八步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571500" y="1314450"/>
            <a:ext cx="110490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00100" y="150495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常规需求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2038350" y="1533525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完整流程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2895600" y="1533525"/>
            <a:ext cx="849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JetBrains Mono"/>
                <a:ea typeface="JetBrains Mono"/>
              </a:rPr>
              <a:t>constitution → specify → clarify → plan → implement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571500" y="2038350"/>
            <a:ext cx="110490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00100" y="222885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复杂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bug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2038350" y="2257425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重排查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2895600" y="2257425"/>
            <a:ext cx="849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JetBrains Mono"/>
                <a:ea typeface="JetBrains Mono"/>
              </a:rPr>
              <a:t>specify → plan → analyze → implement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71500" y="2762250"/>
            <a:ext cx="110490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00100" y="295275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小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bug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2038350" y="2981325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轻量修复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2895600" y="2981325"/>
            <a:ext cx="849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JetBrains Mono"/>
                <a:ea typeface="JetBrains Mono"/>
              </a:rPr>
              <a:t>implement → code-review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571500" y="3486150"/>
            <a:ext cx="11049000" cy="590550"/>
          </a:xfrm>
          <a:prstGeom prst="roundRect">
            <a:avLst>
              <a:gd name="adj" fmla="val 19355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00100" y="367665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配置错误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038350" y="3705225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最快路径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895600" y="3705225"/>
            <a:ext cx="849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JetBrains Mono"/>
                <a:ea typeface="JetBrains Mono"/>
              </a:rPr>
              <a:t>implement</a:t>
            </a:r>
            <a:r>
              <a:rPr lang="zh-CN" sz="1050">
                <a:solidFill>
                  <a:srgbClr val="DCE7F5"/>
                </a:solidFill>
                <a:latin typeface="JetBrains Mono"/>
                <a:ea typeface="JetBrains Mono"/>
              </a:rPr>
              <a:t>（改配置）→</a:t>
            </a:r>
            <a:r>
              <a:rPr lang="en-US" sz="1050">
                <a:solidFill>
                  <a:srgbClr val="DCE7F5"/>
                </a:solidFill>
                <a:latin typeface="JetBrains Mono"/>
                <a:ea typeface="JetBrains Mono"/>
              </a:rPr>
              <a:t> </a:t>
            </a:r>
            <a:r>
              <a:rPr lang="zh-CN" sz="1050">
                <a:solidFill>
                  <a:srgbClr val="DCE7F5"/>
                </a:solidFill>
                <a:latin typeface="JetBrains Mono"/>
                <a:ea typeface="JetBrains Mono"/>
              </a:rPr>
              <a:t>验证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71500" y="6229350"/>
            <a:ext cx="11049000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81050" y="6362700"/>
            <a:ext cx="1062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原则：小问题用短路径，大需求才走完整流水线——别让流程变成负担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32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80, paddingTop: 20 }}&gt;&#10;      &lt;Text style={{ fontSize: 14, color: '#FF9F1C', fontWeight: 'bold', letterSpacing: 2, marginBottom: 12 }}&gt;REVIEW DRIVEN&lt;/Text&gt;&#10;      &lt;Text style={{ fontSize: 34, color: '#16263F', fontWeight: 'bold', lineHeight: 1.35, marginBottom: 24 }}&gt;&#10;        评审驱动开发：&lt;br /&gt;流程 ≠ 质量&#10;      &lt;/Text&gt;&#10;      &lt;Box style={{ width: 56, height: 4, background: '#22D3EE', marginBottom: 24 }} /&gt;&#10;      &lt;Text style={{ fontSize: 16, color: '#5B6B7A', lineHeight: 1.7 }}&gt;&#10;        光让 AI 走完流程不等于写对了。每一步都要&lt;span style={{ fontWeight: 'bold', color: '#16263F' }}&gt;主动提问、要它自查、逼它修复&lt;/span&gt;，把评审嵌入开发而不是事后补。&#10;      &lt;/Text&gt;&#10;    &lt;/Box&gt;&#10;&#10;    &lt;Box style={{ flex: 1, flexDirection: 'column', gap: 16, justifyContent: 'center' }}&gt;&#10;      &lt;Box style={{ flexDirection: 'row', alignItems: 'center', gap: 0 }}&gt;&#10;        {[&#10;          { t: '提问', d: '逼 AI 说清思路', icon: 'question' },&#10;          { t: '建议', d: '指出问题与改进点', icon: 'comment-dots' },&#10;          { t: '修复', d: '按反馈回炉修改', icon: 'wrench' },&#10;          { t: '再提问', d: '确认改对了没有', icon: 'sync' },&#10;        ].map((item, idx) =&gt; (&#10;          &lt;Box key={idx} style={{ flexDirection: 'row', alignItems: 'center', flex: 1 }}&gt;&#10;            &lt;Box style={{ flex: 1, background: idx === 1 ? '#16263F' : '#FFFFFF', borderRadius: 12, padding: '18px 16px', boxShadow: '0 2px 12px rgba(22,38,63,0.06)', alignItems: 'center' }}&gt;&#10;              &lt;FAIcon name={item.icon} style={{ fill: idx === 1 ? '#FF9F1C' : '#22D3EE', width: 26, height: 26, marginBottom: 10 }} /&gt;&#10;              &lt;Text style={{ fontSize: 17, fontWeight: 'bold', color: idx === 1 ? '#FFFFFF' : '#16263F', marginBottom: 4 }}&gt;{item.t}&lt;/Text&gt;&#10;              &lt;Text style={{ fontSize: 12, color: idx === 1 ? '#DCE7F5' : '#5B6B7A', textAlign: 'center' }}&gt;{item.d}&lt;/Text&gt;&#10;            &lt;/Box&gt;&#10;            {idx &lt; 3 &amp;&amp; (&#10;              &lt;Box style={{ width: 22, justifyContent: 'center', alignItems: 'center' }}&gt;&#10;                &lt;FAIcon name='arrow-right' style={{ fill: '#FF9F1C', width: 16, height: 16 }} /&gt;&#10;              &lt;/Box&gt;&#10;            )}&#10;          &lt;/Box&gt;&#10;        ))}&#10;      &lt;/Box&gt;&#10;&#10;      &lt;Box style={{ background: '#16263F', borderRadius: 12, padding: '18px 24px' }}&gt;&#10;        &lt;Text style={{ fontSize: 15, color: '#DCE7F5', lineHeight: 1.7 }}&gt;&#10;          &lt;span style={{ color: '#22D3EE', fontWeight: 'bold' }}&gt;循环的关键&lt;/span&gt;：不是走一遍就完，而是「提问 → 建议 → 修复 → 再提问」持续转，直到没有新问题。&#10;        &lt;/Text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0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REVIEW DRIVEN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6195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评审驱动开发：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流程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≠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质量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619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光让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走完流程不等于写对了。每一步都要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主动提问、要它自查、逼它修复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，把评审嵌入开发而不是事后补。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572000" y="2505075"/>
            <a:ext cx="155257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29225" y="2676525"/>
            <a:ext cx="247650" cy="247650"/>
          </a:xfrm>
          <a:prstGeom prst="rect">
            <a:avLst/>
          </a:prstGeom>
          <a:ln/>
        </p:spPr>
      </p:pic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181600" y="3019425"/>
            <a:ext cx="33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提问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972050" y="3257550"/>
            <a:ext cx="762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逼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说清思路</a:t>
            </a:r>
            <a:endParaRPr/>
          </a:p>
        </p:txBody>
      </p:sp>
      <p:pic>
        <p:nvPicPr>
          <p:cNvPr id="2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153150" y="2962275"/>
            <a:ext cx="152400" cy="152400"/>
          </a:xfrm>
          <a:prstGeom prst="rect">
            <a:avLst/>
          </a:prstGeom>
          <a:ln/>
        </p:spPr>
      </p:pic>
      <p:sp>
        <p:nvSpPr>
          <p:cNvPr id="243" name=""/>
          <p:cNvSpPr/>
          <p:nvPr/>
        </p:nvSpPr>
        <p:spPr>
          <a:xfrm rot="0" flipH="0" flipV="0">
            <a:off x="6334125" y="2505075"/>
            <a:ext cx="1552575" cy="1066800"/>
          </a:xfrm>
          <a:prstGeom prst="roundRect">
            <a:avLst>
              <a:gd name="adj" fmla="val 10714"/>
            </a:avLst>
          </a:prstGeom>
          <a:solidFill>
            <a:srgbClr val="16263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991350" y="2676525"/>
            <a:ext cx="247650" cy="247650"/>
          </a:xfrm>
          <a:prstGeom prst="rect">
            <a:avLst/>
          </a:prstGeom>
          <a:ln/>
        </p:spPr>
      </p:pic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943725" y="3019425"/>
            <a:ext cx="33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建议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638925" y="3257550"/>
            <a:ext cx="9429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DCE7F5"/>
                </a:solidFill>
                <a:latin typeface="思源黑体"/>
                <a:ea typeface="思源黑体"/>
              </a:rPr>
              <a:t>指出问题与改进点</a:t>
            </a:r>
            <a:endParaRPr/>
          </a:p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15275" y="2962275"/>
            <a:ext cx="152400" cy="152400"/>
          </a:xfrm>
          <a:prstGeom prst="rect">
            <a:avLst/>
          </a:prstGeom>
          <a:ln/>
        </p:spPr>
      </p:pic>
      <p:sp>
        <p:nvSpPr>
          <p:cNvPr id="248" name=""/>
          <p:cNvSpPr/>
          <p:nvPr/>
        </p:nvSpPr>
        <p:spPr>
          <a:xfrm rot="0" flipH="0" flipV="0">
            <a:off x="8096250" y="2505075"/>
            <a:ext cx="155257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753475" y="2676525"/>
            <a:ext cx="247650" cy="247650"/>
          </a:xfrm>
          <a:prstGeom prst="rect">
            <a:avLst/>
          </a:prstGeom>
          <a:ln/>
        </p:spPr>
      </p:pic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705850" y="3019425"/>
            <a:ext cx="33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修复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467725" y="3257550"/>
            <a:ext cx="8191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按反馈回炉修改</a:t>
            </a:r>
            <a:endParaRPr/>
          </a:p>
        </p:txBody>
      </p:sp>
      <p:pic>
        <p:nvPicPr>
          <p:cNvPr id="2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677400" y="2962275"/>
            <a:ext cx="152400" cy="152400"/>
          </a:xfrm>
          <a:prstGeom prst="rect">
            <a:avLst/>
          </a:prstGeom>
          <a:ln/>
        </p:spPr>
      </p:pic>
      <p:sp>
        <p:nvSpPr>
          <p:cNvPr id="253" name=""/>
          <p:cNvSpPr/>
          <p:nvPr/>
        </p:nvSpPr>
        <p:spPr>
          <a:xfrm rot="0" flipH="0" flipV="0">
            <a:off x="9858375" y="2505075"/>
            <a:ext cx="17621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620375" y="2676525"/>
            <a:ext cx="247650" cy="247650"/>
          </a:xfrm>
          <a:prstGeom prst="rect">
            <a:avLst/>
          </a:prstGeom>
          <a:ln/>
        </p:spPr>
      </p:pic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496550" y="3019425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再提问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0334625" y="3257550"/>
            <a:ext cx="8191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确认改对了没有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4572000" y="3724275"/>
            <a:ext cx="7048500" cy="638175"/>
          </a:xfrm>
          <a:prstGeom prst="roundRect">
            <a:avLst>
              <a:gd name="adj" fmla="val 17910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800600" y="3895725"/>
            <a:ext cx="65913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循环的关键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：不是走一遍就完，而是「提问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建议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修复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再提问」持续转，直到没有新问题。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1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DEVIL REVIEW&lt;/Text&gt;&#10;    &lt;Text style={{ fontSize: 34, color: '#16263F', fontWeight: 'bold', marginBottom: 24 }}&gt;魔鬼式评审实战：把需求问到「没有漏洞」&lt;/Text&gt;&#10;    &lt;Box style={{ width: 56, height: 4, background: '#22D3EE', marginBottom: 24 }} /&gt;&#10;&#10;    &lt;Box style={{ flexDirection: 'row', gap: 26, flex: 1 }}&gt;&#10;      &lt;Box style={{ flex: 1, flexDirection: 'column', gap: 14 }}&gt;&#10;        &lt;Box style={{ background: '#FFFFFF', borderRadius: 12, padding: '18px 22px', boxShadow: '0 2px 12px rgba(22,38,63,0.06)' }}&gt;&#10;          &lt;Text style={{ fontSize: 17, fontWeight: 'bold', color: '#16263F', marginBottom: 10 }}&gt;案例：登录失败 3 次锁定账户&lt;/Text&gt;&#10;          &lt;Text style={{ fontSize: 14, color: '#5B6B7A', lineHeight: 1.8 }}&gt;&#10;            魔鬼评审会追问：&lt;br /&gt;&#10;            · 锁定多久？自动解锁还是人工？&lt;br /&gt;&#10;            · 锁账号还是锁 IP？&lt;br /&gt;&#10;            · 失败计数何时清零？&lt;br /&gt;&#10;            · 并发登录怎么算？&#10;          &lt;/Text&gt;&#10;        &lt;/Box&gt;&#10;        &lt;Box style={{ background: '#16263F', borderRadius: 12, padding: '18px 22px' }}&gt;&#10;          &lt;Text style={{ fontSize: 17, fontWeight: 'bold', color: '#FFFFFF', marginBottom: 10 }}&gt;Spec 评审 4 问&lt;/Text&gt;&#10;          &lt;Text style={{ fontSize: 14, color: '#DCE7F5', lineHeight: 2 }}&gt;&#10;            ① 验收标准清晰吗？&lt;br /&gt;② 边界情况覆盖了吗？&lt;br /&gt;③ 数据模型定义了吗？&lt;br /&gt;④ 成功指标量化了吗？&#10;          &lt;/Text&gt;&#10;        &lt;/Box&gt;&#10;      &lt;/Box&gt;&#10;&#10;      &lt;Box style={{ flex: 1, background: '#FFFFFF', borderRadius: 12, padding: '20px 24px', boxShadow: '0 2px 12px rgba(22,38,63,0.06)' }}&gt;&#10;        &lt;Box style={{ flexDirection: 'row', alignItems: 'center', gap: 10, marginBottom: 12 }}&gt;&#10;          &lt;FAIcon name='search' style={{ fill: '#22D3EE', width: 26, height: 26 }} /&gt;&#10;          &lt;Text style={{ fontSize: 18, fontWeight: 'bold', color: '#16263F' }}&gt;code-review 子 Agent 抓坏味道&lt;/Text&gt;&#10;        &lt;/Box&gt;&#10;        &lt;Text style={{ fontSize: 14, color: '#5B6B7A', marginBottom: 14 }}&gt;用独立的 code-review 子 Agent 扫描，输出重构清单：&lt;/Text&gt;&#10;        {[&#10;          { t: '重复代码', d: '能抽函数就抽函数' },&#10;          { t: '命名不清', d: '变量名看不懂是债' },&#10;          { t: '函数过长', d: '一个函数只做一件事' },&#10;          { t: '魔法数字', d: '硬编码要提常量' },&#10;          { t: '缺错误处理', d: '边界不设防必出事' },&#10;        ].map((item, idx) =&gt; (&#10;          &lt;Box key={idx} style={{ flexDirection: 'row', alignItems: 'center', gap: 12, padding: '10px 0', borderBottom: '1px solid #EDF1F5' }}&gt;&#10;            &lt;Text style={{ fontSize: 13, color: '#FF9F1C', fontWeight: 'bold', width: 26 }}&gt;{idx + 1}&lt;/Text&gt;&#10;            &lt;Text style={{ fontSize: 15, fontWeight: 'bold', color: '#16263F', width: 96 }}&gt;{item.t}&lt;/Text&gt;&#10;            &lt;Text style={{ fontSize: 13, color: '#5B6B7A', flex: 1 }}&gt;{item.d}&lt;/Text&gt;&#10;          &lt;/Box&gt;&#10;        ))}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0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DEVIL REVIEW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魔鬼式评审实战：把需求问到「没有漏洞」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571500" y="1314450"/>
            <a:ext cx="5400675" cy="208597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81050" y="148590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案例：登录失败</a:t>
            </a: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 3 </a:t>
            </a: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次锁定账户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81050" y="1781175"/>
            <a:ext cx="4981575" cy="14478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魔鬼评审会追问：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锁定多久？自动解锁还是人工？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锁账号还是锁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IP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？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失败计数何时清零？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并发登录怎么算？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71500" y="3533775"/>
            <a:ext cx="5400675" cy="1924050"/>
          </a:xfrm>
          <a:prstGeom prst="roundRect">
            <a:avLst>
              <a:gd name="adj" fmla="val 5941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81050" y="3705225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Spec </a:t>
            </a: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评审</a:t>
            </a: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 4 </a:t>
            </a: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问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81050" y="4000500"/>
            <a:ext cx="4981575" cy="12858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①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验收标准清晰吗？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②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边界情况覆盖了吗？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③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数据模型定义了吗？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④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成功指标量化了吗？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219825" y="1314450"/>
            <a:ext cx="5400675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48425" y="1504950"/>
            <a:ext cx="247650" cy="247650"/>
          </a:xfrm>
          <a:prstGeom prst="rect">
            <a:avLst/>
          </a:prstGeom>
          <a:ln/>
        </p:spPr>
      </p:pic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791325" y="152400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code-review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子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抓坏味道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448425" y="1866900"/>
            <a:ext cx="494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用独立的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code-review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子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扫描，输出重构清单：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448425" y="2162175"/>
            <a:ext cx="4943475" cy="381000"/>
          </a:xfrm>
          <a:custGeom>
            <a:pathLst>
              <a:path w="519" h="40">
                <a:moveTo>
                  <a:pt x="0" y="39"/>
                </a:moveTo>
                <a:lnTo>
                  <a:pt x="519" y="39"/>
                </a:lnTo>
                <a:lnTo>
                  <a:pt x="519" y="40"/>
                </a:lnTo>
                <a:lnTo>
                  <a:pt x="0" y="40"/>
                </a:lnTo>
                <a:close/>
              </a:path>
            </a:pathLst>
          </a:custGeom>
          <a:solidFill>
            <a:srgbClr val="EDF1F5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448425" y="22669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10375" y="225742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重复代码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839075" y="2266950"/>
            <a:ext cx="3552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能抽函数就抽函数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448425" y="2533650"/>
            <a:ext cx="4943475" cy="381000"/>
          </a:xfrm>
          <a:custGeom>
            <a:pathLst>
              <a:path w="519" h="40">
                <a:moveTo>
                  <a:pt x="0" y="39"/>
                </a:moveTo>
                <a:lnTo>
                  <a:pt x="519" y="39"/>
                </a:lnTo>
                <a:lnTo>
                  <a:pt x="519" y="40"/>
                </a:lnTo>
                <a:lnTo>
                  <a:pt x="0" y="40"/>
                </a:lnTo>
                <a:close/>
              </a:path>
            </a:pathLst>
          </a:custGeom>
          <a:solidFill>
            <a:srgbClr val="EDF1F5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448425" y="26384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10375" y="262890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命名不清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839075" y="2638425"/>
            <a:ext cx="3552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变量名看不懂是债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448425" y="2905125"/>
            <a:ext cx="4943475" cy="381000"/>
          </a:xfrm>
          <a:custGeom>
            <a:pathLst>
              <a:path w="519" h="40">
                <a:moveTo>
                  <a:pt x="0" y="39"/>
                </a:moveTo>
                <a:lnTo>
                  <a:pt x="519" y="39"/>
                </a:lnTo>
                <a:lnTo>
                  <a:pt x="519" y="40"/>
                </a:lnTo>
                <a:lnTo>
                  <a:pt x="0" y="40"/>
                </a:lnTo>
                <a:close/>
              </a:path>
            </a:pathLst>
          </a:custGeom>
          <a:solidFill>
            <a:srgbClr val="EDF1F5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448425" y="30099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810375" y="30003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函数过长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839075" y="3009900"/>
            <a:ext cx="3552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一个函数只做一件事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448425" y="3276600"/>
            <a:ext cx="4943475" cy="381000"/>
          </a:xfrm>
          <a:custGeom>
            <a:pathLst>
              <a:path w="519" h="40">
                <a:moveTo>
                  <a:pt x="0" y="39"/>
                </a:moveTo>
                <a:lnTo>
                  <a:pt x="519" y="39"/>
                </a:lnTo>
                <a:lnTo>
                  <a:pt x="519" y="40"/>
                </a:lnTo>
                <a:lnTo>
                  <a:pt x="0" y="40"/>
                </a:lnTo>
                <a:close/>
              </a:path>
            </a:pathLst>
          </a:custGeom>
          <a:solidFill>
            <a:srgbClr val="EDF1F5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448425" y="33813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810375" y="33718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魔法数字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839075" y="3381375"/>
            <a:ext cx="3552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硬编码要提常量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448425" y="3648075"/>
            <a:ext cx="4943475" cy="381000"/>
          </a:xfrm>
          <a:custGeom>
            <a:pathLst>
              <a:path w="519" h="40">
                <a:moveTo>
                  <a:pt x="0" y="39"/>
                </a:moveTo>
                <a:lnTo>
                  <a:pt x="519" y="39"/>
                </a:lnTo>
                <a:lnTo>
                  <a:pt x="519" y="40"/>
                </a:lnTo>
                <a:lnTo>
                  <a:pt x="0" y="40"/>
                </a:lnTo>
                <a:close/>
              </a:path>
            </a:pathLst>
          </a:custGeom>
          <a:solidFill>
            <a:srgbClr val="EDF1F5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448425" y="37528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5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810375" y="374332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缺错误处理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839075" y="3752850"/>
            <a:ext cx="3552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边界不设防必出事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98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CODEGRAPH&lt;/Text&gt;&#10;      &lt;Text style={{ fontSize: 34, color: '#16263F', fontWeight: 'bold', lineHeight: 1.35, marginBottom: 24 }}&gt;&#10;        CodeGraph：&lt;br /&gt;别再让 Token 浪费在找代码&#10;      &lt;/Text&gt;&#10;      &lt;Box style={{ width: 56, height: 4, background: '#22D3EE', marginBottom: 24 }} /&gt;&#10;      &lt;Text style={{ fontSize: 16, color: '#5B6B7A', lineHeight: 1.7 }}&gt;&#10;        大项目里，AI 花大量 token 在「大海捞针」找代码，而不是写代码。&lt;span style={{ fontWeight: 'bold', color: '#16263F' }}&gt;CodeGraph 用静态分析构建调用关系图&lt;/span&gt;，让 AI 秒定位。&#10;      &lt;/Text&gt;&#10;      &lt;Box style={{ marginTop: 18, background: '#16263F', borderRadius: 10, padding: '14px 18px' }}&gt;&#10;        &lt;Text style={{ fontSize: 14, color: '#FF9F1C', fontWeight: 'bold' }}&gt;&#10;          找到代码 ≠ 看懂代码，图谱补上「关系」&#10;        &lt;/Text&gt;&#10;      &lt;/Box&gt;&#10;    &lt;/Box&gt;&#10;&#10;    &lt;Box style={{ flex: 1, flexDirection: 'column', gap: 14, justifyContent: 'center' }}&gt;&#10;      &lt;Box style={{ flexDirection: 'row', gap: 12 }}&gt;&#10;        {['文件层', '类层', '函数层', '语句层'].map((item, idx) =&gt; (&#10;          &lt;Box key={idx} style={{ flex: 1, background: '#FFFFFF', borderRadius: 10, padding: '14px 10px', boxShadow: '0 2px 12px rgba(22,38,63,0.06)', alignItems: 'center' }}&gt;&#10;            &lt;Text style={{ fontSize: 13, color: '#FF9F1C', fontWeight: 'bold', marginBottom: 4 }}&gt;L{idx + 1}&lt;/Text&gt;&#10;            &lt;Text style={{ fontSize: 15, fontWeight: 'bold', color: '#16263F' }}&gt;{item}&lt;/Text&gt;&#10;          &lt;/Box&gt;&#10;        ))}&#10;      &lt;/Box&gt;&#10;&#10;      &lt;Box style={{ background: '#FFFFFF', borderRadius: 12, padding: '20px 24px', boxShadow: '0 2px 12px rgba(22,38,63,0.06)' }}&gt;&#10;        &lt;Text style={{ fontSize: 17, fontWeight: 'bold', color: '#16263F', marginBottom: 12 }}&gt;7 大使用场景&lt;/Text&gt;&#10;        &lt;Box style={{ flexDirection: 'row', flexWrap: 'wrap', gap: 10 }}&gt;&#10;          {['代码导航', '影响分析', '依赖追踪', '死代码检测', '重构建议', '测试覆盖', 'API 理解'].map((item, idx) =&gt; (&#10;            &lt;Box key={idx} style={{ background: '#F5F7FA', borderRadius: 8, padding: '8px 14px' }}&gt;&#10;              &lt;Text style={{ fontSize: 13, color: '#1B2733' }}&gt;{item}&lt;/Text&gt;&#10;            &lt;/Box&gt;&#10;          ))}&#10;        &lt;/Box&gt;&#10;      &lt;/Box&gt;&#10;&#10;      &lt;Box style={{ background: '#DCE7F5', borderRadius: 10, padding: '13px 20px' }}&gt;&#10;        &lt;Text style={{ fontSize: 14, color: '#16263F', fontWeight: 'bold' }}&gt;&#10;          从「给 AI 整个仓库」到「给 AI 一张地图」，token 效率翻倍&#10;        &lt;/Text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0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CODEGRAPH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CodeGraph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别再让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Token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浪费在找代码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71500" y="2466975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71500" y="2733675"/>
            <a:ext cx="3429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大项目里，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花大量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token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在「大海捞针」找代码，而不是写代码。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CodeGraph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用静态分析构建调用关系图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，让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秒定位。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571500" y="3838575"/>
            <a:ext cx="3429000" cy="428625"/>
          </a:xfrm>
          <a:prstGeom prst="roundRect">
            <a:avLst>
              <a:gd name="adj" fmla="val 2222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42950" y="3971925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找到代码</a:t>
            </a: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 ≠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看懂代码，图谱补上「关系」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381500" y="2276475"/>
            <a:ext cx="1724025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172075" y="24098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</a:t>
            </a: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029200" y="26003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文件层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219825" y="2276475"/>
            <a:ext cx="1724025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010400" y="24098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</a:t>
            </a: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934200" y="2600325"/>
            <a:ext cx="295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类层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8058150" y="2276475"/>
            <a:ext cx="1724025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848725" y="24098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</a:t>
            </a: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705850" y="26003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函数层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9896475" y="2276475"/>
            <a:ext cx="1724025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0687050" y="24098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</a:t>
            </a: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0544175" y="26003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语句层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381500" y="3038475"/>
            <a:ext cx="723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610100" y="3228975"/>
            <a:ext cx="678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7 </a:t>
            </a: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大使用场景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610100" y="3543300"/>
            <a:ext cx="781050" cy="304800"/>
          </a:xfrm>
          <a:prstGeom prst="roundRect">
            <a:avLst>
              <a:gd name="adj" fmla="val 2500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743450" y="36195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代码导航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5486400" y="3543300"/>
            <a:ext cx="781050" cy="304800"/>
          </a:xfrm>
          <a:prstGeom prst="roundRect">
            <a:avLst>
              <a:gd name="adj" fmla="val 2500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619750" y="36195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影响分析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362700" y="3543300"/>
            <a:ext cx="781050" cy="304800"/>
          </a:xfrm>
          <a:prstGeom prst="roundRect">
            <a:avLst>
              <a:gd name="adj" fmla="val 2500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496050" y="36195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依赖追踪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7239000" y="3543300"/>
            <a:ext cx="904875" cy="304800"/>
          </a:xfrm>
          <a:prstGeom prst="roundRect">
            <a:avLst>
              <a:gd name="adj" fmla="val 2500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372350" y="3619500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死代码检测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8239125" y="3543300"/>
            <a:ext cx="781050" cy="304800"/>
          </a:xfrm>
          <a:prstGeom prst="roundRect">
            <a:avLst>
              <a:gd name="adj" fmla="val 2500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372475" y="36195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重构建议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9115425" y="3543300"/>
            <a:ext cx="781050" cy="304800"/>
          </a:xfrm>
          <a:prstGeom prst="roundRect">
            <a:avLst>
              <a:gd name="adj" fmla="val 2500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248775" y="36195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测试覆盖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9991725" y="3543300"/>
            <a:ext cx="762000" cy="304800"/>
          </a:xfrm>
          <a:prstGeom prst="roundRect">
            <a:avLst>
              <a:gd name="adj" fmla="val 2500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0125075" y="36195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思源黑体"/>
                <a:ea typeface="思源黑体"/>
              </a:rPr>
              <a:t>API </a:t>
            </a: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理解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381500" y="4171950"/>
            <a:ext cx="7239000" cy="409575"/>
          </a:xfrm>
          <a:prstGeom prst="roundRect">
            <a:avLst>
              <a:gd name="adj" fmla="val 23256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572000" y="429577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从「给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AI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整个仓库」到「给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AI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一张地图」，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token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效率翻倍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38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MCP&lt;/Text&gt;&#10;    &lt;Text style={{ fontSize: 34, color: '#16263F', fontWeight: 'bold', marginBottom: 24 }}&gt;MCP 协议：AI 世界的 USB-C 统一接口&lt;/Text&gt;&#10;    &lt;Box style={{ width: 56, height: 4, background: '#22D3EE', marginBottom: 24 }} /&gt;&#10;&#10;    &lt;Box style={{ flexDirection: 'row', gap: 28, flex: 1 }}&gt;&#10;      &lt;Box style={{ flex: 1, background: '#FFFFFF', borderRadius: 14, padding: '24px 26px', boxShadow: '0 2px 12px rgba(22,38,63,0.06)' }}&gt;&#10;        &lt;Text style={{ fontSize: 16, color: '#5B6B7A', marginBottom: 16 }}&gt;Host / Client / Server 架构&lt;/Text&gt;&#10;        {[&#10;          { t: 'Host 宿主', d: 'Claude Desktop、IDE 等应用', icon: 'desktop' },&#10;          { t: 'Client 客户端', d: '与 Server 建立连接的协议端', icon: 'plug' },&#10;          { t: 'Server 服务端', d: '暴露工具与数据的提供方', icon: 'server' },&#10;        ].map((item, idx) =&gt; (&#10;          &lt;Box key={idx} style={{ flexDirection: 'row', alignItems: 'center', gap: 14 }}&gt;&#10;            &lt;Box style={{ flexDirection: 'column', alignItems: 'center' }}&gt;&#10;              &lt;Box style={{ width: 44, height: 44, borderRadius: 11, background: idx === 1 ? '#16263F' : '#EAF2FB', justifyContent: 'center', alignItems: 'center' }}&gt;&#10;                &lt;FAIcon name={item.icon} style={{ fill: idx === 1 ? '#FF9F1C' : '#22D3EE', width: 22, height: 22 }} /&gt;&#10;              &lt;/Box&gt;&#10;              {idx &lt; 2 &amp;&amp; &lt;Box style={{ width: 2, height: 18, background: '#DCE7F5', marginTop: 4 }} /&gt;}&#10;            &lt;/Box&gt;&#10;            &lt;Box style={{ flex: 1, background: '#F5F7FA', borderRadius: 10, padding: '12px 16px', marginLeft: 4, marginTop: 4, marginBottom: 4 }}&gt;&#10;              &lt;Text style={{ fontSize: 16, fontWeight: 'bold', color: '#16263F', marginBottom: 3 }}&gt;{item.t}&lt;/Text&gt;&#10;              &lt;Text style={{ fontSize: 13, color: '#5B6B7A' }}&gt;{item.d}&lt;/Text&gt;&#10;            &lt;/Box&gt;&#10;          &lt;/Box&gt;&#10;        ))}&#10;      &lt;/Box&gt;&#10;&#10;      &lt;Box style={{ flex: 1, flexDirection: 'column', gap: 16, justifyContent: 'center' }}&gt;&#10;        &lt;Box style={{ background: '#16263F', borderRadius: 12, padding: '20px 24px' }}&gt;&#10;          &lt;Box style={{ flexDirection: 'row', alignItems: 'center', gap: 10, marginBottom: 10 }}&gt;&#10;            &lt;FAIcon name='usb' style={{ fill: '#FF9F1C', width: 24, height: 24 }} /&gt;&#10;            &lt;Text style={{ fontSize: 18, fontWeight: 'bold', color: '#FFFFFF' }}&gt;USB-C 类比&lt;/Text&gt;&#10;          &lt;/Box&gt;&#10;          &lt;Text style={{ fontSize: 14, color: '#DCE7F5', lineHeight: 1.8 }}&gt;&#10;            一个接口连所有设备——MCP 一个协议连所有工具，不用每个工具都单独开发适配。&#10;          &lt;/Text&gt;&#10;        &lt;/Box&gt;&#10;        &lt;Box style={{ background: '#FFFFFF', borderRadius: 12, padding: '20px 24px', boxShadow: '0 2px 12px rgba(22,38,63,0.06)' }}&gt;&#10;          &lt;Box style={{ flexDirection: 'row', alignItems: 'center', gap: 10, marginBottom: 10 }}&gt;&#10;            &lt;FAIcon name='link' style={{ fill: '#22D3EE', width: 24, height: 24 }} /&gt;&#10;            &lt;Text style={{ fontSize: 18, fontWeight: 'bold', color: '#16263F' }}&gt;MCP 是桥，Skill 是手&lt;/Text&gt;&#10;          &lt;/Box&gt;&#10;          &lt;Text style={{ fontSize: 14, color: '#5B6B7A', lineHeight: 1.8 }}&gt;&#10;            MCP 只负责「连接」，具体怎么干活的「手」是 Skill——桥搭好了，手才有地方使劲。&#10;          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0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MCP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MCP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协议：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AI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世界的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USB-C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统一接口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571500" y="1314450"/>
            <a:ext cx="5391150" cy="5353050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19150" y="1543050"/>
            <a:ext cx="489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Host / Client / Server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架构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819150" y="1914525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2019300"/>
            <a:ext cx="209550" cy="209550"/>
          </a:xfrm>
          <a:prstGeom prst="rect">
            <a:avLst/>
          </a:prstGeom>
          <a:ln/>
        </p:spPr>
      </p:pic>
      <p:sp>
        <p:nvSpPr>
          <p:cNvPr id="347" name=""/>
          <p:cNvSpPr/>
          <p:nvPr/>
        </p:nvSpPr>
        <p:spPr>
          <a:xfrm rot="0" flipH="0" flipV="0">
            <a:off x="1019175" y="2371725"/>
            <a:ext cx="19050" cy="171450"/>
          </a:xfrm>
          <a:prstGeom prst="rect">
            <a:avLst/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1409700" y="1924050"/>
            <a:ext cx="4305300" cy="600075"/>
          </a:xfrm>
          <a:prstGeom prst="roundRect">
            <a:avLst>
              <a:gd name="adj" fmla="val 15873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562100" y="2038350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Host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宿主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562100" y="2257425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Claude Desktop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、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IDE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等应用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819150" y="25908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3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23925" y="2695575"/>
            <a:ext cx="209550" cy="209550"/>
          </a:xfrm>
          <a:prstGeom prst="rect">
            <a:avLst/>
          </a:prstGeom>
          <a:ln/>
        </p:spPr>
      </p:pic>
      <p:sp>
        <p:nvSpPr>
          <p:cNvPr id="353" name=""/>
          <p:cNvSpPr/>
          <p:nvPr/>
        </p:nvSpPr>
        <p:spPr>
          <a:xfrm rot="0" flipH="0" flipV="0">
            <a:off x="1019175" y="3048000"/>
            <a:ext cx="19050" cy="171450"/>
          </a:xfrm>
          <a:prstGeom prst="rect">
            <a:avLst/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1409700" y="2600325"/>
            <a:ext cx="4305300" cy="600075"/>
          </a:xfrm>
          <a:prstGeom prst="roundRect">
            <a:avLst>
              <a:gd name="adj" fmla="val 15873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562100" y="2714625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Client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客户端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562100" y="2933700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与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Server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建立连接的协议端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819150" y="33718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23925" y="3476625"/>
            <a:ext cx="209550" cy="209550"/>
          </a:xfrm>
          <a:prstGeom prst="rect">
            <a:avLst/>
          </a:prstGeom>
          <a:ln/>
        </p:spPr>
      </p:pic>
      <p:sp>
        <p:nvSpPr>
          <p:cNvPr id="359" name=""/>
          <p:cNvSpPr/>
          <p:nvPr/>
        </p:nvSpPr>
        <p:spPr>
          <a:xfrm rot="0" flipH="0" flipV="0">
            <a:off x="1409700" y="3276600"/>
            <a:ext cx="4305300" cy="600075"/>
          </a:xfrm>
          <a:prstGeom prst="roundRect">
            <a:avLst>
              <a:gd name="adj" fmla="val 15873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562100" y="3390900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Server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服务端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562100" y="3609975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暴露工具与数据的提供方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229350" y="2628900"/>
            <a:ext cx="5391150" cy="1285875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3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57950" y="2819400"/>
            <a:ext cx="228600" cy="228600"/>
          </a:xfrm>
          <a:prstGeom prst="rect">
            <a:avLst/>
          </a:prstGeom>
          <a:ln/>
        </p:spPr>
      </p:pic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781800" y="2828925"/>
            <a:ext cx="942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USB-C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类比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457950" y="3143250"/>
            <a:ext cx="49339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一个接口连所有设备——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MCP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一个协议连所有工具，不用每个工具都单独开发适配。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229350" y="4067175"/>
            <a:ext cx="539115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3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457950" y="4257675"/>
            <a:ext cx="228600" cy="228600"/>
          </a:xfrm>
          <a:prstGeom prst="rect">
            <a:avLst/>
          </a:prstGeom>
          <a:ln/>
        </p:spPr>
      </p:pic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781800" y="4267200"/>
            <a:ext cx="1704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MCP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是桥，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Skill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是手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457950" y="4581525"/>
            <a:ext cx="49339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MCP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只负责「连接」，具体怎么干活的「手」是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Skill——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桥搭好了，手才有地方使劲。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LLM GATEWAY&lt;/Text&gt;&#10;      &lt;Text style={{ fontSize: 34, color: '#16263F', fontWeight: 'bold', lineHeight: 1.35, marginBottom: 24 }}&gt;&#10;        LLM 网关治理：&lt;br /&gt;多模型接入的统一入口&#10;      &lt;/Text&gt;&#10;      &lt;Box style={{ width: 56, height: 4, background: '#22D3EE', marginBottom: 24 }} /&gt;&#10;      &lt;Text style={{ fontSize: 16, color: '#5B6B7A', lineHeight: 1.7 }}&gt;&#10;        直接连多家模型，密钥散落、切换麻烦、成本失控。&lt;span style={{ fontWeight: 'bold', color: '#16263F' }}&gt;网关把多家模型收拢成一个入口&lt;/span&gt;。&#10;      &lt;/Text&gt;&#10;    &lt;/Box&gt;&#10;&#10;    &lt;Box style={{ flex: 1, flexDirection: 'column', gap: 16, justifyContent: 'center' }}&gt;&#10;      &lt;Box style={{ background: '#FFFFFF', borderRadius: 12, padding: '18px 22px', boxShadow: '0 2px 12px rgba(22,38,63,0.06)' }}&gt;&#10;        &lt;Text style={{ fontSize: 15, fontWeight: 'bold', color: '#16263F', marginBottom: 10 }}&gt;代表工具&lt;/Text&gt;&#10;        &lt;Box style={{ flexDirection: 'row', gap: 10 }}&gt;&#10;          {['LiteLLM', 'One API', 'OpenRouter'].map((item, idx) =&gt; (&#10;            &lt;Box key={idx} style={{ background: '#EAF2FB', borderRadius: 8, padding: '8px 16px' }}&gt;&#10;              &lt;Text style={{ fontSize: 14, color: '#16263F', fontWeight: 'bold', fontFamily: '&quot;JetBrains Mono&quot;, monospace' }}&gt;{item}&lt;/Text&gt;&#10;            &lt;/Box&gt;&#10;          ))}&#10;        &lt;/Box&gt;&#10;      &lt;/Box&gt;&#10;&#10;      &lt;Box style={{ flexDirection: 'row', gap: 14 }}&gt;&#10;        &lt;Box style={{ flex: 1, background: '#FFFFFF', borderRadius: 12, padding: '18px 20px', boxShadow: '0 2px 12px rgba(22,38,63,0.06)' }}&gt;&#10;          &lt;FAIcon name='key' style={{ fill: '#22D3EE', width: 24, height: 24, marginBottom: 10 }} /&gt;&#10;          &lt;Text style={{ fontSize: 16, fontWeight: 'bold', color: '#16263F', marginBottom: 6 }}&gt;虚拟密钥&lt;/Text&gt;&#10;          &lt;Text style={{ fontSize: 13, color: '#5B6B7A', lineHeight: 1.6 }}&gt;一个入口发多个虚拟密钥，分团队分项目&lt;/Text&gt;&#10;        &lt;/Box&gt;&#10;        &lt;Box style={{ flex: 1, background: '#FFFFFF', borderRadius: 12, padding: '18px 20px', boxShadow: '0 2px 12px rgba(22,38,63,0.06)' }}&gt;&#10;          &lt;FAIcon name='route' style={{ fill: '#22D3EE', width: 24, height: 24, marginBottom: 10 }} /&gt;&#10;          &lt;Text style={{ fontSize: 16, fontWeight: 'bold', color: '#16263F', marginBottom: 6 }}&gt;成本路由&lt;/Text&gt;&#10;          &lt;Text style={{ fontSize: 13, color: '#5B6B7A', lineHeight: 1.6 }}&gt;按任务自动选便宜/强模型&lt;/Text&gt;&#10;        &lt;/Box&gt;&#10;        &lt;Box style={{ flex: 1, background: '#16263F', borderRadius: 12, padding: '18px 20px' }}&gt;&#10;          &lt;FAIcon name='chart-bar' style={{ fill: '#FF9F1C', width: 24, height: 24, marginBottom: 10 }} /&gt;&#10;          &lt;Text style={{ fontSize: 16, fontWeight: 'bold', color: '#FFFFFF', marginBottom: 6 }}&gt;预算审计&lt;/Text&gt;&#10;          &lt;Text style={{ fontSize: 13, color: '#DCE7F5', lineHeight: 1.6 }}&gt;配额、限额、用量一目了然&lt;/Text&gt;&#10;        &lt;/Box&gt;&#10;      &lt;/Box&gt;&#10;&#10;      &lt;Box style={{ background: '#DCE7F5', borderRadius: 10, padding: '13px 20px' }}&gt;&#10;        &lt;Text style={{ fontSize: 14, color: '#16263F', fontWeight: 'bold' }}&gt;&#10;          网关是「省钱 + 可控」的地基，多模型时代的必备基建&#10;        &lt;/Text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LLM GATEWAY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LLM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网关治理：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多模型接入的统一入口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直接连多家模型，密钥散落、切换麻烦、成本失控。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网关把多家模型收拢成一个入口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4381500" y="1914525"/>
            <a:ext cx="7239000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591050" y="2085975"/>
            <a:ext cx="681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代表工具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591050" y="2352675"/>
            <a:ext cx="876300" cy="314325"/>
          </a:xfrm>
          <a:prstGeom prst="roundRect">
            <a:avLst>
              <a:gd name="adj" fmla="val 24242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743450" y="24288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6263F"/>
                </a:solidFill>
                <a:latin typeface="JetBrains Mono"/>
                <a:ea typeface="JetBrains Mono"/>
              </a:rPr>
              <a:t>LiteLLM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562600" y="2352675"/>
            <a:ext cx="876300" cy="314325"/>
          </a:xfrm>
          <a:prstGeom prst="roundRect">
            <a:avLst>
              <a:gd name="adj" fmla="val 24242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0" y="24288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6263F"/>
                </a:solidFill>
                <a:latin typeface="JetBrains Mono"/>
                <a:ea typeface="JetBrains Mono"/>
              </a:rPr>
              <a:t>One API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534150" y="2352675"/>
            <a:ext cx="1114425" cy="314325"/>
          </a:xfrm>
          <a:prstGeom prst="roundRect">
            <a:avLst>
              <a:gd name="adj" fmla="val 24242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686550" y="2428875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6263F"/>
                </a:solidFill>
                <a:latin typeface="JetBrains Mono"/>
                <a:ea typeface="JetBrains Mono"/>
              </a:rPr>
              <a:t>OpenRouter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4381500" y="2990850"/>
            <a:ext cx="23241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72000" y="3162300"/>
            <a:ext cx="228600" cy="228600"/>
          </a:xfrm>
          <a:prstGeom prst="rect">
            <a:avLst/>
          </a:prstGeom>
          <a:ln/>
        </p:spPr>
      </p:pic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572000" y="3486150"/>
            <a:ext cx="194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虚拟密钥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572000" y="3733800"/>
            <a:ext cx="19431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一个入口发多个虚拟密钥，分团队分项目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838950" y="2990850"/>
            <a:ext cx="23241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29450" y="3162300"/>
            <a:ext cx="228600" cy="228600"/>
          </a:xfrm>
          <a:prstGeom prst="rect">
            <a:avLst/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029450" y="3486150"/>
            <a:ext cx="194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成本路由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029450" y="3733800"/>
            <a:ext cx="19431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按任务自动选便宜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/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强模型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9296400" y="2990850"/>
            <a:ext cx="2324100" cy="1390650"/>
          </a:xfrm>
          <a:prstGeom prst="roundRect">
            <a:avLst>
              <a:gd name="adj" fmla="val 8219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486900" y="3162300"/>
            <a:ext cx="228600" cy="228600"/>
          </a:xfrm>
          <a:prstGeom prst="rect">
            <a:avLst/>
          </a:pr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486900" y="3486150"/>
            <a:ext cx="194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预算审计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486900" y="3733800"/>
            <a:ext cx="19431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配额、限额、用量一目了然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381500" y="4533900"/>
            <a:ext cx="7239000" cy="409575"/>
          </a:xfrm>
          <a:prstGeom prst="roundRect">
            <a:avLst>
              <a:gd name="adj" fmla="val 23256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72000" y="465772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网关是「省钱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+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可控」的地基，多模型时代的必备基建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TOOLBOX&lt;/Text&gt;&#10;    &lt;Text style={{ fontSize: 34, color: '#16263F', fontWeight: 'bold', marginBottom: 24 }}&gt;15 个趁手 AI 工具，按四类收好&lt;/Text&gt;&#10;    &lt;Box style={{ width: 56, height: 4, background: '#22D3EE', marginBottom: 24 }} /&gt;&#10;&#10;    &lt;Box style={{ flexDirection: 'row', gap: 20, flex: 1 }}&gt;&#10;      {[&#10;        { t: '文档转换', icon: 'file-export', dark: false, items: ['markitdown', 'snapdom', 'pandoc', 'docling'] },&#10;        { t: 'Agent 编排', icon: 'sitemap', dark: true, items: ['spec-kit', 'claude-code', 'prompt-optimizer', 'langgraph'] },&#10;        { t: '开发工具链', icon: 'wrench', dark: false, items: ['codegraph', 'deepeval', 'otel', 'ruff'] },&#10;        { t: '可视化', icon: 'chart-pie', dark: false, items: ['mermaid', 'excalidraw', 'graphviz'] },&#10;      ].map((cat, idx) =&gt; (&#10;        &lt;Box key={idx} style={{ flex: 1, background: cat.dark ? '#16263F' : '#FFFFFF', borderRadius: 14, padding: '22px 22px', boxShadow: cat.dark ? undefined : '0 2px 12px rgba(22,38,63,0.06)' }}&gt;&#10;          &lt;Box style={{ flexDirection: 'row', alignItems: 'center', gap: 10, marginBottom: 16 }}&gt;&#10;            &lt;FAIcon name={cat.icon} style={{ fill: cat.dark ? '#FF9F1C' : '#22D3EE', width: 26, height: 26 }} /&gt;&#10;            &lt;Text style={{ fontSize: 19, fontWeight: 'bold', color: cat.dark ? '#FFFFFF' : '#16263F' }}&gt;{cat.t}&lt;/Text&gt;&#10;          &lt;/Box&gt;&#10;          &lt;Box style={{ flexDirection: 'column', gap: 10 }}&gt;&#10;            {cat.items.map((item, i) =&gt; (&#10;              &lt;Box key={i} style={{ background: cat.dark ? 'rgba(255,255,255,0.07)' : '#F5F7FA', borderRadius: 8, padding: '10px 14px' }}&gt;&#10;                &lt;Text style={{ fontSize: 13, color: cat.dark ? '#DCE7F5' : '#1B2733', fontFamily: '&quot;JetBrains Mono&quot;, monospace' }}&gt;{item}&lt;/Text&gt;&#10;              &lt;/Box&gt;&#10;            ))}&#10;          &lt;/Box&gt;&#10;        &lt;/Box&gt;&#10;      ))}&#10;    &lt;/Box&gt;&#10;&#10;    &lt;Box style={{ marginTop: 18, background: '#DCE7F5', borderRadius: 10, padding: '14px 22px' }}&gt;&#10;      &lt;Text style={{ fontSize: 15, color: '#16263F', fontWeight: 'bold' }}&gt;&#10;        工具不在多，在于「各司其职」——文档、编排、开发、可视化一条链路串起来&#10;      &lt;/Text&gt;&#10;    &lt;/Box&gt;&#10;  &lt;/Box&gt;&#10;  &lt;Box style={{ position: 'absolute', bottom: 14, left: 60, width: 1160, flexDirection: 'row', justifyContent: 'space-between' }}&gt;&#10;    &lt;Text style={{ fontSize: 14, color: '#5B6B7A' }}&gt;AI 从零开始 · 第 9 讲&lt;/Text&gt;&#10;    &lt;Text style={{ fontSize: 14, color: '#5B6B7A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TOOLBOX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15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个趁手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工具，按四类收好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571500" y="1314450"/>
            <a:ext cx="2619375" cy="474345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1524000"/>
            <a:ext cx="247650" cy="247650"/>
          </a:xfrm>
          <a:prstGeom prst="rect">
            <a:avLst/>
          </a:prstGeom>
          <a:ln/>
        </p:spPr>
      </p:pic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23950" y="1543050"/>
            <a:ext cx="742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文档转换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81050" y="192405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14400" y="201930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markitdown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781050" y="236220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14400" y="245745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snapdom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781050" y="280035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14400" y="289560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pandoc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81050" y="323850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14400" y="333375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docling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381375" y="1314450"/>
            <a:ext cx="2619375" cy="4743450"/>
          </a:xfrm>
          <a:prstGeom prst="roundRect">
            <a:avLst>
              <a:gd name="adj" fmla="val 5091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90925" y="1524000"/>
            <a:ext cx="247650" cy="24765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933825" y="1543050"/>
            <a:ext cx="933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思源黑体"/>
                <a:ea typeface="思源黑体"/>
              </a:rPr>
              <a:t>Agent </a:t>
            </a: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编排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590925" y="192405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724275" y="201930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7F5"/>
                </a:solidFill>
                <a:latin typeface="JetBrains Mono"/>
                <a:ea typeface="JetBrains Mono"/>
              </a:rPr>
              <a:t>spec-kit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3590925" y="236220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724275" y="245745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7F5"/>
                </a:solidFill>
                <a:latin typeface="JetBrains Mono"/>
                <a:ea typeface="JetBrains Mono"/>
              </a:rPr>
              <a:t>claude-code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590925" y="280035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724275" y="289560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7F5"/>
                </a:solidFill>
                <a:latin typeface="JetBrains Mono"/>
                <a:ea typeface="JetBrains Mono"/>
              </a:rPr>
              <a:t>prompt-optimizer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590925" y="323850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724275" y="333375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7F5"/>
                </a:solidFill>
                <a:latin typeface="JetBrains Mono"/>
                <a:ea typeface="JetBrains Mono"/>
              </a:rPr>
              <a:t>langgraph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191250" y="1314450"/>
            <a:ext cx="2619375" cy="474345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00800" y="1524000"/>
            <a:ext cx="247650" cy="247650"/>
          </a:xfrm>
          <a:prstGeom prst="rect">
            <a:avLst/>
          </a:prstGeom>
          <a:ln/>
        </p:spPr>
      </p:pic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743700" y="1543050"/>
            <a:ext cx="92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开发工具链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400800" y="192405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534150" y="201930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codegraph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400800" y="236220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534150" y="245745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deepeval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400800" y="280035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534150" y="289560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otel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400800" y="323850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534150" y="333375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ruff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9001125" y="1314450"/>
            <a:ext cx="2619375" cy="474345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210675" y="1524000"/>
            <a:ext cx="247650" cy="247650"/>
          </a:xfrm>
          <a:prstGeom prst="rect">
            <a:avLst/>
          </a:prstGeom>
          <a:ln/>
        </p:spPr>
      </p:pic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553575" y="1543050"/>
            <a:ext cx="561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可视化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9210675" y="192405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344025" y="201930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mermaid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9210675" y="236220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344025" y="245745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excalidraw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9210675" y="2800350"/>
            <a:ext cx="2200275" cy="342900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344025" y="289560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B2733"/>
                </a:solidFill>
                <a:latin typeface="JetBrains Mono"/>
                <a:ea typeface="JetBrains Mono"/>
              </a:rPr>
              <a:t>graphviz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71500" y="6229350"/>
            <a:ext cx="11049000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81050" y="6362700"/>
            <a:ext cx="1062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工具不在多，在于「各司其职」——文档、编排、开发、可视化一条链路串起来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9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3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CHAPTER 04 · 工具与演进&lt;/Text&gt;&#10;    &lt;Text style={{ fontSize: 38, color: '#FFFFFF', fontWeight: 'bold', marginBottom: 26 }}&gt;AI 编程演进：补全 → 对话 → Agent → 规范驱动&lt;/Text&gt;&#10;&#10;    &lt;Box style={{ flexDirection: 'row', gap: 16, marginBottom: 26 }}&gt;&#10;      {[&#10;        { t: '补全', d: '写完一句接下一句' },&#10;        { t: '对话', d: '问答式写代码' },&#10;        { t: 'Agent', d: '自主拆解执行' },&#10;        { t: '规范驱动', d: '先对齐规格再动手' },&#10;      ].map((item, idx) =&gt; (&#10;        &lt;Box key={idx} style={{ flexDirection: 'row', alignItems: 'center', flex: 1 }}&gt;&#10;          &lt;Box style={{ flex: 1, background: idx === 3 ? 'rgba(255,159,28,0.15)' : 'rgba(255,255,255,0.07)', border: '1px solid rgba(220,231,245,0.2)', borderRadius: 12, padding: '18px 16px', alignItems: 'center' }}&gt;&#10;            &lt;Text style={{ fontSize: 18, fontWeight: 'bold', color: idx === 3 ? '#FF9F1C' : '#FFFFFF', marginBottom: 6 }}&gt;{item.t}&lt;/Text&gt;&#10;            &lt;Text style={{ fontSize: 13, color: '#DCE7F5', textAlign: 'center' }}&gt;{item.d}&lt;/Text&gt;&#10;          &lt;/Box&gt;&#10;          {idx &lt; 3 &amp;&amp; (&#10;            &lt;Box style={{ width: 24, justifyContent: 'center', alignItems: 'center' }}&gt;&#10;              &lt;FAIcon name='arrow-right' style={{ fill: '#22D3EE', width: 16, height: 16 }} /&gt;&#10;            &lt;/Box&gt;&#10;          )}&#10;        &lt;/Box&gt;&#10;      ))}&#10;    &lt;/Box&gt;&#10;&#10;    &lt;Box style={{ background: 'rgba(255,159,28,0.12)', border: '1px solid rgba(255,159,28,0.3)', borderRadius: 14, padding: '20px 26px', marginBottom: 14 }}&gt;&#10;      &lt;Text style={{ fontSize: 17, fontWeight: 'bold', color: '#FF9F1C', marginBottom: 8 }}&gt;动手练习&lt;/Text&gt;&#10;      &lt;Text style={{ fontSize: 14, color: '#DCE7F5', lineHeight: 1.8 }}&gt;&#10;        挑一个小需求，走一遍 Spec-Kit 的 specify → clarify → plan → implement，并让 code-review 子 Agent 给一份坏味道清单。&#10;      &lt;/Text&gt;&#10;    &lt;/Box&gt;&#10;&#10;    &lt;Box style={{ background: 'rgba(255,255,255,0.06)', borderRadius: 12, padding: '16px 24px' }}&gt;&#10;      &lt;Text style={{ fontSize: 14, color: '#DCE7F5', lineHeight: 1.9 }}&gt;&#10;        自测 3 题：Spec 六要素是什么？评审循环是哪四步？MCP 和 Skill 的分工是什么？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15906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04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工具与演进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1885950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思源黑体"/>
                <a:ea typeface="思源黑体"/>
              </a:rPr>
              <a:t>AI </a:t>
            </a:r>
            <a:r>
              <a:rPr lang="zh-CN" sz="2850" b="1">
                <a:solidFill>
                  <a:srgbClr val="FFFFFF"/>
                </a:solidFill>
                <a:latin typeface="思源黑体"/>
                <a:ea typeface="思源黑体"/>
              </a:rPr>
              <a:t>编程演进：补全</a:t>
            </a:r>
            <a:r>
              <a:rPr lang="en-US" sz="2850" b="1">
                <a:solidFill>
                  <a:srgbClr val="FFFFFF"/>
                </a:solidFill>
                <a:latin typeface="思源黑体"/>
                <a:ea typeface="思源黑体"/>
              </a:rPr>
              <a:t> → </a:t>
            </a:r>
            <a:r>
              <a:rPr lang="zh-CN" sz="2850" b="1">
                <a:solidFill>
                  <a:srgbClr val="FFFFFF"/>
                </a:solidFill>
                <a:latin typeface="思源黑体"/>
                <a:ea typeface="思源黑体"/>
              </a:rPr>
              <a:t>对话</a:t>
            </a:r>
            <a:r>
              <a:rPr lang="en-US" sz="2850" b="1">
                <a:solidFill>
                  <a:srgbClr val="FFFFFF"/>
                </a:solidFill>
                <a:latin typeface="思源黑体"/>
                <a:ea typeface="思源黑体"/>
              </a:rPr>
              <a:t> → Agent → </a:t>
            </a:r>
            <a:r>
              <a:rPr lang="zh-CN" sz="2850" b="1">
                <a:solidFill>
                  <a:srgbClr val="FFFFFF"/>
                </a:solidFill>
                <a:latin typeface="思源黑体"/>
                <a:ea typeface="思源黑体"/>
              </a:rPr>
              <a:t>规范驱动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571500" y="2571750"/>
            <a:ext cx="2419350" cy="762000"/>
          </a:xfrm>
          <a:prstGeom prst="roundRect">
            <a:avLst>
              <a:gd name="adj" fmla="val 1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609725" y="2743200"/>
            <a:ext cx="352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补全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276350" y="3009900"/>
            <a:ext cx="1019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写完一句接下一句</a:t>
            </a:r>
            <a:endParaRPr/>
          </a:p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28950" y="2876550"/>
            <a:ext cx="152400" cy="152400"/>
          </a:xfrm>
          <a:prstGeom prst="rect">
            <a:avLst/>
          </a:prstGeom>
          <a:ln/>
        </p:spPr>
      </p:pic>
      <p:sp>
        <p:nvSpPr>
          <p:cNvPr id="102" name=""/>
          <p:cNvSpPr/>
          <p:nvPr/>
        </p:nvSpPr>
        <p:spPr>
          <a:xfrm rot="0" flipH="0" flipV="0">
            <a:off x="3371850" y="2571750"/>
            <a:ext cx="2419350" cy="762000"/>
          </a:xfrm>
          <a:prstGeom prst="roundRect">
            <a:avLst>
              <a:gd name="adj" fmla="val 1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410075" y="2743200"/>
            <a:ext cx="352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对话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200525" y="3009900"/>
            <a:ext cx="762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问答式写代码</a:t>
            </a:r>
            <a:endParaRPr/>
          </a:p>
        </p:txBody>
      </p:sp>
      <p:pic>
        <p:nvPicPr>
          <p:cNvPr id="1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29300" y="2876550"/>
            <a:ext cx="152400" cy="152400"/>
          </a:xfrm>
          <a:prstGeom prst="rect">
            <a:avLst/>
          </a:prstGeom>
          <a:ln/>
        </p:spPr>
      </p:pic>
      <p:sp>
        <p:nvSpPr>
          <p:cNvPr id="106" name=""/>
          <p:cNvSpPr/>
          <p:nvPr/>
        </p:nvSpPr>
        <p:spPr>
          <a:xfrm rot="0" flipH="0" flipV="0">
            <a:off x="6172200" y="2571750"/>
            <a:ext cx="2419350" cy="762000"/>
          </a:xfrm>
          <a:prstGeom prst="roundRect">
            <a:avLst>
              <a:gd name="adj" fmla="val 1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143750" y="2743200"/>
            <a:ext cx="485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Agent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000875" y="3009900"/>
            <a:ext cx="762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自主拆解执行</a:t>
            </a:r>
            <a:endParaRPr/>
          </a:p>
        </p:txBody>
      </p:sp>
      <p:pic>
        <p:nvPicPr>
          <p:cNvPr id="1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629650" y="2876550"/>
            <a:ext cx="152400" cy="152400"/>
          </a:xfrm>
          <a:prstGeom prst="rect">
            <a:avLst/>
          </a:prstGeom>
          <a:ln/>
        </p:spPr>
      </p:pic>
      <p:sp>
        <p:nvSpPr>
          <p:cNvPr id="110" name=""/>
          <p:cNvSpPr/>
          <p:nvPr/>
        </p:nvSpPr>
        <p:spPr>
          <a:xfrm rot="0" flipH="0" flipV="0">
            <a:off x="8972550" y="2571750"/>
            <a:ext cx="2647950" cy="762000"/>
          </a:xfrm>
          <a:prstGeom prst="roundRect">
            <a:avLst>
              <a:gd name="adj" fmla="val 15000"/>
            </a:avLst>
          </a:prstGeom>
          <a:solidFill>
            <a:srgbClr val="FF9F1C">
              <a:alpha val="15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944100" y="2743200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规范驱动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791700" y="3009900"/>
            <a:ext cx="1019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先对齐规格再动手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3581400"/>
            <a:ext cx="11049000" cy="952500"/>
          </a:xfrm>
          <a:prstGeom prst="roundRect">
            <a:avLst>
              <a:gd name="adj" fmla="val 14000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19150" y="3771900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动手练习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19150" y="4048125"/>
            <a:ext cx="1055370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挑一个小需求，走一遍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Spec-Kit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的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specify → clarify → plan → implement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，并让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code-review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子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给一份坏味道清单。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571500" y="466725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00100" y="4819650"/>
            <a:ext cx="105918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自测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题：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Spec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六要素是什么？评审循环是哪四步？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MCP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和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Skill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的分工是什么？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2026-08-13T21:39:13Z</dcterms:created>
  <dcterms:modified xsi:type="dcterms:W3CDTF">2026-08-13T21:39:13Z</dcterms:modified>
</cp:coreProperties>
</file>